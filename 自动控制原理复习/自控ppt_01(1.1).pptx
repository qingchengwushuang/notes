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64"/>
  </p:notesMasterIdLst>
  <p:handoutMasterIdLst>
    <p:handoutMasterId r:id="rId65"/>
  </p:handoutMasterIdLst>
  <p:sldIdLst>
    <p:sldId id="561" r:id="rId2"/>
    <p:sldId id="562" r:id="rId3"/>
    <p:sldId id="564" r:id="rId4"/>
    <p:sldId id="501" r:id="rId5"/>
    <p:sldId id="502" r:id="rId6"/>
    <p:sldId id="504" r:id="rId7"/>
    <p:sldId id="505" r:id="rId8"/>
    <p:sldId id="506" r:id="rId9"/>
    <p:sldId id="511" r:id="rId10"/>
    <p:sldId id="512" r:id="rId11"/>
    <p:sldId id="513" r:id="rId12"/>
    <p:sldId id="514" r:id="rId13"/>
    <p:sldId id="515" r:id="rId14"/>
    <p:sldId id="516" r:id="rId15"/>
    <p:sldId id="517" r:id="rId16"/>
    <p:sldId id="518" r:id="rId17"/>
    <p:sldId id="519" r:id="rId18"/>
    <p:sldId id="520" r:id="rId19"/>
    <p:sldId id="521" r:id="rId20"/>
    <p:sldId id="522" r:id="rId21"/>
    <p:sldId id="523" r:id="rId22"/>
    <p:sldId id="524" r:id="rId23"/>
    <p:sldId id="525" r:id="rId24"/>
    <p:sldId id="526" r:id="rId25"/>
    <p:sldId id="527" r:id="rId26"/>
    <p:sldId id="528" r:id="rId27"/>
    <p:sldId id="529" r:id="rId28"/>
    <p:sldId id="530" r:id="rId29"/>
    <p:sldId id="531" r:id="rId30"/>
    <p:sldId id="532" r:id="rId31"/>
    <p:sldId id="533" r:id="rId32"/>
    <p:sldId id="534" r:id="rId33"/>
    <p:sldId id="535" r:id="rId34"/>
    <p:sldId id="536" r:id="rId35"/>
    <p:sldId id="537" r:id="rId36"/>
    <p:sldId id="538" r:id="rId37"/>
    <p:sldId id="539" r:id="rId38"/>
    <p:sldId id="540" r:id="rId39"/>
    <p:sldId id="541" r:id="rId40"/>
    <p:sldId id="542" r:id="rId41"/>
    <p:sldId id="543" r:id="rId42"/>
    <p:sldId id="544" r:id="rId43"/>
    <p:sldId id="545" r:id="rId44"/>
    <p:sldId id="546" r:id="rId45"/>
    <p:sldId id="547" r:id="rId46"/>
    <p:sldId id="548" r:id="rId47"/>
    <p:sldId id="549" r:id="rId48"/>
    <p:sldId id="550" r:id="rId49"/>
    <p:sldId id="551" r:id="rId50"/>
    <p:sldId id="552" r:id="rId51"/>
    <p:sldId id="553" r:id="rId52"/>
    <p:sldId id="554" r:id="rId53"/>
    <p:sldId id="567" r:id="rId54"/>
    <p:sldId id="555" r:id="rId55"/>
    <p:sldId id="556" r:id="rId56"/>
    <p:sldId id="557" r:id="rId57"/>
    <p:sldId id="558" r:id="rId58"/>
    <p:sldId id="559" r:id="rId59"/>
    <p:sldId id="560" r:id="rId60"/>
    <p:sldId id="565" r:id="rId61"/>
    <p:sldId id="568" r:id="rId62"/>
    <p:sldId id="466" r:id="rId63"/>
  </p:sldIdLst>
  <p:sldSz cx="9144000" cy="6858000" type="screen4x3"/>
  <p:notesSz cx="6858000" cy="9144000"/>
  <p:defaultTextStyle>
    <a:defPPr>
      <a:defRPr lang="zh-CN"/>
    </a:defPPr>
    <a:lvl1pPr algn="just" rtl="0" fontAlgn="base">
      <a:lnSpc>
        <a:spcPct val="150000"/>
      </a:lnSpc>
      <a:spcBef>
        <a:spcPct val="20000"/>
      </a:spcBef>
      <a:spcAft>
        <a:spcPct val="0"/>
      </a:spcAft>
      <a:defRPr sz="3400" b="1" kern="1200">
        <a:solidFill>
          <a:schemeClr val="tx1"/>
        </a:solidFill>
        <a:latin typeface="Times New Roman" pitchFamily="18" charset="0"/>
        <a:ea typeface="华文新魏" pitchFamily="2" charset="-122"/>
        <a:cs typeface="+mn-cs"/>
      </a:defRPr>
    </a:lvl1pPr>
    <a:lvl2pPr marL="457200" algn="just" rtl="0" fontAlgn="base">
      <a:lnSpc>
        <a:spcPct val="150000"/>
      </a:lnSpc>
      <a:spcBef>
        <a:spcPct val="20000"/>
      </a:spcBef>
      <a:spcAft>
        <a:spcPct val="0"/>
      </a:spcAft>
      <a:defRPr sz="3400" b="1" kern="1200">
        <a:solidFill>
          <a:schemeClr val="tx1"/>
        </a:solidFill>
        <a:latin typeface="Times New Roman" pitchFamily="18" charset="0"/>
        <a:ea typeface="华文新魏" pitchFamily="2" charset="-122"/>
        <a:cs typeface="+mn-cs"/>
      </a:defRPr>
    </a:lvl2pPr>
    <a:lvl3pPr marL="914400" algn="just" rtl="0" fontAlgn="base">
      <a:lnSpc>
        <a:spcPct val="150000"/>
      </a:lnSpc>
      <a:spcBef>
        <a:spcPct val="20000"/>
      </a:spcBef>
      <a:spcAft>
        <a:spcPct val="0"/>
      </a:spcAft>
      <a:defRPr sz="3400" b="1" kern="1200">
        <a:solidFill>
          <a:schemeClr val="tx1"/>
        </a:solidFill>
        <a:latin typeface="Times New Roman" pitchFamily="18" charset="0"/>
        <a:ea typeface="华文新魏" pitchFamily="2" charset="-122"/>
        <a:cs typeface="+mn-cs"/>
      </a:defRPr>
    </a:lvl3pPr>
    <a:lvl4pPr marL="1371600" algn="just" rtl="0" fontAlgn="base">
      <a:lnSpc>
        <a:spcPct val="150000"/>
      </a:lnSpc>
      <a:spcBef>
        <a:spcPct val="20000"/>
      </a:spcBef>
      <a:spcAft>
        <a:spcPct val="0"/>
      </a:spcAft>
      <a:defRPr sz="3400" b="1" kern="1200">
        <a:solidFill>
          <a:schemeClr val="tx1"/>
        </a:solidFill>
        <a:latin typeface="Times New Roman" pitchFamily="18" charset="0"/>
        <a:ea typeface="华文新魏" pitchFamily="2" charset="-122"/>
        <a:cs typeface="+mn-cs"/>
      </a:defRPr>
    </a:lvl4pPr>
    <a:lvl5pPr marL="1828800" algn="just" rtl="0" fontAlgn="base">
      <a:lnSpc>
        <a:spcPct val="150000"/>
      </a:lnSpc>
      <a:spcBef>
        <a:spcPct val="20000"/>
      </a:spcBef>
      <a:spcAft>
        <a:spcPct val="0"/>
      </a:spcAft>
      <a:defRPr sz="3400" b="1" kern="1200">
        <a:solidFill>
          <a:schemeClr val="tx1"/>
        </a:solidFill>
        <a:latin typeface="Times New Roman" pitchFamily="18" charset="0"/>
        <a:ea typeface="华文新魏" pitchFamily="2" charset="-122"/>
        <a:cs typeface="+mn-cs"/>
      </a:defRPr>
    </a:lvl5pPr>
    <a:lvl6pPr marL="2286000" algn="l" defTabSz="914400" rtl="0" eaLnBrk="1" latinLnBrk="0" hangingPunct="1">
      <a:defRPr sz="3400" b="1" kern="1200">
        <a:solidFill>
          <a:schemeClr val="tx1"/>
        </a:solidFill>
        <a:latin typeface="Times New Roman" pitchFamily="18" charset="0"/>
        <a:ea typeface="华文新魏" pitchFamily="2" charset="-122"/>
        <a:cs typeface="+mn-cs"/>
      </a:defRPr>
    </a:lvl6pPr>
    <a:lvl7pPr marL="2743200" algn="l" defTabSz="914400" rtl="0" eaLnBrk="1" latinLnBrk="0" hangingPunct="1">
      <a:defRPr sz="3400" b="1" kern="1200">
        <a:solidFill>
          <a:schemeClr val="tx1"/>
        </a:solidFill>
        <a:latin typeface="Times New Roman" pitchFamily="18" charset="0"/>
        <a:ea typeface="华文新魏" pitchFamily="2" charset="-122"/>
        <a:cs typeface="+mn-cs"/>
      </a:defRPr>
    </a:lvl7pPr>
    <a:lvl8pPr marL="3200400" algn="l" defTabSz="914400" rtl="0" eaLnBrk="1" latinLnBrk="0" hangingPunct="1">
      <a:defRPr sz="3400" b="1" kern="1200">
        <a:solidFill>
          <a:schemeClr val="tx1"/>
        </a:solidFill>
        <a:latin typeface="Times New Roman" pitchFamily="18" charset="0"/>
        <a:ea typeface="华文新魏" pitchFamily="2" charset="-122"/>
        <a:cs typeface="+mn-cs"/>
      </a:defRPr>
    </a:lvl8pPr>
    <a:lvl9pPr marL="3657600" algn="l" defTabSz="914400" rtl="0" eaLnBrk="1" latinLnBrk="0" hangingPunct="1">
      <a:defRPr sz="3400" b="1" kern="1200">
        <a:solidFill>
          <a:schemeClr val="tx1"/>
        </a:solidFill>
        <a:latin typeface="Times New Roman" pitchFamily="18" charset="0"/>
        <a:ea typeface="华文新魏"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99"/>
    <a:srgbClr val="FFFF66"/>
    <a:srgbClr val="3333FF"/>
    <a:srgbClr val="FFCCCC"/>
    <a:srgbClr val="FF3300"/>
    <a:srgbClr val="FFFF00"/>
    <a:srgbClr val="0000CC"/>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084" autoAdjust="0"/>
    <p:restoredTop sz="99217" autoAdjust="0"/>
  </p:normalViewPr>
  <p:slideViewPr>
    <p:cSldViewPr>
      <p:cViewPr>
        <p:scale>
          <a:sx n="75" d="100"/>
          <a:sy n="75" d="100"/>
        </p:scale>
        <p:origin x="-652" y="304"/>
      </p:cViewPr>
      <p:guideLst>
        <p:guide orient="horz" pos="2160"/>
        <p:guide pos="2880"/>
      </p:guideLst>
    </p:cSldViewPr>
  </p:slideViewPr>
  <p:outlineViewPr>
    <p:cViewPr>
      <p:scale>
        <a:sx n="33" d="100"/>
        <a:sy n="33" d="100"/>
      </p:scale>
      <p:origin x="0" y="0"/>
    </p:cViewPr>
    <p:sldLst>
      <p:sld r:id="rId1" collapse="1"/>
      <p:sld r:id="rId2" collapse="1"/>
      <p:sld r:id="rId3" collapse="1"/>
    </p:sldLst>
  </p:outlineViewPr>
  <p:notesTextViewPr>
    <p:cViewPr>
      <p:scale>
        <a:sx n="100" d="100"/>
        <a:sy n="100" d="100"/>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_rels/viewProps.xml.rels><?xml version="1.0" encoding="UTF-8" standalone="yes"?>
<Relationships xmlns="http://schemas.openxmlformats.org/package/2006/relationships"><Relationship Id="rId3" Type="http://schemas.openxmlformats.org/officeDocument/2006/relationships/slide" Target="slides/slide62.xml"/><Relationship Id="rId2" Type="http://schemas.openxmlformats.org/officeDocument/2006/relationships/slide" Target="slides/slide61.xml"/><Relationship Id="rId1"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3.png"/></Relationships>
</file>

<file path=ppt/drawings/_rels/vmlDrawing4.v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6.wmf"/><Relationship Id="rId1" Type="http://schemas.openxmlformats.org/officeDocument/2006/relationships/image" Target="../media/image35.png"/></Relationships>
</file>

<file path=ppt/drawings/_rels/vmlDrawing5.v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image" Target="../media/image40.png"/><Relationship Id="rId6" Type="http://schemas.openxmlformats.org/officeDocument/2006/relationships/image" Target="../media/image45.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0.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848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lnSpc>
                <a:spcPct val="100000"/>
              </a:lnSpc>
              <a:spcBef>
                <a:spcPct val="0"/>
              </a:spcBef>
              <a:defRPr kumimoji="1" sz="1200" b="0">
                <a:effectLst>
                  <a:outerShdw blurRad="38100" dist="38100" dir="2700000" algn="tl">
                    <a:srgbClr val="C0C0C0"/>
                  </a:outerShdw>
                </a:effectLst>
                <a:ea typeface="宋体" pitchFamily="2" charset="-122"/>
              </a:defRPr>
            </a:lvl1pPr>
          </a:lstStyle>
          <a:p>
            <a:endParaRPr lang="en-US" altLang="zh-CN"/>
          </a:p>
        </p:txBody>
      </p:sp>
      <p:sp>
        <p:nvSpPr>
          <p:cNvPr id="148483"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lnSpc>
                <a:spcPct val="100000"/>
              </a:lnSpc>
              <a:spcBef>
                <a:spcPct val="0"/>
              </a:spcBef>
              <a:defRPr kumimoji="1" sz="1200" b="0">
                <a:effectLst>
                  <a:outerShdw blurRad="38100" dist="38100" dir="2700000" algn="tl">
                    <a:srgbClr val="C0C0C0"/>
                  </a:outerShdw>
                </a:effectLst>
                <a:ea typeface="宋体" pitchFamily="2" charset="-122"/>
              </a:defRPr>
            </a:lvl1pPr>
          </a:lstStyle>
          <a:p>
            <a:endParaRPr lang="en-US" altLang="zh-CN"/>
          </a:p>
        </p:txBody>
      </p:sp>
      <p:sp>
        <p:nvSpPr>
          <p:cNvPr id="148484"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lnSpc>
                <a:spcPct val="100000"/>
              </a:lnSpc>
              <a:spcBef>
                <a:spcPct val="0"/>
              </a:spcBef>
              <a:defRPr kumimoji="1" sz="1200" b="0">
                <a:effectLst>
                  <a:outerShdw blurRad="38100" dist="38100" dir="2700000" algn="tl">
                    <a:srgbClr val="C0C0C0"/>
                  </a:outerShdw>
                </a:effectLst>
                <a:ea typeface="宋体" pitchFamily="2" charset="-122"/>
              </a:defRPr>
            </a:lvl1pPr>
          </a:lstStyle>
          <a:p>
            <a:endParaRPr lang="en-US" altLang="zh-CN"/>
          </a:p>
        </p:txBody>
      </p:sp>
      <p:sp>
        <p:nvSpPr>
          <p:cNvPr id="148485"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lnSpc>
                <a:spcPct val="100000"/>
              </a:lnSpc>
              <a:spcBef>
                <a:spcPct val="0"/>
              </a:spcBef>
              <a:defRPr kumimoji="1" sz="1200" b="0">
                <a:effectLst>
                  <a:outerShdw blurRad="38100" dist="38100" dir="2700000" algn="tl">
                    <a:srgbClr val="C0C0C0"/>
                  </a:outerShdw>
                </a:effectLst>
                <a:ea typeface="宋体" pitchFamily="2" charset="-122"/>
              </a:defRPr>
            </a:lvl1pPr>
          </a:lstStyle>
          <a:p>
            <a:fld id="{89A4E580-5BFB-4DED-8966-BDB2095A33FF}" type="slidenum">
              <a:rPr lang="en-US" altLang="zh-CN"/>
              <a:pPr/>
              <a:t>‹#›</a:t>
            </a:fld>
            <a:endParaRPr lang="en-US" altLang="zh-CN"/>
          </a:p>
        </p:txBody>
      </p:sp>
    </p:spTree>
    <p:extLst>
      <p:ext uri="{BB962C8B-B14F-4D97-AF65-F5344CB8AC3E}">
        <p14:creationId xmlns:p14="http://schemas.microsoft.com/office/powerpoint/2010/main" val="13329943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232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lnSpc>
                <a:spcPct val="100000"/>
              </a:lnSpc>
              <a:spcBef>
                <a:spcPct val="0"/>
              </a:spcBef>
              <a:defRPr kumimoji="1" sz="1200" b="0">
                <a:ea typeface="宋体" pitchFamily="2" charset="-122"/>
              </a:defRPr>
            </a:lvl1pPr>
          </a:lstStyle>
          <a:p>
            <a:endParaRPr lang="en-US" altLang="zh-CN"/>
          </a:p>
        </p:txBody>
      </p:sp>
      <p:sp>
        <p:nvSpPr>
          <p:cNvPr id="31232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lnSpc>
                <a:spcPct val="100000"/>
              </a:lnSpc>
              <a:spcBef>
                <a:spcPct val="0"/>
              </a:spcBef>
              <a:defRPr kumimoji="1" sz="1200" b="0">
                <a:ea typeface="宋体" pitchFamily="2" charset="-122"/>
              </a:defRPr>
            </a:lvl1pPr>
          </a:lstStyle>
          <a:p>
            <a:endParaRPr lang="en-US" altLang="zh-CN"/>
          </a:p>
        </p:txBody>
      </p:sp>
      <p:sp>
        <p:nvSpPr>
          <p:cNvPr id="3123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1232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31232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lnSpc>
                <a:spcPct val="100000"/>
              </a:lnSpc>
              <a:spcBef>
                <a:spcPct val="0"/>
              </a:spcBef>
              <a:defRPr kumimoji="1" sz="1200" b="0">
                <a:ea typeface="宋体" pitchFamily="2" charset="-122"/>
              </a:defRPr>
            </a:lvl1pPr>
          </a:lstStyle>
          <a:p>
            <a:endParaRPr lang="en-US" altLang="zh-CN"/>
          </a:p>
        </p:txBody>
      </p:sp>
      <p:sp>
        <p:nvSpPr>
          <p:cNvPr id="31232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lnSpc>
                <a:spcPct val="100000"/>
              </a:lnSpc>
              <a:spcBef>
                <a:spcPct val="0"/>
              </a:spcBef>
              <a:defRPr kumimoji="1" sz="1200" b="0">
                <a:ea typeface="宋体" pitchFamily="2" charset="-122"/>
              </a:defRPr>
            </a:lvl1pPr>
          </a:lstStyle>
          <a:p>
            <a:fld id="{01C4830B-12DF-40B4-9136-5841B21E6B24}" type="slidenum">
              <a:rPr lang="en-US" altLang="zh-CN"/>
              <a:pPr/>
              <a:t>‹#›</a:t>
            </a:fld>
            <a:endParaRPr lang="en-US" altLang="zh-CN"/>
          </a:p>
        </p:txBody>
      </p:sp>
    </p:spTree>
    <p:extLst>
      <p:ext uri="{BB962C8B-B14F-4D97-AF65-F5344CB8AC3E}">
        <p14:creationId xmlns:p14="http://schemas.microsoft.com/office/powerpoint/2010/main" val="91275238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D828A26-7027-4512-B783-E49A3230697E}" type="slidenum">
              <a:rPr lang="en-US" altLang="zh-CN"/>
              <a:pPr/>
              <a:t>2</a:t>
            </a:fld>
            <a:endParaRPr lang="en-US" altLang="zh-CN"/>
          </a:p>
        </p:txBody>
      </p:sp>
      <p:sp>
        <p:nvSpPr>
          <p:cNvPr id="273410" name="Rectangle 2"/>
          <p:cNvSpPr>
            <a:spLocks noGrp="1" noRot="1" noChangeAspect="1" noChangeArrowheads="1" noTextEdit="1"/>
          </p:cNvSpPr>
          <p:nvPr>
            <p:ph type="sldImg"/>
          </p:nvPr>
        </p:nvSpPr>
        <p:spPr>
          <a:ln/>
        </p:spPr>
      </p:sp>
      <p:sp>
        <p:nvSpPr>
          <p:cNvPr id="273411" name="Rectangle 3"/>
          <p:cNvSpPr>
            <a:spLocks noGrp="1" noChangeArrowheads="1"/>
          </p:cNvSpPr>
          <p:nvPr>
            <p:ph type="body" idx="1"/>
          </p:nvPr>
        </p:nvSpPr>
        <p:spPr/>
        <p:txBody>
          <a:bodyPr/>
          <a:lstStyle/>
          <a:p>
            <a:pPr marL="228600" indent="-228600">
              <a:lnSpc>
                <a:spcPct val="90000"/>
              </a:lnSpc>
              <a:buFontTx/>
              <a:buAutoNum type="arabicPeriod"/>
            </a:pPr>
            <a:r>
              <a:rPr lang="zh-CN" altLang="en-US">
                <a:latin typeface="黑体" pitchFamily="2" charset="-122"/>
                <a:ea typeface="黑体" pitchFamily="2" charset="-122"/>
              </a:rPr>
              <a:t>课程学习要求：</a:t>
            </a:r>
          </a:p>
          <a:p>
            <a:pPr marL="228600" indent="-228600">
              <a:lnSpc>
                <a:spcPct val="90000"/>
              </a:lnSpc>
              <a:buFontTx/>
              <a:buChar char="•"/>
            </a:pPr>
            <a:r>
              <a:rPr lang="zh-CN" altLang="en-US">
                <a:latin typeface="黑体" pitchFamily="2" charset="-122"/>
                <a:ea typeface="黑体" pitchFamily="2" charset="-122"/>
              </a:rPr>
              <a:t>有问题及时反馈。</a:t>
            </a:r>
          </a:p>
          <a:p>
            <a:pPr marL="228600" indent="-228600">
              <a:lnSpc>
                <a:spcPct val="90000"/>
              </a:lnSpc>
              <a:buFontTx/>
              <a:buChar char="•"/>
            </a:pPr>
            <a:r>
              <a:rPr lang="zh-CN" altLang="en-US">
                <a:latin typeface="黑体" pitchFamily="2" charset="-122"/>
                <a:ea typeface="黑体" pitchFamily="2" charset="-122"/>
              </a:rPr>
              <a:t>每人准备</a:t>
            </a:r>
            <a:r>
              <a:rPr lang="en-US" altLang="zh-CN">
                <a:latin typeface="黑体" pitchFamily="2" charset="-122"/>
                <a:ea typeface="黑体" pitchFamily="2" charset="-122"/>
              </a:rPr>
              <a:t>2</a:t>
            </a:r>
            <a:r>
              <a:rPr lang="zh-CN" altLang="en-US">
                <a:latin typeface="黑体" pitchFamily="2" charset="-122"/>
                <a:ea typeface="黑体" pitchFamily="2" charset="-122"/>
              </a:rPr>
              <a:t>个作业本，轮换交作业。每周最后一次上完课后按小班交作业，周二上课时返回。从第二周开始实行。  </a:t>
            </a:r>
          </a:p>
          <a:p>
            <a:pPr marL="228600" indent="-228600">
              <a:lnSpc>
                <a:spcPct val="90000"/>
              </a:lnSpc>
              <a:buFontTx/>
              <a:buChar char="•"/>
            </a:pPr>
            <a:r>
              <a:rPr lang="zh-CN" altLang="en-US">
                <a:latin typeface="黑体" pitchFamily="2" charset="-122"/>
                <a:ea typeface="黑体" pitchFamily="2" charset="-122"/>
              </a:rPr>
              <a:t>各班同学协商确定一名课代表，负责本课程作业的收发及协助处理有关事宜。</a:t>
            </a:r>
          </a:p>
          <a:p>
            <a:pPr marL="228600" indent="-228600">
              <a:lnSpc>
                <a:spcPct val="90000"/>
              </a:lnSpc>
              <a:buFontTx/>
              <a:buChar char="•"/>
            </a:pPr>
            <a:r>
              <a:rPr lang="zh-CN" altLang="en-US">
                <a:latin typeface="黑体" pitchFamily="2" charset="-122"/>
                <a:ea typeface="黑体" pitchFamily="2" charset="-122"/>
              </a:rPr>
              <a:t>各班课代表下次上课时将班上的课表上交一份，注明课代表姓名、电话，以便有事联系。</a:t>
            </a:r>
          </a:p>
          <a:p>
            <a:pPr marL="228600" indent="-228600">
              <a:lnSpc>
                <a:spcPct val="90000"/>
              </a:lnSpc>
            </a:pPr>
            <a:endParaRPr lang="zh-CN" altLang="en-US">
              <a:latin typeface="黑体" pitchFamily="2" charset="-122"/>
              <a:ea typeface="黑体" pitchFamily="2" charset="-122"/>
            </a:endParaRPr>
          </a:p>
          <a:p>
            <a:pPr marL="228600" indent="-228600">
              <a:lnSpc>
                <a:spcPct val="90000"/>
              </a:lnSpc>
            </a:pPr>
            <a:r>
              <a:rPr lang="en-US" altLang="zh-CN">
                <a:latin typeface="黑体" pitchFamily="2" charset="-122"/>
                <a:ea typeface="黑体" pitchFamily="2" charset="-122"/>
              </a:rPr>
              <a:t>2. </a:t>
            </a:r>
            <a:r>
              <a:rPr lang="zh-CN" altLang="en-US">
                <a:latin typeface="黑体" pitchFamily="2" charset="-122"/>
                <a:ea typeface="黑体" pitchFamily="2" charset="-122"/>
              </a:rPr>
              <a:t>教学资源介绍：</a:t>
            </a:r>
          </a:p>
          <a:p>
            <a:pPr marL="228600" indent="-228600">
              <a:lnSpc>
                <a:spcPct val="90000"/>
              </a:lnSpc>
            </a:pPr>
            <a:r>
              <a:rPr lang="zh-CN" altLang="en-US">
                <a:latin typeface="黑体" pitchFamily="2" charset="-122"/>
                <a:ea typeface="黑体" pitchFamily="2" charset="-122"/>
              </a:rPr>
              <a:t>   西工大网页 </a:t>
            </a:r>
            <a:r>
              <a:rPr lang="en-US" altLang="zh-CN">
                <a:latin typeface="黑体" pitchFamily="2" charset="-122"/>
                <a:ea typeface="黑体" pitchFamily="2" charset="-122"/>
              </a:rPr>
              <a:t>/ </a:t>
            </a:r>
            <a:r>
              <a:rPr lang="zh-CN" altLang="en-US">
                <a:latin typeface="黑体" pitchFamily="2" charset="-122"/>
                <a:ea typeface="黑体" pitchFamily="2" charset="-122"/>
              </a:rPr>
              <a:t>翱翔学堂 </a:t>
            </a:r>
            <a:r>
              <a:rPr lang="en-US" altLang="zh-CN">
                <a:latin typeface="黑体" pitchFamily="2" charset="-122"/>
                <a:ea typeface="黑体" pitchFamily="2" charset="-122"/>
              </a:rPr>
              <a:t>/ </a:t>
            </a:r>
            <a:r>
              <a:rPr lang="zh-CN" altLang="en-US">
                <a:latin typeface="黑体" pitchFamily="2" charset="-122"/>
                <a:ea typeface="黑体" pitchFamily="2" charset="-122"/>
              </a:rPr>
              <a:t>资源中心 </a:t>
            </a:r>
            <a:r>
              <a:rPr lang="en-US" altLang="zh-CN">
                <a:latin typeface="黑体" pitchFamily="2" charset="-122"/>
                <a:ea typeface="黑体" pitchFamily="2" charset="-122"/>
              </a:rPr>
              <a:t>/ </a:t>
            </a:r>
            <a:r>
              <a:rPr lang="zh-CN" altLang="en-US">
                <a:latin typeface="黑体" pitchFamily="2" charset="-122"/>
                <a:ea typeface="黑体" pitchFamily="2" charset="-122"/>
              </a:rPr>
              <a:t>精品课 </a:t>
            </a:r>
            <a:r>
              <a:rPr lang="en-US" altLang="zh-CN">
                <a:latin typeface="黑体" pitchFamily="2" charset="-122"/>
                <a:ea typeface="黑体" pitchFamily="2" charset="-122"/>
              </a:rPr>
              <a:t>/ </a:t>
            </a:r>
            <a:r>
              <a:rPr lang="zh-CN" altLang="en-US">
                <a:latin typeface="黑体" pitchFamily="2" charset="-122"/>
                <a:ea typeface="黑体" pitchFamily="2" charset="-122"/>
              </a:rPr>
              <a:t>陕西省精品课 </a:t>
            </a:r>
            <a:r>
              <a:rPr lang="en-US" altLang="zh-CN">
                <a:latin typeface="黑体" pitchFamily="2" charset="-122"/>
                <a:ea typeface="黑体" pitchFamily="2" charset="-122"/>
              </a:rPr>
              <a:t>/ </a:t>
            </a:r>
            <a:r>
              <a:rPr lang="zh-CN" altLang="en-US">
                <a:latin typeface="黑体" pitchFamily="2" charset="-122"/>
                <a:ea typeface="黑体" pitchFamily="2" charset="-122"/>
              </a:rPr>
              <a:t>自动控制原理 </a:t>
            </a:r>
            <a:r>
              <a:rPr lang="en-US" altLang="zh-CN">
                <a:latin typeface="黑体" pitchFamily="2" charset="-122"/>
                <a:ea typeface="黑体" pitchFamily="2" charset="-122"/>
              </a:rPr>
              <a:t>/ </a:t>
            </a:r>
            <a:r>
              <a:rPr lang="zh-CN" altLang="en-US">
                <a:latin typeface="黑体" pitchFamily="2" charset="-122"/>
                <a:ea typeface="黑体" pitchFamily="2" charset="-122"/>
              </a:rPr>
              <a:t>网络资源 </a:t>
            </a:r>
            <a:r>
              <a:rPr lang="en-US" altLang="zh-CN">
                <a:latin typeface="黑体" pitchFamily="2" charset="-122"/>
                <a:ea typeface="黑体" pitchFamily="2" charset="-122"/>
              </a:rPr>
              <a:t>/ </a:t>
            </a:r>
            <a:r>
              <a:rPr lang="zh-CN" altLang="en-US">
                <a:solidFill>
                  <a:srgbClr val="FF3300"/>
                </a:solidFill>
                <a:latin typeface="黑体" pitchFamily="2" charset="-122"/>
                <a:ea typeface="黑体" pitchFamily="2" charset="-122"/>
              </a:rPr>
              <a:t>教材内容，电子讲稿，电子课件，网络课程</a:t>
            </a:r>
          </a:p>
          <a:p>
            <a:pPr marL="228600" indent="-228600">
              <a:lnSpc>
                <a:spcPct val="90000"/>
              </a:lnSpc>
            </a:pPr>
            <a:r>
              <a:rPr lang="zh-CN" altLang="en-US">
                <a:solidFill>
                  <a:srgbClr val="FF3300"/>
                </a:solidFill>
                <a:latin typeface="黑体" pitchFamily="2" charset="-122"/>
                <a:ea typeface="黑体" pitchFamily="2" charset="-122"/>
              </a:rPr>
              <a:t>                                                    </a:t>
            </a:r>
            <a:r>
              <a:rPr lang="en-US" altLang="zh-CN">
                <a:solidFill>
                  <a:srgbClr val="FF3300"/>
                </a:solidFill>
                <a:latin typeface="黑体" pitchFamily="2" charset="-122"/>
                <a:ea typeface="黑体" pitchFamily="2" charset="-122"/>
              </a:rPr>
              <a:t>/ </a:t>
            </a:r>
            <a:r>
              <a:rPr lang="zh-CN" altLang="en-US">
                <a:solidFill>
                  <a:srgbClr val="FF3300"/>
                </a:solidFill>
                <a:latin typeface="黑体" pitchFamily="2" charset="-122"/>
                <a:ea typeface="黑体" pitchFamily="2" charset="-122"/>
              </a:rPr>
              <a:t>流媒体课程 </a:t>
            </a:r>
            <a:r>
              <a:rPr lang="en-US" altLang="zh-CN">
                <a:solidFill>
                  <a:srgbClr val="FF3300"/>
                </a:solidFill>
                <a:latin typeface="黑体" pitchFamily="2" charset="-122"/>
                <a:ea typeface="黑体" pitchFamily="2" charset="-122"/>
              </a:rPr>
              <a:t>/ </a:t>
            </a:r>
            <a:r>
              <a:rPr lang="zh-CN" altLang="en-US">
                <a:solidFill>
                  <a:srgbClr val="FF3300"/>
                </a:solidFill>
                <a:latin typeface="黑体" pitchFamily="2" charset="-122"/>
                <a:ea typeface="黑体" pitchFamily="2" charset="-122"/>
              </a:rPr>
              <a:t>自动控制原理 </a:t>
            </a:r>
            <a:r>
              <a:rPr lang="en-US" altLang="zh-CN">
                <a:solidFill>
                  <a:srgbClr val="FF3300"/>
                </a:solidFill>
                <a:latin typeface="黑体" pitchFamily="2" charset="-122"/>
                <a:ea typeface="黑体" pitchFamily="2" charset="-122"/>
              </a:rPr>
              <a:t>/</a:t>
            </a:r>
          </a:p>
          <a:p>
            <a:pPr marL="228600" indent="-228600">
              <a:lnSpc>
                <a:spcPct val="90000"/>
              </a:lnSpc>
            </a:pPr>
            <a:endParaRPr lang="en-US" altLang="zh-CN">
              <a:solidFill>
                <a:srgbClr val="FF3300"/>
              </a:solidFill>
              <a:latin typeface="黑体" pitchFamily="2" charset="-122"/>
              <a:ea typeface="黑体" pitchFamily="2" charset="-122"/>
            </a:endParaRPr>
          </a:p>
          <a:p>
            <a:pPr marL="228600" indent="-228600">
              <a:lnSpc>
                <a:spcPct val="90000"/>
              </a:lnSpc>
            </a:pPr>
            <a:r>
              <a:rPr lang="en-US" altLang="zh-CN">
                <a:solidFill>
                  <a:srgbClr val="FF3300"/>
                </a:solidFill>
                <a:latin typeface="黑体" pitchFamily="2" charset="-122"/>
                <a:ea typeface="黑体" pitchFamily="2" charset="-122"/>
              </a:rPr>
              <a:t>*</a:t>
            </a:r>
            <a:r>
              <a:rPr lang="zh-CN" altLang="en-US">
                <a:solidFill>
                  <a:srgbClr val="FF3300"/>
                </a:solidFill>
                <a:latin typeface="黑体" pitchFamily="2" charset="-122"/>
                <a:ea typeface="黑体" pitchFamily="2" charset="-122"/>
              </a:rPr>
              <a:t>教学记录：</a:t>
            </a:r>
            <a:r>
              <a:rPr lang="en-US" altLang="zh-CN">
                <a:solidFill>
                  <a:srgbClr val="FF3300"/>
                </a:solidFill>
                <a:latin typeface="黑体" pitchFamily="2" charset="-122"/>
                <a:ea typeface="黑体" pitchFamily="2" charset="-122"/>
              </a:rPr>
              <a:t>2008.2.26</a:t>
            </a:r>
          </a:p>
          <a:p>
            <a:pPr marL="228600" indent="-228600">
              <a:lnSpc>
                <a:spcPct val="90000"/>
              </a:lnSpc>
            </a:pPr>
            <a:r>
              <a:rPr lang="zh-CN" altLang="en-US">
                <a:solidFill>
                  <a:srgbClr val="FF3300"/>
                </a:solidFill>
                <a:latin typeface="黑体" pitchFamily="2" charset="-122"/>
                <a:ea typeface="黑体" pitchFamily="2" charset="-122"/>
              </a:rPr>
              <a:t>用一节课观看教学片（包括相关情况介绍）后，只剩一节课，大概能将第二个例题讲完，没有时间总结。注意抓紧！</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D828A26-7027-4512-B783-E49A3230697E}" type="slidenum">
              <a:rPr lang="en-US" altLang="zh-CN"/>
              <a:pPr/>
              <a:t>61</a:t>
            </a:fld>
            <a:endParaRPr lang="en-US" altLang="zh-CN"/>
          </a:p>
        </p:txBody>
      </p:sp>
      <p:sp>
        <p:nvSpPr>
          <p:cNvPr id="273410" name="Rectangle 2"/>
          <p:cNvSpPr>
            <a:spLocks noGrp="1" noRot="1" noChangeAspect="1" noChangeArrowheads="1" noTextEdit="1"/>
          </p:cNvSpPr>
          <p:nvPr>
            <p:ph type="sldImg"/>
          </p:nvPr>
        </p:nvSpPr>
        <p:spPr>
          <a:ln/>
        </p:spPr>
      </p:sp>
      <p:sp>
        <p:nvSpPr>
          <p:cNvPr id="273411" name="Rectangle 3"/>
          <p:cNvSpPr>
            <a:spLocks noGrp="1" noChangeArrowheads="1"/>
          </p:cNvSpPr>
          <p:nvPr>
            <p:ph type="body" idx="1"/>
          </p:nvPr>
        </p:nvSpPr>
        <p:spPr/>
        <p:txBody>
          <a:bodyPr/>
          <a:lstStyle/>
          <a:p>
            <a:pPr marL="228600" indent="-228600">
              <a:lnSpc>
                <a:spcPct val="90000"/>
              </a:lnSpc>
              <a:buFontTx/>
              <a:buAutoNum type="arabicPeriod"/>
            </a:pPr>
            <a:r>
              <a:rPr lang="zh-CN" altLang="en-US">
                <a:latin typeface="黑体" pitchFamily="2" charset="-122"/>
                <a:ea typeface="黑体" pitchFamily="2" charset="-122"/>
              </a:rPr>
              <a:t>课程学习要求：</a:t>
            </a:r>
          </a:p>
          <a:p>
            <a:pPr marL="228600" indent="-228600">
              <a:lnSpc>
                <a:spcPct val="90000"/>
              </a:lnSpc>
              <a:buFontTx/>
              <a:buChar char="•"/>
            </a:pPr>
            <a:r>
              <a:rPr lang="zh-CN" altLang="en-US">
                <a:latin typeface="黑体" pitchFamily="2" charset="-122"/>
                <a:ea typeface="黑体" pitchFamily="2" charset="-122"/>
              </a:rPr>
              <a:t>有问题及时反馈。</a:t>
            </a:r>
          </a:p>
          <a:p>
            <a:pPr marL="228600" indent="-228600">
              <a:lnSpc>
                <a:spcPct val="90000"/>
              </a:lnSpc>
              <a:buFontTx/>
              <a:buChar char="•"/>
            </a:pPr>
            <a:r>
              <a:rPr lang="zh-CN" altLang="en-US">
                <a:latin typeface="黑体" pitchFamily="2" charset="-122"/>
                <a:ea typeface="黑体" pitchFamily="2" charset="-122"/>
              </a:rPr>
              <a:t>每人准备</a:t>
            </a:r>
            <a:r>
              <a:rPr lang="en-US" altLang="zh-CN">
                <a:latin typeface="黑体" pitchFamily="2" charset="-122"/>
                <a:ea typeface="黑体" pitchFamily="2" charset="-122"/>
              </a:rPr>
              <a:t>2</a:t>
            </a:r>
            <a:r>
              <a:rPr lang="zh-CN" altLang="en-US">
                <a:latin typeface="黑体" pitchFamily="2" charset="-122"/>
                <a:ea typeface="黑体" pitchFamily="2" charset="-122"/>
              </a:rPr>
              <a:t>个作业本，轮换交作业。每周最后一次上完课后按小班交作业，周二上课时返回。从第二周开始实行。  </a:t>
            </a:r>
          </a:p>
          <a:p>
            <a:pPr marL="228600" indent="-228600">
              <a:lnSpc>
                <a:spcPct val="90000"/>
              </a:lnSpc>
              <a:buFontTx/>
              <a:buChar char="•"/>
            </a:pPr>
            <a:r>
              <a:rPr lang="zh-CN" altLang="en-US">
                <a:latin typeface="黑体" pitchFamily="2" charset="-122"/>
                <a:ea typeface="黑体" pitchFamily="2" charset="-122"/>
              </a:rPr>
              <a:t>各班同学协商确定一名课代表，负责本课程作业的收发及协助处理有关事宜。</a:t>
            </a:r>
          </a:p>
          <a:p>
            <a:pPr marL="228600" indent="-228600">
              <a:lnSpc>
                <a:spcPct val="90000"/>
              </a:lnSpc>
              <a:buFontTx/>
              <a:buChar char="•"/>
            </a:pPr>
            <a:r>
              <a:rPr lang="zh-CN" altLang="en-US">
                <a:latin typeface="黑体" pitchFamily="2" charset="-122"/>
                <a:ea typeface="黑体" pitchFamily="2" charset="-122"/>
              </a:rPr>
              <a:t>各班课代表下次上课时将班上的课表上交一份，注明课代表姓名、电话，以便有事联系。</a:t>
            </a:r>
          </a:p>
          <a:p>
            <a:pPr marL="228600" indent="-228600">
              <a:lnSpc>
                <a:spcPct val="90000"/>
              </a:lnSpc>
            </a:pPr>
            <a:endParaRPr lang="zh-CN" altLang="en-US">
              <a:latin typeface="黑体" pitchFamily="2" charset="-122"/>
              <a:ea typeface="黑体" pitchFamily="2" charset="-122"/>
            </a:endParaRPr>
          </a:p>
          <a:p>
            <a:pPr marL="228600" indent="-228600">
              <a:lnSpc>
                <a:spcPct val="90000"/>
              </a:lnSpc>
            </a:pPr>
            <a:r>
              <a:rPr lang="en-US" altLang="zh-CN">
                <a:latin typeface="黑体" pitchFamily="2" charset="-122"/>
                <a:ea typeface="黑体" pitchFamily="2" charset="-122"/>
              </a:rPr>
              <a:t>2. </a:t>
            </a:r>
            <a:r>
              <a:rPr lang="zh-CN" altLang="en-US">
                <a:latin typeface="黑体" pitchFamily="2" charset="-122"/>
                <a:ea typeface="黑体" pitchFamily="2" charset="-122"/>
              </a:rPr>
              <a:t>教学资源介绍：</a:t>
            </a:r>
          </a:p>
          <a:p>
            <a:pPr marL="228600" indent="-228600">
              <a:lnSpc>
                <a:spcPct val="90000"/>
              </a:lnSpc>
            </a:pPr>
            <a:r>
              <a:rPr lang="zh-CN" altLang="en-US">
                <a:latin typeface="黑体" pitchFamily="2" charset="-122"/>
                <a:ea typeface="黑体" pitchFamily="2" charset="-122"/>
              </a:rPr>
              <a:t>   西工大网页 </a:t>
            </a:r>
            <a:r>
              <a:rPr lang="en-US" altLang="zh-CN">
                <a:latin typeface="黑体" pitchFamily="2" charset="-122"/>
                <a:ea typeface="黑体" pitchFamily="2" charset="-122"/>
              </a:rPr>
              <a:t>/ </a:t>
            </a:r>
            <a:r>
              <a:rPr lang="zh-CN" altLang="en-US">
                <a:latin typeface="黑体" pitchFamily="2" charset="-122"/>
                <a:ea typeface="黑体" pitchFamily="2" charset="-122"/>
              </a:rPr>
              <a:t>翱翔学堂 </a:t>
            </a:r>
            <a:r>
              <a:rPr lang="en-US" altLang="zh-CN">
                <a:latin typeface="黑体" pitchFamily="2" charset="-122"/>
                <a:ea typeface="黑体" pitchFamily="2" charset="-122"/>
              </a:rPr>
              <a:t>/ </a:t>
            </a:r>
            <a:r>
              <a:rPr lang="zh-CN" altLang="en-US">
                <a:latin typeface="黑体" pitchFamily="2" charset="-122"/>
                <a:ea typeface="黑体" pitchFamily="2" charset="-122"/>
              </a:rPr>
              <a:t>资源中心 </a:t>
            </a:r>
            <a:r>
              <a:rPr lang="en-US" altLang="zh-CN">
                <a:latin typeface="黑体" pitchFamily="2" charset="-122"/>
                <a:ea typeface="黑体" pitchFamily="2" charset="-122"/>
              </a:rPr>
              <a:t>/ </a:t>
            </a:r>
            <a:r>
              <a:rPr lang="zh-CN" altLang="en-US">
                <a:latin typeface="黑体" pitchFamily="2" charset="-122"/>
                <a:ea typeface="黑体" pitchFamily="2" charset="-122"/>
              </a:rPr>
              <a:t>精品课 </a:t>
            </a:r>
            <a:r>
              <a:rPr lang="en-US" altLang="zh-CN">
                <a:latin typeface="黑体" pitchFamily="2" charset="-122"/>
                <a:ea typeface="黑体" pitchFamily="2" charset="-122"/>
              </a:rPr>
              <a:t>/ </a:t>
            </a:r>
            <a:r>
              <a:rPr lang="zh-CN" altLang="en-US">
                <a:latin typeface="黑体" pitchFamily="2" charset="-122"/>
                <a:ea typeface="黑体" pitchFamily="2" charset="-122"/>
              </a:rPr>
              <a:t>陕西省精品课 </a:t>
            </a:r>
            <a:r>
              <a:rPr lang="en-US" altLang="zh-CN">
                <a:latin typeface="黑体" pitchFamily="2" charset="-122"/>
                <a:ea typeface="黑体" pitchFamily="2" charset="-122"/>
              </a:rPr>
              <a:t>/ </a:t>
            </a:r>
            <a:r>
              <a:rPr lang="zh-CN" altLang="en-US">
                <a:latin typeface="黑体" pitchFamily="2" charset="-122"/>
                <a:ea typeface="黑体" pitchFamily="2" charset="-122"/>
              </a:rPr>
              <a:t>自动控制原理 </a:t>
            </a:r>
            <a:r>
              <a:rPr lang="en-US" altLang="zh-CN">
                <a:latin typeface="黑体" pitchFamily="2" charset="-122"/>
                <a:ea typeface="黑体" pitchFamily="2" charset="-122"/>
              </a:rPr>
              <a:t>/ </a:t>
            </a:r>
            <a:r>
              <a:rPr lang="zh-CN" altLang="en-US">
                <a:latin typeface="黑体" pitchFamily="2" charset="-122"/>
                <a:ea typeface="黑体" pitchFamily="2" charset="-122"/>
              </a:rPr>
              <a:t>网络资源 </a:t>
            </a:r>
            <a:r>
              <a:rPr lang="en-US" altLang="zh-CN">
                <a:latin typeface="黑体" pitchFamily="2" charset="-122"/>
                <a:ea typeface="黑体" pitchFamily="2" charset="-122"/>
              </a:rPr>
              <a:t>/ </a:t>
            </a:r>
            <a:r>
              <a:rPr lang="zh-CN" altLang="en-US">
                <a:solidFill>
                  <a:srgbClr val="FF3300"/>
                </a:solidFill>
                <a:latin typeface="黑体" pitchFamily="2" charset="-122"/>
                <a:ea typeface="黑体" pitchFamily="2" charset="-122"/>
              </a:rPr>
              <a:t>教材内容，电子讲稿，电子课件，网络课程</a:t>
            </a:r>
          </a:p>
          <a:p>
            <a:pPr marL="228600" indent="-228600">
              <a:lnSpc>
                <a:spcPct val="90000"/>
              </a:lnSpc>
            </a:pPr>
            <a:r>
              <a:rPr lang="zh-CN" altLang="en-US">
                <a:solidFill>
                  <a:srgbClr val="FF3300"/>
                </a:solidFill>
                <a:latin typeface="黑体" pitchFamily="2" charset="-122"/>
                <a:ea typeface="黑体" pitchFamily="2" charset="-122"/>
              </a:rPr>
              <a:t>                                                    </a:t>
            </a:r>
            <a:r>
              <a:rPr lang="en-US" altLang="zh-CN">
                <a:solidFill>
                  <a:srgbClr val="FF3300"/>
                </a:solidFill>
                <a:latin typeface="黑体" pitchFamily="2" charset="-122"/>
                <a:ea typeface="黑体" pitchFamily="2" charset="-122"/>
              </a:rPr>
              <a:t>/ </a:t>
            </a:r>
            <a:r>
              <a:rPr lang="zh-CN" altLang="en-US">
                <a:solidFill>
                  <a:srgbClr val="FF3300"/>
                </a:solidFill>
                <a:latin typeface="黑体" pitchFamily="2" charset="-122"/>
                <a:ea typeface="黑体" pitchFamily="2" charset="-122"/>
              </a:rPr>
              <a:t>流媒体课程 </a:t>
            </a:r>
            <a:r>
              <a:rPr lang="en-US" altLang="zh-CN">
                <a:solidFill>
                  <a:srgbClr val="FF3300"/>
                </a:solidFill>
                <a:latin typeface="黑体" pitchFamily="2" charset="-122"/>
                <a:ea typeface="黑体" pitchFamily="2" charset="-122"/>
              </a:rPr>
              <a:t>/ </a:t>
            </a:r>
            <a:r>
              <a:rPr lang="zh-CN" altLang="en-US">
                <a:solidFill>
                  <a:srgbClr val="FF3300"/>
                </a:solidFill>
                <a:latin typeface="黑体" pitchFamily="2" charset="-122"/>
                <a:ea typeface="黑体" pitchFamily="2" charset="-122"/>
              </a:rPr>
              <a:t>自动控制原理 </a:t>
            </a:r>
            <a:r>
              <a:rPr lang="en-US" altLang="zh-CN">
                <a:solidFill>
                  <a:srgbClr val="FF3300"/>
                </a:solidFill>
                <a:latin typeface="黑体" pitchFamily="2" charset="-122"/>
                <a:ea typeface="黑体" pitchFamily="2" charset="-122"/>
              </a:rPr>
              <a:t>/</a:t>
            </a:r>
          </a:p>
          <a:p>
            <a:pPr marL="228600" indent="-228600">
              <a:lnSpc>
                <a:spcPct val="90000"/>
              </a:lnSpc>
            </a:pPr>
            <a:endParaRPr lang="en-US" altLang="zh-CN">
              <a:solidFill>
                <a:srgbClr val="FF3300"/>
              </a:solidFill>
              <a:latin typeface="黑体" pitchFamily="2" charset="-122"/>
              <a:ea typeface="黑体" pitchFamily="2" charset="-122"/>
            </a:endParaRPr>
          </a:p>
          <a:p>
            <a:pPr marL="228600" indent="-228600">
              <a:lnSpc>
                <a:spcPct val="90000"/>
              </a:lnSpc>
            </a:pPr>
            <a:r>
              <a:rPr lang="en-US" altLang="zh-CN">
                <a:solidFill>
                  <a:srgbClr val="FF3300"/>
                </a:solidFill>
                <a:latin typeface="黑体" pitchFamily="2" charset="-122"/>
                <a:ea typeface="黑体" pitchFamily="2" charset="-122"/>
              </a:rPr>
              <a:t>*</a:t>
            </a:r>
            <a:r>
              <a:rPr lang="zh-CN" altLang="en-US">
                <a:solidFill>
                  <a:srgbClr val="FF3300"/>
                </a:solidFill>
                <a:latin typeface="黑体" pitchFamily="2" charset="-122"/>
                <a:ea typeface="黑体" pitchFamily="2" charset="-122"/>
              </a:rPr>
              <a:t>教学记录：</a:t>
            </a:r>
            <a:r>
              <a:rPr lang="en-US" altLang="zh-CN">
                <a:solidFill>
                  <a:srgbClr val="FF3300"/>
                </a:solidFill>
                <a:latin typeface="黑体" pitchFamily="2" charset="-122"/>
                <a:ea typeface="黑体" pitchFamily="2" charset="-122"/>
              </a:rPr>
              <a:t>2008.2.26</a:t>
            </a:r>
          </a:p>
          <a:p>
            <a:pPr marL="228600" indent="-228600">
              <a:lnSpc>
                <a:spcPct val="90000"/>
              </a:lnSpc>
            </a:pPr>
            <a:r>
              <a:rPr lang="zh-CN" altLang="en-US">
                <a:solidFill>
                  <a:srgbClr val="FF3300"/>
                </a:solidFill>
                <a:latin typeface="黑体" pitchFamily="2" charset="-122"/>
                <a:ea typeface="黑体" pitchFamily="2" charset="-122"/>
              </a:rPr>
              <a:t>用一节课观看教学片（包括相关情况介绍）后，只剩一节课，大概能将第二个例题讲完，没有时间总结。注意抓紧！</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grpSp>
        <p:nvGrpSpPr>
          <p:cNvPr id="81922" name="Group 2"/>
          <p:cNvGrpSpPr>
            <a:grpSpLocks/>
          </p:cNvGrpSpPr>
          <p:nvPr/>
        </p:nvGrpSpPr>
        <p:grpSpPr bwMode="auto">
          <a:xfrm>
            <a:off x="19050" y="33338"/>
            <a:ext cx="9102725" cy="881062"/>
            <a:chOff x="12" y="21"/>
            <a:chExt cx="5734" cy="555"/>
          </a:xfrm>
        </p:grpSpPr>
        <p:pic>
          <p:nvPicPr>
            <p:cNvPr id="81923" name="Picture 3" descr="title_01"/>
            <p:cNvPicPr>
              <a:picLocks noChangeAspect="1" noChangeArrowheads="1"/>
            </p:cNvPicPr>
            <p:nvPr/>
          </p:nvPicPr>
          <p:blipFill>
            <a:blip r:embed="rId2">
              <a:lum bright="-6000"/>
              <a:extLst>
                <a:ext uri="{28A0092B-C50C-407E-A947-70E740481C1C}">
                  <a14:useLocalDpi xmlns:a14="http://schemas.microsoft.com/office/drawing/2010/main" val="0"/>
                </a:ext>
              </a:extLst>
            </a:blip>
            <a:srcRect/>
            <a:stretch>
              <a:fillRect/>
            </a:stretch>
          </p:blipFill>
          <p:spPr bwMode="auto">
            <a:xfrm>
              <a:off x="12" y="21"/>
              <a:ext cx="2868" cy="555"/>
            </a:xfrm>
            <a:prstGeom prst="rect">
              <a:avLst/>
            </a:prstGeom>
            <a:noFill/>
            <a:extLst>
              <a:ext uri="{909E8E84-426E-40DD-AFC4-6F175D3DCCD1}">
                <a14:hiddenFill xmlns:a14="http://schemas.microsoft.com/office/drawing/2010/main">
                  <a:solidFill>
                    <a:srgbClr val="FFFFFF"/>
                  </a:solidFill>
                </a14:hiddenFill>
              </a:ext>
            </a:extLst>
          </p:spPr>
        </p:pic>
        <p:pic>
          <p:nvPicPr>
            <p:cNvPr id="81924" name="Picture 4" descr="title_02"/>
            <p:cNvPicPr>
              <a:picLocks noChangeAspect="1" noChangeArrowheads="1"/>
            </p:cNvPicPr>
            <p:nvPr/>
          </p:nvPicPr>
          <p:blipFill>
            <a:blip r:embed="rId3">
              <a:lum bright="-6000"/>
              <a:extLst>
                <a:ext uri="{28A0092B-C50C-407E-A947-70E740481C1C}">
                  <a14:useLocalDpi xmlns:a14="http://schemas.microsoft.com/office/drawing/2010/main" val="0"/>
                </a:ext>
              </a:extLst>
            </a:blip>
            <a:srcRect/>
            <a:stretch>
              <a:fillRect/>
            </a:stretch>
          </p:blipFill>
          <p:spPr bwMode="auto">
            <a:xfrm>
              <a:off x="2880" y="21"/>
              <a:ext cx="2866" cy="555"/>
            </a:xfrm>
            <a:prstGeom prst="rect">
              <a:avLst/>
            </a:prstGeom>
            <a:noFill/>
            <a:extLst>
              <a:ext uri="{909E8E84-426E-40DD-AFC4-6F175D3DCCD1}">
                <a14:hiddenFill xmlns:a14="http://schemas.microsoft.com/office/drawing/2010/main">
                  <a:solidFill>
                    <a:srgbClr val="FFFFFF"/>
                  </a:solidFill>
                </a14:hiddenFill>
              </a:ext>
            </a:extLst>
          </p:spPr>
        </p:pic>
      </p:grpSp>
      <p:sp>
        <p:nvSpPr>
          <p:cNvPr id="81925" name="Line 5"/>
          <p:cNvSpPr>
            <a:spLocks noChangeShapeType="1"/>
          </p:cNvSpPr>
          <p:nvPr/>
        </p:nvSpPr>
        <p:spPr bwMode="auto">
          <a:xfrm flipH="1">
            <a:off x="11113" y="6835775"/>
            <a:ext cx="1893887" cy="0"/>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26" name="Line 6"/>
          <p:cNvSpPr>
            <a:spLocks noChangeShapeType="1"/>
          </p:cNvSpPr>
          <p:nvPr/>
        </p:nvSpPr>
        <p:spPr bwMode="auto">
          <a:xfrm flipV="1">
            <a:off x="0" y="0"/>
            <a:ext cx="0" cy="6858000"/>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27" name="Line 7"/>
          <p:cNvSpPr>
            <a:spLocks noChangeShapeType="1"/>
          </p:cNvSpPr>
          <p:nvPr/>
        </p:nvSpPr>
        <p:spPr bwMode="auto">
          <a:xfrm>
            <a:off x="0" y="0"/>
            <a:ext cx="9144000" cy="0"/>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28" name="Line 8"/>
          <p:cNvSpPr>
            <a:spLocks noChangeShapeType="1"/>
          </p:cNvSpPr>
          <p:nvPr/>
        </p:nvSpPr>
        <p:spPr bwMode="auto">
          <a:xfrm flipV="1">
            <a:off x="9121775" y="0"/>
            <a:ext cx="0" cy="6858000"/>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29" name="Line 9"/>
          <p:cNvSpPr>
            <a:spLocks noChangeShapeType="1"/>
          </p:cNvSpPr>
          <p:nvPr/>
        </p:nvSpPr>
        <p:spPr bwMode="auto">
          <a:xfrm flipH="1">
            <a:off x="7850188" y="6838950"/>
            <a:ext cx="1258887" cy="0"/>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30" name="Rectangle 10"/>
          <p:cNvSpPr>
            <a:spLocks noGrp="1" noChangeArrowheads="1"/>
          </p:cNvSpPr>
          <p:nvPr>
            <p:ph type="ctrTitle"/>
          </p:nvPr>
        </p:nvSpPr>
        <p:spPr>
          <a:xfrm>
            <a:off x="685800" y="2130425"/>
            <a:ext cx="7772400" cy="1470025"/>
          </a:xfrm>
          <a:effectLst>
            <a:outerShdw dist="45791" dir="2021404" algn="ctr" rotWithShape="0">
              <a:schemeClr val="bg2">
                <a:alpha val="50000"/>
              </a:schemeClr>
            </a:outerShdw>
          </a:effectLst>
          <a:extLst>
            <a:ext uri="{91240B29-F687-4F45-9708-019B960494DF}">
              <a14:hiddenLine xmlns:a14="http://schemas.microsoft.com/office/drawing/2010/main" w="9525" algn="ctr">
                <a:solidFill>
                  <a:schemeClr val="tx1"/>
                </a:solidFill>
                <a:miter lim="800000"/>
                <a:headEnd/>
                <a:tailEnd/>
              </a14:hiddenLine>
            </a:ext>
          </a:extLst>
        </p:spPr>
        <p:txBody>
          <a:bodyPr/>
          <a:lstStyle>
            <a:lvl1pPr algn="ctr">
              <a:defRPr kumimoji="1" sz="5400" b="0">
                <a:solidFill>
                  <a:schemeClr val="bg1"/>
                </a:solidFill>
                <a:ea typeface="华文行楷" pitchFamily="2" charset="-122"/>
              </a:defRPr>
            </a:lvl1pPr>
          </a:lstStyle>
          <a:p>
            <a:pPr lvl="0"/>
            <a:r>
              <a:rPr lang="zh-CN" altLang="en-US" noProof="0" smtClean="0"/>
              <a:t>单击此处编辑母版标题样式</a:t>
            </a:r>
          </a:p>
        </p:txBody>
      </p:sp>
      <p:sp>
        <p:nvSpPr>
          <p:cNvPr id="81931" name="Rectangle 11"/>
          <p:cNvSpPr>
            <a:spLocks noGrp="1" noChangeArrowheads="1"/>
          </p:cNvSpPr>
          <p:nvPr>
            <p:ph type="subTitle" idx="1"/>
          </p:nvPr>
        </p:nvSpPr>
        <p:spPr>
          <a:xfrm>
            <a:off x="1476375" y="4437063"/>
            <a:ext cx="6400800" cy="1752600"/>
          </a:xfrm>
          <a:extLst>
            <a:ext uri="{91240B29-F687-4F45-9708-019B960494DF}">
              <a14:hiddenLine xmlns:a14="http://schemas.microsoft.com/office/drawing/2010/main" w="9525" algn="ctr">
                <a:solidFill>
                  <a:schemeClr val="tx1"/>
                </a:solidFill>
                <a:miter lim="800000"/>
                <a:headEnd/>
                <a:tailEnd/>
              </a14:hiddenLine>
            </a:ext>
          </a:extLst>
        </p:spPr>
        <p:txBody>
          <a:bodyPr/>
          <a:lstStyle>
            <a:lvl1pPr marL="0" indent="0" algn="ctr">
              <a:buFontTx/>
              <a:buNone/>
              <a:defRPr kumimoji="1" sz="3600">
                <a:ea typeface="隶书" pitchFamily="49" charset="-122"/>
              </a:defRPr>
            </a:lvl1pPr>
          </a:lstStyle>
          <a:p>
            <a:pPr lvl="0"/>
            <a:r>
              <a:rPr lang="zh-CN" altLang="en-US" noProof="0" smtClean="0"/>
              <a:t>单击此处编辑母版副标题样式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1" presetClass="entr" presetSubtype="0" fill="hold" grpId="0" nodeType="afterEffect">
                                  <p:stCondLst>
                                    <p:cond delay="0"/>
                                  </p:stCondLst>
                                  <p:childTnLst>
                                    <p:set>
                                      <p:cBhvr>
                                        <p:cTn id="6" dur="1" fill="hold">
                                          <p:stCondLst>
                                            <p:cond delay="0"/>
                                          </p:stCondLst>
                                        </p:cTn>
                                        <p:tgtEl>
                                          <p:spTgt spid="81930"/>
                                        </p:tgtEl>
                                        <p:attrNameLst>
                                          <p:attrName>style.visibility</p:attrName>
                                        </p:attrNameLst>
                                      </p:cBhvr>
                                      <p:to>
                                        <p:strVal val="visible"/>
                                      </p:to>
                                    </p:set>
                                    <p:animEffect transition="in" filter="fade">
                                      <p:cBhvr>
                                        <p:cTn id="7" dur="770" decel="100000"/>
                                        <p:tgtEl>
                                          <p:spTgt spid="81930"/>
                                        </p:tgtEl>
                                      </p:cBhvr>
                                    </p:animEffect>
                                    <p:animScale>
                                      <p:cBhvr>
                                        <p:cTn id="8" dur="770" decel="100000"/>
                                        <p:tgtEl>
                                          <p:spTgt spid="81930"/>
                                        </p:tgtEl>
                                      </p:cBhvr>
                                      <p:from x="10000" y="10000"/>
                                      <p:to x="200000" y="450000"/>
                                    </p:animScale>
                                    <p:animScale>
                                      <p:cBhvr>
                                        <p:cTn id="9" dur="1230" accel="100000" fill="hold">
                                          <p:stCondLst>
                                            <p:cond delay="770"/>
                                          </p:stCondLst>
                                        </p:cTn>
                                        <p:tgtEl>
                                          <p:spTgt spid="81930"/>
                                        </p:tgtEl>
                                      </p:cBhvr>
                                      <p:from x="200000" y="450000"/>
                                      <p:to x="100000" y="100000"/>
                                    </p:animScale>
                                    <p:set>
                                      <p:cBhvr>
                                        <p:cTn id="10" dur="770" fill="hold"/>
                                        <p:tgtEl>
                                          <p:spTgt spid="81930"/>
                                        </p:tgtEl>
                                        <p:attrNameLst>
                                          <p:attrName>ppt_x</p:attrName>
                                        </p:attrNameLst>
                                      </p:cBhvr>
                                      <p:to>
                                        <p:strVal val="(0.5)"/>
                                      </p:to>
                                    </p:set>
                                    <p:anim from="(0.5)" to="(#ppt_x)" calcmode="lin" valueType="num">
                                      <p:cBhvr>
                                        <p:cTn id="11" dur="1230" accel="100000" fill="hold">
                                          <p:stCondLst>
                                            <p:cond delay="770"/>
                                          </p:stCondLst>
                                        </p:cTn>
                                        <p:tgtEl>
                                          <p:spTgt spid="81930"/>
                                        </p:tgtEl>
                                        <p:attrNameLst>
                                          <p:attrName>ppt_x</p:attrName>
                                        </p:attrNameLst>
                                      </p:cBhvr>
                                    </p:anim>
                                    <p:set>
                                      <p:cBhvr>
                                        <p:cTn id="12" dur="770" fill="hold"/>
                                        <p:tgtEl>
                                          <p:spTgt spid="81930"/>
                                        </p:tgtEl>
                                        <p:attrNameLst>
                                          <p:attrName>ppt_y</p:attrName>
                                        </p:attrNameLst>
                                      </p:cBhvr>
                                      <p:to>
                                        <p:strVal val="(#ppt_y+0.4)"/>
                                      </p:to>
                                    </p:set>
                                    <p:anim from="(#ppt_y+0.4)" to="(#ppt_y)" calcmode="lin" valueType="num">
                                      <p:cBhvr>
                                        <p:cTn id="13" dur="1230" accel="100000" fill="hold">
                                          <p:stCondLst>
                                            <p:cond delay="770"/>
                                          </p:stCondLst>
                                        </p:cTn>
                                        <p:tgtEl>
                                          <p:spTgt spid="81930"/>
                                        </p:tgtEl>
                                        <p:attrNameLst>
                                          <p:attrName>ppt_y</p:attrName>
                                        </p:attrNameLst>
                                      </p:cBhvr>
                                    </p:anim>
                                  </p:childTnLst>
                                </p:cTn>
                              </p:par>
                            </p:childTnLst>
                          </p:cTn>
                        </p:par>
                        <p:par>
                          <p:cTn id="14" fill="hold" nodeType="afterGroup">
                            <p:stCondLst>
                              <p:cond delay="2000"/>
                            </p:stCondLst>
                            <p:childTnLst>
                              <p:par>
                                <p:cTn id="15" presetID="10" presetClass="entr" presetSubtype="0" fill="hold" grpId="0" nodeType="afterEffect">
                                  <p:stCondLst>
                                    <p:cond delay="0"/>
                                  </p:stCondLst>
                                  <p:childTnLst>
                                    <p:set>
                                      <p:cBhvr>
                                        <p:cTn id="16" dur="1" fill="hold">
                                          <p:stCondLst>
                                            <p:cond delay="0"/>
                                          </p:stCondLst>
                                        </p:cTn>
                                        <p:tgtEl>
                                          <p:spTgt spid="81931">
                                            <p:txEl>
                                              <p:pRg st="0" end="0"/>
                                            </p:txEl>
                                          </p:spTgt>
                                        </p:tgtEl>
                                        <p:attrNameLst>
                                          <p:attrName>style.visibility</p:attrName>
                                        </p:attrNameLst>
                                      </p:cBhvr>
                                      <p:to>
                                        <p:strVal val="visible"/>
                                      </p:to>
                                    </p:set>
                                    <p:animEffect transition="in" filter="fade">
                                      <p:cBhvr>
                                        <p:cTn id="17" dur="2000"/>
                                        <p:tgtEl>
                                          <p:spTgt spid="819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30" grpId="0"/>
      <p:bldP spid="81931" grpId="0" build="p">
        <p:tmplLst>
          <p:tmpl lvl="1">
            <p:tnLst>
              <p:par>
                <p:cTn presetID="10" presetClass="entr" presetSubtype="0" fill="hold" nodeType="afterEffect">
                  <p:stCondLst>
                    <p:cond delay="0"/>
                  </p:stCondLst>
                  <p:childTnLst>
                    <p:set>
                      <p:cBhvr>
                        <p:cTn dur="1" fill="hold">
                          <p:stCondLst>
                            <p:cond delay="0"/>
                          </p:stCondLst>
                        </p:cTn>
                        <p:tgtEl>
                          <p:spTgt spid="81931"/>
                        </p:tgtEl>
                        <p:attrNameLst>
                          <p:attrName>style.visibility</p:attrName>
                        </p:attrNameLst>
                      </p:cBhvr>
                      <p:to>
                        <p:strVal val="visible"/>
                      </p:to>
                    </p:set>
                    <p:animEffect transition="in" filter="fade">
                      <p:cBhvr>
                        <p:cTn dur="2000"/>
                        <p:tgtEl>
                          <p:spTgt spid="81931"/>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289092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2026035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0" y="1524000"/>
            <a:ext cx="4405313"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557713" y="1524000"/>
            <a:ext cx="44069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4129283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7808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949376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8580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237746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1856058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42716518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24650" y="1052513"/>
            <a:ext cx="2239963" cy="580548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0" y="1052513"/>
            <a:ext cx="6572250" cy="5805487"/>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3376150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79388" y="1052513"/>
            <a:ext cx="8785225" cy="6477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0" y="1524000"/>
            <a:ext cx="4405313" cy="5334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557713" y="1524000"/>
            <a:ext cx="4406900" cy="5334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8940212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0" y="1052513"/>
            <a:ext cx="8964613" cy="580548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9846980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8434" name="Group 2"/>
          <p:cNvGrpSpPr>
            <a:grpSpLocks/>
          </p:cNvGrpSpPr>
          <p:nvPr/>
        </p:nvGrpSpPr>
        <p:grpSpPr bwMode="auto">
          <a:xfrm>
            <a:off x="19050" y="33338"/>
            <a:ext cx="9102725" cy="881062"/>
            <a:chOff x="12" y="21"/>
            <a:chExt cx="5734" cy="555"/>
          </a:xfrm>
        </p:grpSpPr>
        <p:pic>
          <p:nvPicPr>
            <p:cNvPr id="18435" name="Picture 3" descr="title_01"/>
            <p:cNvPicPr>
              <a:picLocks noChangeAspect="1" noChangeArrowheads="1"/>
            </p:cNvPicPr>
            <p:nvPr/>
          </p:nvPicPr>
          <p:blipFill>
            <a:blip r:embed="rId15">
              <a:lum bright="-6000"/>
              <a:extLst>
                <a:ext uri="{28A0092B-C50C-407E-A947-70E740481C1C}">
                  <a14:useLocalDpi xmlns:a14="http://schemas.microsoft.com/office/drawing/2010/main" val="0"/>
                </a:ext>
              </a:extLst>
            </a:blip>
            <a:srcRect/>
            <a:stretch>
              <a:fillRect/>
            </a:stretch>
          </p:blipFill>
          <p:spPr bwMode="auto">
            <a:xfrm>
              <a:off x="12" y="21"/>
              <a:ext cx="2868" cy="555"/>
            </a:xfrm>
            <a:prstGeom prst="rect">
              <a:avLst/>
            </a:prstGeom>
            <a:noFill/>
            <a:extLst>
              <a:ext uri="{909E8E84-426E-40DD-AFC4-6F175D3DCCD1}">
                <a14:hiddenFill xmlns:a14="http://schemas.microsoft.com/office/drawing/2010/main">
                  <a:solidFill>
                    <a:srgbClr val="FFFFFF"/>
                  </a:solidFill>
                </a14:hiddenFill>
              </a:ext>
            </a:extLst>
          </p:spPr>
        </p:pic>
        <p:pic>
          <p:nvPicPr>
            <p:cNvPr id="18436" name="Picture 4" descr="title_02"/>
            <p:cNvPicPr>
              <a:picLocks noChangeAspect="1" noChangeArrowheads="1"/>
            </p:cNvPicPr>
            <p:nvPr/>
          </p:nvPicPr>
          <p:blipFill>
            <a:blip r:embed="rId16">
              <a:lum bright="-6000"/>
              <a:extLst>
                <a:ext uri="{28A0092B-C50C-407E-A947-70E740481C1C}">
                  <a14:useLocalDpi xmlns:a14="http://schemas.microsoft.com/office/drawing/2010/main" val="0"/>
                </a:ext>
              </a:extLst>
            </a:blip>
            <a:srcRect/>
            <a:stretch>
              <a:fillRect/>
            </a:stretch>
          </p:blipFill>
          <p:spPr bwMode="auto">
            <a:xfrm>
              <a:off x="2880" y="21"/>
              <a:ext cx="2866" cy="555"/>
            </a:xfrm>
            <a:prstGeom prst="rect">
              <a:avLst/>
            </a:prstGeom>
            <a:noFill/>
            <a:extLst>
              <a:ext uri="{909E8E84-426E-40DD-AFC4-6F175D3DCCD1}">
                <a14:hiddenFill xmlns:a14="http://schemas.microsoft.com/office/drawing/2010/main">
                  <a:solidFill>
                    <a:srgbClr val="FFFFFF"/>
                  </a:solidFill>
                </a14:hiddenFill>
              </a:ext>
            </a:extLst>
          </p:spPr>
        </p:pic>
      </p:grpSp>
      <p:sp>
        <p:nvSpPr>
          <p:cNvPr id="18437" name="Line 5"/>
          <p:cNvSpPr>
            <a:spLocks noChangeShapeType="1"/>
          </p:cNvSpPr>
          <p:nvPr/>
        </p:nvSpPr>
        <p:spPr bwMode="auto">
          <a:xfrm flipH="1">
            <a:off x="11113" y="6835775"/>
            <a:ext cx="1893887" cy="0"/>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38" name="Line 6"/>
          <p:cNvSpPr>
            <a:spLocks noChangeShapeType="1"/>
          </p:cNvSpPr>
          <p:nvPr/>
        </p:nvSpPr>
        <p:spPr bwMode="auto">
          <a:xfrm flipV="1">
            <a:off x="0" y="0"/>
            <a:ext cx="0" cy="6858000"/>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39" name="Line 7"/>
          <p:cNvSpPr>
            <a:spLocks noChangeShapeType="1"/>
          </p:cNvSpPr>
          <p:nvPr/>
        </p:nvSpPr>
        <p:spPr bwMode="auto">
          <a:xfrm>
            <a:off x="0" y="0"/>
            <a:ext cx="9144000" cy="0"/>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40" name="Line 8"/>
          <p:cNvSpPr>
            <a:spLocks noChangeShapeType="1"/>
          </p:cNvSpPr>
          <p:nvPr/>
        </p:nvSpPr>
        <p:spPr bwMode="auto">
          <a:xfrm flipV="1">
            <a:off x="9121775" y="0"/>
            <a:ext cx="0" cy="6858000"/>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41" name="Line 9"/>
          <p:cNvSpPr>
            <a:spLocks noChangeShapeType="1"/>
          </p:cNvSpPr>
          <p:nvPr/>
        </p:nvSpPr>
        <p:spPr bwMode="auto">
          <a:xfrm flipH="1">
            <a:off x="7850188" y="6838950"/>
            <a:ext cx="1258887" cy="0"/>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42" name="Rectangle 10"/>
          <p:cNvSpPr>
            <a:spLocks noGrp="1" noChangeArrowheads="1"/>
          </p:cNvSpPr>
          <p:nvPr>
            <p:ph type="title"/>
          </p:nvPr>
        </p:nvSpPr>
        <p:spPr bwMode="auto">
          <a:xfrm>
            <a:off x="179388" y="1052513"/>
            <a:ext cx="8785225"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8444" name="Rectangle 12"/>
          <p:cNvSpPr>
            <a:spLocks noGrp="1" noChangeArrowheads="1"/>
          </p:cNvSpPr>
          <p:nvPr>
            <p:ph type="body" idx="1"/>
          </p:nvPr>
        </p:nvSpPr>
        <p:spPr bwMode="auto">
          <a:xfrm>
            <a:off x="0" y="1524000"/>
            <a:ext cx="8964613"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8445" name="Line 13"/>
          <p:cNvSpPr>
            <a:spLocks noChangeShapeType="1"/>
          </p:cNvSpPr>
          <p:nvPr/>
        </p:nvSpPr>
        <p:spPr bwMode="auto">
          <a:xfrm>
            <a:off x="228600" y="1524000"/>
            <a:ext cx="8748713" cy="0"/>
          </a:xfrm>
          <a:prstGeom prst="line">
            <a:avLst/>
          </a:prstGeom>
          <a:noFill/>
          <a:ln w="57150" cmpd="thinThick">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Lst>
  <p:timing>
    <p:tnLst>
      <p:par>
        <p:cTn id="1" dur="indefinite" restart="never" nodeType="tmRoot"/>
      </p:par>
    </p:tnLst>
  </p:timing>
  <p:txStyles>
    <p:titleStyle>
      <a:lvl1pPr algn="l" rtl="0" fontAlgn="base">
        <a:spcBef>
          <a:spcPct val="0"/>
        </a:spcBef>
        <a:spcAft>
          <a:spcPct val="0"/>
        </a:spcAft>
        <a:defRPr sz="3600" b="1">
          <a:solidFill>
            <a:srgbClr val="FF0000"/>
          </a:solidFill>
          <a:latin typeface="+mj-lt"/>
          <a:ea typeface="+mj-ea"/>
          <a:cs typeface="+mj-cs"/>
        </a:defRPr>
      </a:lvl1pPr>
      <a:lvl2pPr algn="l" rtl="0" fontAlgn="base">
        <a:spcBef>
          <a:spcPct val="0"/>
        </a:spcBef>
        <a:spcAft>
          <a:spcPct val="0"/>
        </a:spcAft>
        <a:defRPr sz="3600" b="1">
          <a:solidFill>
            <a:srgbClr val="FF0000"/>
          </a:solidFill>
          <a:latin typeface="Times New Roman" pitchFamily="18" charset="0"/>
          <a:ea typeface="方正姚体" pitchFamily="2" charset="-122"/>
        </a:defRPr>
      </a:lvl2pPr>
      <a:lvl3pPr algn="l" rtl="0" fontAlgn="base">
        <a:spcBef>
          <a:spcPct val="0"/>
        </a:spcBef>
        <a:spcAft>
          <a:spcPct val="0"/>
        </a:spcAft>
        <a:defRPr sz="3600" b="1">
          <a:solidFill>
            <a:srgbClr val="FF0000"/>
          </a:solidFill>
          <a:latin typeface="Times New Roman" pitchFamily="18" charset="0"/>
          <a:ea typeface="方正姚体" pitchFamily="2" charset="-122"/>
        </a:defRPr>
      </a:lvl3pPr>
      <a:lvl4pPr algn="l" rtl="0" fontAlgn="base">
        <a:spcBef>
          <a:spcPct val="0"/>
        </a:spcBef>
        <a:spcAft>
          <a:spcPct val="0"/>
        </a:spcAft>
        <a:defRPr sz="3600" b="1">
          <a:solidFill>
            <a:srgbClr val="FF0000"/>
          </a:solidFill>
          <a:latin typeface="Times New Roman" pitchFamily="18" charset="0"/>
          <a:ea typeface="方正姚体" pitchFamily="2" charset="-122"/>
        </a:defRPr>
      </a:lvl4pPr>
      <a:lvl5pPr algn="l" rtl="0" fontAlgn="base">
        <a:spcBef>
          <a:spcPct val="0"/>
        </a:spcBef>
        <a:spcAft>
          <a:spcPct val="0"/>
        </a:spcAft>
        <a:defRPr sz="3600" b="1">
          <a:solidFill>
            <a:srgbClr val="FF0000"/>
          </a:solidFill>
          <a:latin typeface="Times New Roman" pitchFamily="18" charset="0"/>
          <a:ea typeface="方正姚体" pitchFamily="2" charset="-122"/>
        </a:defRPr>
      </a:lvl5pPr>
      <a:lvl6pPr marL="457200" algn="l" rtl="0" fontAlgn="base">
        <a:spcBef>
          <a:spcPct val="0"/>
        </a:spcBef>
        <a:spcAft>
          <a:spcPct val="0"/>
        </a:spcAft>
        <a:defRPr sz="3600" b="1">
          <a:solidFill>
            <a:srgbClr val="FF0000"/>
          </a:solidFill>
          <a:latin typeface="Times New Roman" pitchFamily="18" charset="0"/>
          <a:ea typeface="方正姚体" pitchFamily="2" charset="-122"/>
        </a:defRPr>
      </a:lvl6pPr>
      <a:lvl7pPr marL="914400" algn="l" rtl="0" fontAlgn="base">
        <a:spcBef>
          <a:spcPct val="0"/>
        </a:spcBef>
        <a:spcAft>
          <a:spcPct val="0"/>
        </a:spcAft>
        <a:defRPr sz="3600" b="1">
          <a:solidFill>
            <a:srgbClr val="FF0000"/>
          </a:solidFill>
          <a:latin typeface="Times New Roman" pitchFamily="18" charset="0"/>
          <a:ea typeface="方正姚体" pitchFamily="2" charset="-122"/>
        </a:defRPr>
      </a:lvl7pPr>
      <a:lvl8pPr marL="1371600" algn="l" rtl="0" fontAlgn="base">
        <a:spcBef>
          <a:spcPct val="0"/>
        </a:spcBef>
        <a:spcAft>
          <a:spcPct val="0"/>
        </a:spcAft>
        <a:defRPr sz="3600" b="1">
          <a:solidFill>
            <a:srgbClr val="FF0000"/>
          </a:solidFill>
          <a:latin typeface="Times New Roman" pitchFamily="18" charset="0"/>
          <a:ea typeface="方正姚体" pitchFamily="2" charset="-122"/>
        </a:defRPr>
      </a:lvl8pPr>
      <a:lvl9pPr marL="1828800" algn="l" rtl="0" fontAlgn="base">
        <a:spcBef>
          <a:spcPct val="0"/>
        </a:spcBef>
        <a:spcAft>
          <a:spcPct val="0"/>
        </a:spcAft>
        <a:defRPr sz="3600" b="1">
          <a:solidFill>
            <a:srgbClr val="FF0000"/>
          </a:solidFill>
          <a:latin typeface="Times New Roman" pitchFamily="18" charset="0"/>
          <a:ea typeface="方正姚体" pitchFamily="2" charset="-122"/>
        </a:defRPr>
      </a:lvl9pPr>
    </p:titleStyle>
    <p:bodyStyle>
      <a:lvl1pPr marL="342900" indent="-342900" algn="l" rtl="0" fontAlgn="base">
        <a:spcBef>
          <a:spcPct val="20000"/>
        </a:spcBef>
        <a:spcAft>
          <a:spcPct val="0"/>
        </a:spcAft>
        <a:buChar char="•"/>
        <a:defRPr sz="3200" b="1">
          <a:solidFill>
            <a:srgbClr val="FFFF00"/>
          </a:solidFill>
          <a:latin typeface="+mn-lt"/>
          <a:ea typeface="+mn-ea"/>
          <a:cs typeface="+mn-cs"/>
        </a:defRPr>
      </a:lvl1pPr>
      <a:lvl2pPr marL="742950" indent="-285750" algn="l" rtl="0" fontAlgn="base">
        <a:spcBef>
          <a:spcPct val="20000"/>
        </a:spcBef>
        <a:spcAft>
          <a:spcPct val="0"/>
        </a:spcAft>
        <a:buChar char="–"/>
        <a:defRPr sz="2800" b="1">
          <a:solidFill>
            <a:schemeClr val="bg1"/>
          </a:solidFill>
          <a:latin typeface="+mn-lt"/>
          <a:ea typeface="隶书" pitchFamily="49" charset="-122"/>
        </a:defRPr>
      </a:lvl2pPr>
      <a:lvl3pPr marL="1143000" indent="-228600" algn="l" rtl="0" fontAlgn="base">
        <a:spcBef>
          <a:spcPct val="20000"/>
        </a:spcBef>
        <a:spcAft>
          <a:spcPct val="0"/>
        </a:spcAft>
        <a:buChar char="•"/>
        <a:defRPr sz="2400" b="1">
          <a:solidFill>
            <a:srgbClr val="00FF00"/>
          </a:solidFill>
          <a:latin typeface="+mn-lt"/>
          <a:ea typeface="幼圆" pitchFamily="49" charset="-122"/>
        </a:defRPr>
      </a:lvl3pPr>
      <a:lvl4pPr marL="1600200" indent="-228600" algn="l" rtl="0" fontAlgn="base">
        <a:spcBef>
          <a:spcPct val="20000"/>
        </a:spcBef>
        <a:spcAft>
          <a:spcPct val="0"/>
        </a:spcAft>
        <a:buChar char="–"/>
        <a:defRPr sz="2000" b="1">
          <a:solidFill>
            <a:srgbClr val="CCFF99"/>
          </a:solidFill>
          <a:latin typeface="+mn-lt"/>
          <a:ea typeface="华文新魏" pitchFamily="2" charset="-122"/>
        </a:defRPr>
      </a:lvl4pPr>
      <a:lvl5pPr marL="2057400" indent="-228600" algn="l" rtl="0" fontAlgn="base">
        <a:spcBef>
          <a:spcPct val="20000"/>
        </a:spcBef>
        <a:spcAft>
          <a:spcPct val="0"/>
        </a:spcAft>
        <a:buChar char="»"/>
        <a:defRPr sz="2000" b="1">
          <a:solidFill>
            <a:srgbClr val="FF9933"/>
          </a:solidFill>
          <a:latin typeface="+mn-lt"/>
          <a:ea typeface="华文中宋" pitchFamily="2" charset="-122"/>
        </a:defRPr>
      </a:lvl5pPr>
      <a:lvl6pPr marL="2514600" indent="-228600" algn="l" rtl="0" fontAlgn="base">
        <a:spcBef>
          <a:spcPct val="20000"/>
        </a:spcBef>
        <a:spcAft>
          <a:spcPct val="0"/>
        </a:spcAft>
        <a:buChar char="»"/>
        <a:defRPr sz="2000" b="1">
          <a:solidFill>
            <a:srgbClr val="FF9933"/>
          </a:solidFill>
          <a:latin typeface="+mn-lt"/>
          <a:ea typeface="华文中宋" pitchFamily="2" charset="-122"/>
        </a:defRPr>
      </a:lvl6pPr>
      <a:lvl7pPr marL="2971800" indent="-228600" algn="l" rtl="0" fontAlgn="base">
        <a:spcBef>
          <a:spcPct val="20000"/>
        </a:spcBef>
        <a:spcAft>
          <a:spcPct val="0"/>
        </a:spcAft>
        <a:buChar char="»"/>
        <a:defRPr sz="2000" b="1">
          <a:solidFill>
            <a:srgbClr val="FF9933"/>
          </a:solidFill>
          <a:latin typeface="+mn-lt"/>
          <a:ea typeface="华文中宋" pitchFamily="2" charset="-122"/>
        </a:defRPr>
      </a:lvl7pPr>
      <a:lvl8pPr marL="3429000" indent="-228600" algn="l" rtl="0" fontAlgn="base">
        <a:spcBef>
          <a:spcPct val="20000"/>
        </a:spcBef>
        <a:spcAft>
          <a:spcPct val="0"/>
        </a:spcAft>
        <a:buChar char="»"/>
        <a:defRPr sz="2000" b="1">
          <a:solidFill>
            <a:srgbClr val="FF9933"/>
          </a:solidFill>
          <a:latin typeface="+mn-lt"/>
          <a:ea typeface="华文中宋" pitchFamily="2" charset="-122"/>
        </a:defRPr>
      </a:lvl8pPr>
      <a:lvl9pPr marL="3886200" indent="-228600" algn="l" rtl="0" fontAlgn="base">
        <a:spcBef>
          <a:spcPct val="20000"/>
        </a:spcBef>
        <a:spcAft>
          <a:spcPct val="0"/>
        </a:spcAft>
        <a:buChar char="»"/>
        <a:defRPr sz="2000" b="1">
          <a:solidFill>
            <a:srgbClr val="FF9933"/>
          </a:solidFill>
          <a:latin typeface="+mn-lt"/>
          <a:ea typeface="华文中宋"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lobelia.douban.com/lpic/s2707185.jpg" TargetMode="Externa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hyperlink" Target="http://image.baidu.com/i?ct=503316480&amp;z=0&amp;tn=baiduimagedetail&amp;word=%B7%C9%BB%FA&amp;in=27865&amp;cl=2&amp;cm=1&amp;sc=0&amp;lm=-1&amp;pn=35&amp;rn=1&amp;di=2423146616&amp;ln=2000" TargetMode="Externa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jpeg"/><Relationship Id="rId4" Type="http://schemas.openxmlformats.org/officeDocument/2006/relationships/image" Target="../media/image17.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31.png"/></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32.png"/><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12.xml"/><Relationship Id="rId1" Type="http://schemas.openxmlformats.org/officeDocument/2006/relationships/vmlDrawing" Target="../drawings/vmlDrawing4.vml"/><Relationship Id="rId6" Type="http://schemas.openxmlformats.org/officeDocument/2006/relationships/image" Target="../media/image36.wmf"/><Relationship Id="rId5" Type="http://schemas.openxmlformats.org/officeDocument/2006/relationships/oleObject" Target="../embeddings/oleObject5.bin"/><Relationship Id="rId4" Type="http://schemas.openxmlformats.org/officeDocument/2006/relationships/image" Target="../media/image3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oleObject" Target="../embeddings/oleObject12.bin"/><Relationship Id="rId18" Type="http://schemas.openxmlformats.org/officeDocument/2006/relationships/image" Target="../media/image47.png"/><Relationship Id="rId3" Type="http://schemas.openxmlformats.org/officeDocument/2006/relationships/oleObject" Target="../embeddings/oleObject7.bin"/><Relationship Id="rId21" Type="http://schemas.openxmlformats.org/officeDocument/2006/relationships/oleObject" Target="../embeddings/oleObject16.bin"/><Relationship Id="rId7" Type="http://schemas.openxmlformats.org/officeDocument/2006/relationships/oleObject" Target="../embeddings/oleObject9.bin"/><Relationship Id="rId12" Type="http://schemas.openxmlformats.org/officeDocument/2006/relationships/image" Target="../media/image44.png"/><Relationship Id="rId17" Type="http://schemas.openxmlformats.org/officeDocument/2006/relationships/oleObject" Target="../embeddings/oleObject14.bin"/><Relationship Id="rId2" Type="http://schemas.openxmlformats.org/officeDocument/2006/relationships/slideLayout" Target="../slideLayouts/slideLayout2.xml"/><Relationship Id="rId16" Type="http://schemas.openxmlformats.org/officeDocument/2006/relationships/image" Target="../media/image46.png"/><Relationship Id="rId20" Type="http://schemas.openxmlformats.org/officeDocument/2006/relationships/image" Target="../media/image48.png"/><Relationship Id="rId1" Type="http://schemas.openxmlformats.org/officeDocument/2006/relationships/vmlDrawing" Target="../drawings/vmlDrawing5.vml"/><Relationship Id="rId6" Type="http://schemas.openxmlformats.org/officeDocument/2006/relationships/image" Target="../media/image41.png"/><Relationship Id="rId11" Type="http://schemas.openxmlformats.org/officeDocument/2006/relationships/oleObject" Target="../embeddings/oleObject11.bin"/><Relationship Id="rId5" Type="http://schemas.openxmlformats.org/officeDocument/2006/relationships/oleObject" Target="../embeddings/oleObject8.bin"/><Relationship Id="rId15" Type="http://schemas.openxmlformats.org/officeDocument/2006/relationships/oleObject" Target="../embeddings/oleObject13.bin"/><Relationship Id="rId23" Type="http://schemas.openxmlformats.org/officeDocument/2006/relationships/image" Target="../media/image39.png"/><Relationship Id="rId10" Type="http://schemas.openxmlformats.org/officeDocument/2006/relationships/image" Target="../media/image43.png"/><Relationship Id="rId19" Type="http://schemas.openxmlformats.org/officeDocument/2006/relationships/oleObject" Target="../embeddings/oleObject15.bin"/><Relationship Id="rId4" Type="http://schemas.openxmlformats.org/officeDocument/2006/relationships/image" Target="../media/image40.png"/><Relationship Id="rId9" Type="http://schemas.openxmlformats.org/officeDocument/2006/relationships/oleObject" Target="../embeddings/oleObject10.bin"/><Relationship Id="rId14" Type="http://schemas.openxmlformats.org/officeDocument/2006/relationships/image" Target="../media/image45.png"/><Relationship Id="rId22" Type="http://schemas.openxmlformats.org/officeDocument/2006/relationships/image" Target="../media/image49.png"/></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5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7.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53.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55.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54.png"/><Relationship Id="rId1" Type="http://schemas.openxmlformats.org/officeDocument/2006/relationships/slideLayout" Target="../slideLayouts/slideLayout1.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56.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18" Type="http://schemas.openxmlformats.org/officeDocument/2006/relationships/image" Target="../media/image76.png"/><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70.png"/><Relationship Id="rId17" Type="http://schemas.openxmlformats.org/officeDocument/2006/relationships/image" Target="../media/image75.png"/><Relationship Id="rId2" Type="http://schemas.openxmlformats.org/officeDocument/2006/relationships/image" Target="../media/image60.png"/><Relationship Id="rId16" Type="http://schemas.openxmlformats.org/officeDocument/2006/relationships/image" Target="../media/image74.png"/><Relationship Id="rId1" Type="http://schemas.openxmlformats.org/officeDocument/2006/relationships/slideLayout" Target="../slideLayouts/slideLayout1.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5" Type="http://schemas.openxmlformats.org/officeDocument/2006/relationships/image" Target="../media/image7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s>
</file>

<file path=ppt/slides/_rels/slide5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hyperlink" Target="https://v.qq.com/x/page/k03480zzbj3.html"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5218" name="Picture 2" descr="v4 拷贝"/>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65219" name="Rectangle 3"/>
          <p:cNvSpPr>
            <a:spLocks noChangeArrowheads="1"/>
          </p:cNvSpPr>
          <p:nvPr/>
        </p:nvSpPr>
        <p:spPr bwMode="auto">
          <a:xfrm>
            <a:off x="762000" y="914400"/>
            <a:ext cx="6934200" cy="1470025"/>
          </a:xfrm>
          <a:prstGeom prst="rect">
            <a:avLst/>
          </a:prstGeom>
          <a:noFill/>
          <a:ln>
            <a:noFill/>
          </a:ln>
          <a:effectLst>
            <a:outerShdw dist="107763" dir="8100000" algn="ctr" rotWithShape="0">
              <a:schemeClr val="bg2">
                <a:alpha val="5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p>
            <a:pPr>
              <a:lnSpc>
                <a:spcPct val="100000"/>
              </a:lnSpc>
              <a:spcBef>
                <a:spcPct val="0"/>
              </a:spcBef>
            </a:pPr>
            <a:r>
              <a:rPr lang="zh-CN" altLang="en-US" sz="8800">
                <a:solidFill>
                  <a:srgbClr val="FF9900"/>
                </a:solidFill>
                <a:ea typeface="华文新魏" pitchFamily="2" charset="-122"/>
              </a:rPr>
              <a:t>自动控制原理</a:t>
            </a:r>
          </a:p>
        </p:txBody>
      </p:sp>
      <p:sp>
        <p:nvSpPr>
          <p:cNvPr id="265220" name="Rectangle 4"/>
          <p:cNvSpPr>
            <a:spLocks noChangeArrowheads="1"/>
          </p:cNvSpPr>
          <p:nvPr/>
        </p:nvSpPr>
        <p:spPr bwMode="auto">
          <a:xfrm>
            <a:off x="2209800" y="2743200"/>
            <a:ext cx="44196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00000"/>
              </a:lnSpc>
            </a:pPr>
            <a:r>
              <a:rPr lang="zh-CN" altLang="en-US" sz="2800">
                <a:solidFill>
                  <a:srgbClr val="993300"/>
                </a:solidFill>
              </a:rPr>
              <a:t>西北工业大学自动化学院</a:t>
            </a:r>
          </a:p>
          <a:p>
            <a:pPr>
              <a:lnSpc>
                <a:spcPct val="100000"/>
              </a:lnSpc>
            </a:pPr>
            <a:r>
              <a:rPr lang="zh-CN" altLang="en-US" sz="2800">
                <a:solidFill>
                  <a:srgbClr val="993300"/>
                </a:solidFill>
              </a:rPr>
              <a:t>   </a:t>
            </a:r>
            <a:r>
              <a:rPr lang="zh-CN" altLang="en-US" sz="2400">
                <a:solidFill>
                  <a:srgbClr val="993300"/>
                </a:solidFill>
              </a:rPr>
              <a:t>自 动 控 制 原 理 教 学 组</a:t>
            </a:r>
          </a:p>
        </p:txBody>
      </p:sp>
    </p:spTree>
    <p:extLst>
      <p:ext uri="{BB962C8B-B14F-4D97-AF65-F5344CB8AC3E}">
        <p14:creationId xmlns:p14="http://schemas.microsoft.com/office/powerpoint/2010/main" val="216302806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p:cNvSpPr>
            <a:spLocks noChangeArrowheads="1"/>
          </p:cNvSpPr>
          <p:nvPr/>
        </p:nvSpPr>
        <p:spPr bwMode="auto">
          <a:xfrm>
            <a:off x="0" y="1587500"/>
            <a:ext cx="9144000" cy="5270500"/>
          </a:xfrm>
          <a:prstGeom prst="rect">
            <a:avLst/>
          </a:prstGeom>
          <a:noFill/>
          <a:ln>
            <a:noFill/>
          </a:ln>
          <a:effectLst>
            <a:outerShdw dist="45791" dir="2021404" algn="ctr" rotWithShape="0">
              <a:schemeClr val="bg2">
                <a:alpha val="50000"/>
              </a:schemeClr>
            </a:outerShdw>
          </a:effectLst>
          <a:extLst/>
        </p:spPr>
        <p:txBody>
          <a:bodyPr anchor="ctr"/>
          <a:lstStyle/>
          <a:p>
            <a:pPr algn="ctr">
              <a:lnSpc>
                <a:spcPct val="100000"/>
              </a:lnSpc>
              <a:spcBef>
                <a:spcPct val="0"/>
              </a:spcBef>
            </a:pPr>
            <a:endParaRPr kumimoji="1" lang="zh-CN" altLang="zh-CN" sz="9600">
              <a:ea typeface="华文新魏" pitchFamily="2" charset="-122"/>
            </a:endParaRPr>
          </a:p>
        </p:txBody>
      </p:sp>
      <p:sp>
        <p:nvSpPr>
          <p:cNvPr id="272387" name="Rectangle 3"/>
          <p:cNvSpPr>
            <a:spLocks noGrp="1" noChangeArrowheads="1"/>
          </p:cNvSpPr>
          <p:nvPr>
            <p:ph type="title"/>
          </p:nvPr>
        </p:nvSpPr>
        <p:spPr>
          <a:xfrm>
            <a:off x="25400" y="952500"/>
            <a:ext cx="9067800" cy="533400"/>
          </a:xfrm>
          <a:noFill/>
        </p:spPr>
        <p:txBody>
          <a:bodyPr/>
          <a:lstStyle/>
          <a:p>
            <a:pPr algn="ctr"/>
            <a:r>
              <a:rPr lang="zh-CN" altLang="en-US" sz="4000" dirty="0">
                <a:ea typeface="华文新魏" pitchFamily="2" charset="-122"/>
              </a:rPr>
              <a:t>自动控制原理</a:t>
            </a:r>
          </a:p>
        </p:txBody>
      </p:sp>
      <p:sp>
        <p:nvSpPr>
          <p:cNvPr id="272388" name="Rectangle 4"/>
          <p:cNvSpPr>
            <a:spLocks noGrp="1" noChangeArrowheads="1"/>
          </p:cNvSpPr>
          <p:nvPr>
            <p:ph type="body" idx="1"/>
          </p:nvPr>
        </p:nvSpPr>
        <p:spPr>
          <a:xfrm>
            <a:off x="683568" y="3055144"/>
            <a:ext cx="7920880" cy="1354137"/>
          </a:xfrm>
          <a:noFill/>
        </p:spPr>
        <p:txBody>
          <a:bodyPr/>
          <a:lstStyle/>
          <a:p>
            <a:pPr algn="ctr">
              <a:lnSpc>
                <a:spcPct val="80000"/>
              </a:lnSpc>
              <a:spcBef>
                <a:spcPct val="30000"/>
              </a:spcBef>
              <a:buNone/>
            </a:pPr>
            <a:r>
              <a:rPr lang="en-US" altLang="zh-CN" sz="5400" kern="1200" dirty="0">
                <a:solidFill>
                  <a:schemeClr val="accent6"/>
                </a:solidFill>
                <a:latin typeface="华文新魏" pitchFamily="2" charset="-122"/>
                <a:ea typeface="华文新魏" pitchFamily="2" charset="-122"/>
              </a:rPr>
              <a:t>1—1, 2, 3</a:t>
            </a:r>
          </a:p>
          <a:p>
            <a:pPr algn="ctr">
              <a:lnSpc>
                <a:spcPct val="80000"/>
              </a:lnSpc>
              <a:spcBef>
                <a:spcPct val="30000"/>
              </a:spcBef>
              <a:buNone/>
            </a:pPr>
            <a:r>
              <a:rPr lang="zh-CN" altLang="en-US" sz="5400" kern="1200" dirty="0">
                <a:solidFill>
                  <a:schemeClr val="accent6"/>
                </a:solidFill>
                <a:latin typeface="华文新魏" pitchFamily="2" charset="-122"/>
                <a:ea typeface="华文新魏" pitchFamily="2" charset="-122"/>
              </a:rPr>
              <a:t>观看</a:t>
            </a:r>
            <a:r>
              <a:rPr lang="en-US" altLang="zh-CN" sz="5400" kern="1200" dirty="0" err="1">
                <a:solidFill>
                  <a:schemeClr val="accent6"/>
                </a:solidFill>
                <a:latin typeface="华文新魏" pitchFamily="2" charset="-122"/>
                <a:ea typeface="华文新魏" pitchFamily="2" charset="-122"/>
              </a:rPr>
              <a:t>Mook</a:t>
            </a:r>
            <a:r>
              <a:rPr lang="zh-CN" altLang="en-US" sz="5400" kern="1200" dirty="0">
                <a:solidFill>
                  <a:schemeClr val="accent6"/>
                </a:solidFill>
                <a:latin typeface="华文新魏" pitchFamily="2" charset="-122"/>
                <a:ea typeface="华文新魏" pitchFamily="2" charset="-122"/>
              </a:rPr>
              <a:t>视频：</a:t>
            </a:r>
            <a:endParaRPr lang="en-US" altLang="zh-CN" sz="5400" kern="1200" dirty="0">
              <a:solidFill>
                <a:schemeClr val="accent6"/>
              </a:solidFill>
              <a:latin typeface="华文新魏" pitchFamily="2" charset="-122"/>
              <a:ea typeface="华文新魏" pitchFamily="2" charset="-122"/>
            </a:endParaRPr>
          </a:p>
          <a:p>
            <a:pPr algn="ctr">
              <a:lnSpc>
                <a:spcPct val="80000"/>
              </a:lnSpc>
              <a:spcBef>
                <a:spcPct val="30000"/>
              </a:spcBef>
              <a:buNone/>
            </a:pPr>
            <a:r>
              <a:rPr lang="zh-CN" altLang="en-US" sz="5400" kern="1200" dirty="0">
                <a:solidFill>
                  <a:schemeClr val="accent6"/>
                </a:solidFill>
                <a:latin typeface="华文新魏" pitchFamily="2" charset="-122"/>
                <a:ea typeface="华文新魏" pitchFamily="2" charset="-122"/>
              </a:rPr>
              <a:t>第一章第一节，第三节</a:t>
            </a:r>
            <a:endParaRPr lang="en-US" altLang="zh-CN" sz="5400" kern="1200" dirty="0">
              <a:solidFill>
                <a:schemeClr val="accent6"/>
              </a:solidFill>
              <a:latin typeface="华文新魏" pitchFamily="2" charset="-122"/>
              <a:ea typeface="华文新魏" pitchFamily="2" charset="-122"/>
            </a:endParaRPr>
          </a:p>
          <a:p>
            <a:pPr>
              <a:lnSpc>
                <a:spcPct val="90000"/>
              </a:lnSpc>
              <a:buFontTx/>
              <a:buNone/>
            </a:pPr>
            <a:endParaRPr lang="en-US" altLang="zh-CN" sz="7200" dirty="0" smtClean="0">
              <a:solidFill>
                <a:schemeClr val="accent6"/>
              </a:solidFill>
            </a:endParaRPr>
          </a:p>
        </p:txBody>
      </p:sp>
      <p:sp>
        <p:nvSpPr>
          <p:cNvPr id="272389" name="Rectangle 5"/>
          <p:cNvSpPr>
            <a:spLocks noChangeArrowheads="1"/>
          </p:cNvSpPr>
          <p:nvPr/>
        </p:nvSpPr>
        <p:spPr bwMode="auto">
          <a:xfrm>
            <a:off x="1761563" y="1587500"/>
            <a:ext cx="5867400" cy="1233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lnSpc>
                <a:spcPct val="100000"/>
              </a:lnSpc>
              <a:spcBef>
                <a:spcPct val="0"/>
              </a:spcBef>
            </a:pPr>
            <a:r>
              <a:rPr lang="zh-CN" altLang="en-US" sz="6000" dirty="0">
                <a:solidFill>
                  <a:srgbClr val="FF0000"/>
                </a:solidFill>
                <a:ea typeface="方正舒体" pitchFamily="2" charset="-122"/>
              </a:rPr>
              <a:t>本次课程作业</a:t>
            </a:r>
            <a:r>
              <a:rPr lang="zh-CN" altLang="en-US" sz="2400" dirty="0">
                <a:solidFill>
                  <a:srgbClr val="FF0000"/>
                </a:solidFill>
                <a:ea typeface="方正舒体" pitchFamily="2" charset="-122"/>
              </a:rPr>
              <a:t>（</a:t>
            </a:r>
            <a:r>
              <a:rPr lang="en-US" altLang="zh-CN" sz="2400" dirty="0">
                <a:solidFill>
                  <a:srgbClr val="FF0000"/>
                </a:solidFill>
                <a:ea typeface="方正舒体" pitchFamily="2" charset="-122"/>
              </a:rPr>
              <a:t>1</a:t>
            </a:r>
            <a:r>
              <a:rPr lang="zh-CN" altLang="en-US" sz="2400" dirty="0">
                <a:solidFill>
                  <a:srgbClr val="FF0000"/>
                </a:solidFill>
                <a:ea typeface="方正舒体" pitchFamily="2" charset="-122"/>
              </a:rPr>
              <a:t>）</a:t>
            </a:r>
          </a:p>
        </p:txBody>
      </p:sp>
    </p:spTree>
    <p:extLst>
      <p:ext uri="{BB962C8B-B14F-4D97-AF65-F5344CB8AC3E}">
        <p14:creationId xmlns:p14="http://schemas.microsoft.com/office/powerpoint/2010/main" val="27925206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050"/>
          <p:cNvSpPr>
            <a:spLocks noChangeArrowheads="1"/>
          </p:cNvSpPr>
          <p:nvPr/>
        </p:nvSpPr>
        <p:spPr bwMode="auto">
          <a:xfrm>
            <a:off x="0" y="1600200"/>
            <a:ext cx="9144000" cy="5257800"/>
          </a:xfrm>
          <a:prstGeom prst="rect">
            <a:avLst/>
          </a:prstGeom>
          <a:noFill/>
          <a:ln>
            <a:noFill/>
          </a:ln>
          <a:effectLst>
            <a:outerShdw dist="45791" dir="2021404" algn="ctr" rotWithShape="0">
              <a:schemeClr val="bg2">
                <a:alpha val="50000"/>
              </a:schemeClr>
            </a:outerShdw>
          </a:effectLst>
          <a:extLst/>
        </p:spPr>
        <p:txBody>
          <a:bodyPr anchor="ctr"/>
          <a:lstStyle/>
          <a:p>
            <a:pPr algn="ctr">
              <a:lnSpc>
                <a:spcPct val="100000"/>
              </a:lnSpc>
              <a:spcBef>
                <a:spcPct val="0"/>
              </a:spcBef>
            </a:pPr>
            <a:endParaRPr kumimoji="1" lang="zh-CN" altLang="zh-CN" sz="9600">
              <a:ea typeface="华文新魏" pitchFamily="2" charset="-122"/>
            </a:endParaRPr>
          </a:p>
        </p:txBody>
      </p:sp>
      <p:sp>
        <p:nvSpPr>
          <p:cNvPr id="262147" name="Rectangle 2051"/>
          <p:cNvSpPr>
            <a:spLocks noGrp="1" noChangeArrowheads="1"/>
          </p:cNvSpPr>
          <p:nvPr>
            <p:ph type="ctrTitle"/>
          </p:nvPr>
        </p:nvSpPr>
        <p:spPr>
          <a:xfrm>
            <a:off x="76200" y="925513"/>
            <a:ext cx="8991600" cy="609600"/>
          </a:xfrm>
          <a:noFill/>
        </p:spPr>
        <p:txBody>
          <a:bodyPr/>
          <a:lstStyle/>
          <a:p>
            <a:r>
              <a:rPr lang="zh-CN" altLang="en-US" sz="4000" b="1" dirty="0">
                <a:solidFill>
                  <a:srgbClr val="FF0000"/>
                </a:solidFill>
                <a:ea typeface="华文新魏" pitchFamily="2" charset="-122"/>
              </a:rPr>
              <a:t>自动控制原理</a:t>
            </a:r>
          </a:p>
        </p:txBody>
      </p:sp>
      <p:sp>
        <p:nvSpPr>
          <p:cNvPr id="262149" name="Rectangle 2053"/>
          <p:cNvSpPr>
            <a:spLocks noChangeArrowheads="1"/>
          </p:cNvSpPr>
          <p:nvPr/>
        </p:nvSpPr>
        <p:spPr bwMode="auto">
          <a:xfrm>
            <a:off x="914400" y="2057400"/>
            <a:ext cx="7696200" cy="416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t">
              <a:lnSpc>
                <a:spcPct val="100000"/>
              </a:lnSpc>
              <a:spcBef>
                <a:spcPct val="0"/>
              </a:spcBef>
            </a:pPr>
            <a:r>
              <a:rPr kumimoji="1" lang="zh-CN" altLang="en-US" sz="3200" dirty="0">
                <a:solidFill>
                  <a:srgbClr val="00FFFF"/>
                </a:solidFill>
                <a:ea typeface="隶书" pitchFamily="49" charset="-122"/>
              </a:rPr>
              <a:t>（第 </a:t>
            </a:r>
            <a:r>
              <a:rPr kumimoji="1" lang="en-US" altLang="zh-CN" sz="3200" dirty="0">
                <a:solidFill>
                  <a:srgbClr val="00FFFF"/>
                </a:solidFill>
                <a:ea typeface="隶书" pitchFamily="49" charset="-122"/>
              </a:rPr>
              <a:t>1 </a:t>
            </a:r>
            <a:r>
              <a:rPr kumimoji="1" lang="zh-CN" altLang="en-US" sz="3200" dirty="0">
                <a:solidFill>
                  <a:srgbClr val="00FFFF"/>
                </a:solidFill>
                <a:ea typeface="隶书" pitchFamily="49" charset="-122"/>
              </a:rPr>
              <a:t>讲）</a:t>
            </a:r>
          </a:p>
          <a:p>
            <a:pPr algn="ctr" fontAlgn="t">
              <a:lnSpc>
                <a:spcPct val="100000"/>
              </a:lnSpc>
              <a:spcBef>
                <a:spcPct val="0"/>
              </a:spcBef>
            </a:pPr>
            <a:endParaRPr kumimoji="1" lang="zh-CN" altLang="en-US" sz="1400" dirty="0">
              <a:solidFill>
                <a:srgbClr val="00FFFF"/>
              </a:solidFill>
              <a:ea typeface="隶书" pitchFamily="49" charset="-122"/>
            </a:endParaRPr>
          </a:p>
          <a:p>
            <a:pPr fontAlgn="t">
              <a:lnSpc>
                <a:spcPct val="120000"/>
              </a:lnSpc>
              <a:spcBef>
                <a:spcPct val="0"/>
              </a:spcBef>
            </a:pPr>
            <a:r>
              <a:rPr kumimoji="1" lang="zh-CN" altLang="en-US" sz="3600" dirty="0">
                <a:solidFill>
                  <a:srgbClr val="FF0000"/>
                </a:solidFill>
                <a:ea typeface="黑体" pitchFamily="2" charset="-122"/>
              </a:rPr>
              <a:t>第一章  自动控制的一般概念</a:t>
            </a:r>
            <a:r>
              <a:rPr kumimoji="1" lang="zh-CN" altLang="en-US" sz="3600" dirty="0">
                <a:solidFill>
                  <a:srgbClr val="FF0000"/>
                </a:solidFill>
                <a:ea typeface="隶书" pitchFamily="49" charset="-122"/>
              </a:rPr>
              <a:t> </a:t>
            </a:r>
          </a:p>
          <a:p>
            <a:pPr fontAlgn="t">
              <a:lnSpc>
                <a:spcPct val="120000"/>
              </a:lnSpc>
              <a:spcBef>
                <a:spcPct val="0"/>
              </a:spcBef>
            </a:pPr>
            <a:endParaRPr lang="zh-CN" altLang="en-US" sz="800" dirty="0">
              <a:latin typeface="黑体" pitchFamily="2" charset="-122"/>
              <a:ea typeface="黑体" pitchFamily="2" charset="-122"/>
            </a:endParaRPr>
          </a:p>
          <a:p>
            <a:pPr fontAlgn="t">
              <a:lnSpc>
                <a:spcPct val="120000"/>
              </a:lnSpc>
              <a:spcBef>
                <a:spcPct val="0"/>
              </a:spcBef>
            </a:pPr>
            <a:r>
              <a:rPr lang="zh-CN" altLang="en-US" sz="2800" dirty="0">
                <a:latin typeface="黑体" pitchFamily="2" charset="-122"/>
                <a:ea typeface="黑体" pitchFamily="2" charset="-122"/>
              </a:rPr>
              <a:t>  </a:t>
            </a:r>
            <a:r>
              <a:rPr lang="en-US" altLang="zh-CN" sz="2800" dirty="0">
                <a:solidFill>
                  <a:schemeClr val="accent6"/>
                </a:solidFill>
                <a:latin typeface="黑体" pitchFamily="2" charset="-122"/>
                <a:ea typeface="黑体" pitchFamily="2" charset="-122"/>
              </a:rPr>
              <a:t>§1.1  </a:t>
            </a:r>
            <a:r>
              <a:rPr lang="zh-CN" altLang="en-US" sz="2800" dirty="0">
                <a:solidFill>
                  <a:schemeClr val="accent6"/>
                </a:solidFill>
                <a:latin typeface="黑体" pitchFamily="2" charset="-122"/>
                <a:ea typeface="黑体" pitchFamily="2" charset="-122"/>
              </a:rPr>
              <a:t>引言 </a:t>
            </a:r>
          </a:p>
          <a:p>
            <a:pPr fontAlgn="t">
              <a:lnSpc>
                <a:spcPct val="120000"/>
              </a:lnSpc>
              <a:spcBef>
                <a:spcPct val="0"/>
              </a:spcBef>
            </a:pPr>
            <a:r>
              <a:rPr lang="zh-CN" altLang="en-US" sz="2800" dirty="0">
                <a:solidFill>
                  <a:schemeClr val="accent6"/>
                </a:solidFill>
                <a:latin typeface="黑体" pitchFamily="2" charset="-122"/>
                <a:ea typeface="黑体" pitchFamily="2" charset="-122"/>
              </a:rPr>
              <a:t>  </a:t>
            </a:r>
            <a:r>
              <a:rPr lang="en-US" altLang="zh-CN" sz="2800" dirty="0">
                <a:solidFill>
                  <a:schemeClr val="accent6"/>
                </a:solidFill>
                <a:latin typeface="黑体" pitchFamily="2" charset="-122"/>
                <a:ea typeface="黑体" pitchFamily="2" charset="-122"/>
              </a:rPr>
              <a:t>§1.2  </a:t>
            </a:r>
            <a:r>
              <a:rPr lang="zh-CN" altLang="en-US" sz="2800" dirty="0">
                <a:solidFill>
                  <a:schemeClr val="accent6"/>
                </a:solidFill>
                <a:latin typeface="黑体" pitchFamily="2" charset="-122"/>
                <a:ea typeface="黑体" pitchFamily="2" charset="-122"/>
              </a:rPr>
              <a:t>自动控制理论发展概述 </a:t>
            </a:r>
          </a:p>
          <a:p>
            <a:pPr fontAlgn="t">
              <a:lnSpc>
                <a:spcPct val="120000"/>
              </a:lnSpc>
              <a:spcBef>
                <a:spcPct val="0"/>
              </a:spcBef>
            </a:pPr>
            <a:r>
              <a:rPr lang="zh-CN" altLang="en-US" sz="2800" dirty="0">
                <a:solidFill>
                  <a:schemeClr val="accent6"/>
                </a:solidFill>
                <a:latin typeface="黑体" pitchFamily="2" charset="-122"/>
                <a:ea typeface="黑体" pitchFamily="2" charset="-122"/>
              </a:rPr>
              <a:t>  </a:t>
            </a:r>
            <a:r>
              <a:rPr lang="en-US" altLang="zh-CN" sz="2800" dirty="0">
                <a:solidFill>
                  <a:schemeClr val="accent6"/>
                </a:solidFill>
                <a:latin typeface="黑体" pitchFamily="2" charset="-122"/>
                <a:ea typeface="黑体" pitchFamily="2" charset="-122"/>
              </a:rPr>
              <a:t>§1.3  </a:t>
            </a:r>
            <a:r>
              <a:rPr lang="zh-CN" altLang="en-US" sz="2800" dirty="0">
                <a:solidFill>
                  <a:schemeClr val="accent6"/>
                </a:solidFill>
                <a:latin typeface="黑体" pitchFamily="2" charset="-122"/>
                <a:ea typeface="黑体" pitchFamily="2" charset="-122"/>
              </a:rPr>
              <a:t>自动控制和自动控制系统的基本概念 </a:t>
            </a:r>
          </a:p>
          <a:p>
            <a:pPr fontAlgn="t">
              <a:lnSpc>
                <a:spcPct val="120000"/>
              </a:lnSpc>
              <a:spcBef>
                <a:spcPct val="0"/>
              </a:spcBef>
            </a:pPr>
            <a:r>
              <a:rPr lang="zh-CN" altLang="en-US" sz="2800" dirty="0">
                <a:solidFill>
                  <a:schemeClr val="accent6"/>
                </a:solidFill>
                <a:latin typeface="黑体" pitchFamily="2" charset="-122"/>
                <a:ea typeface="黑体" pitchFamily="2" charset="-122"/>
              </a:rPr>
              <a:t>  </a:t>
            </a:r>
            <a:r>
              <a:rPr lang="en-US" altLang="zh-CN" sz="2800" dirty="0">
                <a:solidFill>
                  <a:schemeClr val="accent6"/>
                </a:solidFill>
                <a:latin typeface="黑体" pitchFamily="2" charset="-122"/>
                <a:ea typeface="黑体" pitchFamily="2" charset="-122"/>
              </a:rPr>
              <a:t>§1.4  </a:t>
            </a:r>
            <a:r>
              <a:rPr lang="zh-CN" altLang="en-US" sz="2800" dirty="0">
                <a:solidFill>
                  <a:schemeClr val="accent6"/>
                </a:solidFill>
                <a:latin typeface="黑体" pitchFamily="2" charset="-122"/>
                <a:ea typeface="黑体" pitchFamily="2" charset="-122"/>
              </a:rPr>
              <a:t>自动控制系统的基本组成 </a:t>
            </a:r>
          </a:p>
          <a:p>
            <a:pPr fontAlgn="t">
              <a:lnSpc>
                <a:spcPct val="120000"/>
              </a:lnSpc>
              <a:spcBef>
                <a:spcPct val="0"/>
              </a:spcBef>
            </a:pPr>
            <a:r>
              <a:rPr lang="zh-CN" altLang="en-US" sz="2800" dirty="0">
                <a:solidFill>
                  <a:schemeClr val="accent6"/>
                </a:solidFill>
                <a:latin typeface="黑体" pitchFamily="2" charset="-122"/>
                <a:ea typeface="黑体" pitchFamily="2" charset="-122"/>
              </a:rPr>
              <a:t>  </a:t>
            </a:r>
            <a:r>
              <a:rPr lang="en-US" altLang="zh-CN" sz="2800" dirty="0">
                <a:solidFill>
                  <a:schemeClr val="accent6"/>
                </a:solidFill>
                <a:latin typeface="黑体" pitchFamily="2" charset="-122"/>
                <a:ea typeface="黑体" pitchFamily="2" charset="-122"/>
              </a:rPr>
              <a:t>§1.5  </a:t>
            </a:r>
            <a:r>
              <a:rPr lang="zh-CN" altLang="en-US" sz="2800" dirty="0">
                <a:solidFill>
                  <a:schemeClr val="accent6"/>
                </a:solidFill>
                <a:latin typeface="黑体" pitchFamily="2" charset="-122"/>
                <a:ea typeface="黑体" pitchFamily="2" charset="-122"/>
              </a:rPr>
              <a:t>控制系统示例 </a:t>
            </a:r>
          </a:p>
        </p:txBody>
      </p:sp>
    </p:spTree>
    <p:extLst>
      <p:ext uri="{BB962C8B-B14F-4D97-AF65-F5344CB8AC3E}">
        <p14:creationId xmlns:p14="http://schemas.microsoft.com/office/powerpoint/2010/main" val="23696746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Rot="1" noChangeArrowheads="1"/>
          </p:cNvSpPr>
          <p:nvPr>
            <p:ph type="title"/>
          </p:nvPr>
        </p:nvSpPr>
        <p:spPr/>
        <p:txBody>
          <a:bodyPr/>
          <a:lstStyle/>
          <a:p>
            <a:pPr algn="ctr" eaLnBrk="1" hangingPunct="1"/>
            <a:r>
              <a:rPr lang="zh-CN" altLang="en-US" dirty="0" smtClean="0">
                <a:solidFill>
                  <a:srgbClr val="000000"/>
                </a:solidFill>
                <a:latin typeface="隶书" pitchFamily="49" charset="-122"/>
                <a:ea typeface="隶书" pitchFamily="49" charset="-122"/>
              </a:rPr>
              <a:t>简介</a:t>
            </a:r>
          </a:p>
        </p:txBody>
      </p:sp>
      <p:sp>
        <p:nvSpPr>
          <p:cNvPr id="5123" name="Rectangle 3"/>
          <p:cNvSpPr>
            <a:spLocks noGrp="1" noRot="1" noChangeArrowheads="1"/>
          </p:cNvSpPr>
          <p:nvPr>
            <p:ph type="body" idx="1"/>
          </p:nvPr>
        </p:nvSpPr>
        <p:spPr>
          <a:xfrm>
            <a:off x="2456" y="2060848"/>
            <a:ext cx="8964613" cy="5334000"/>
          </a:xfrm>
        </p:spPr>
        <p:txBody>
          <a:bodyPr/>
          <a:lstStyle/>
          <a:p>
            <a:pPr algn="ctr" eaLnBrk="1" hangingPunct="1">
              <a:lnSpc>
                <a:spcPct val="150000"/>
              </a:lnSpc>
            </a:pPr>
            <a:r>
              <a:rPr lang="zh-CN" altLang="en-US" dirty="0" smtClean="0">
                <a:solidFill>
                  <a:srgbClr val="000000"/>
                </a:solidFill>
                <a:latin typeface="隶书" pitchFamily="49" charset="-122"/>
                <a:ea typeface="隶书" pitchFamily="49" charset="-122"/>
              </a:rPr>
              <a:t>贾秋玲</a:t>
            </a:r>
          </a:p>
          <a:p>
            <a:pPr algn="ctr" eaLnBrk="1" hangingPunct="1">
              <a:lnSpc>
                <a:spcPct val="150000"/>
              </a:lnSpc>
            </a:pPr>
            <a:r>
              <a:rPr lang="zh-CN" altLang="en-US" dirty="0" smtClean="0">
                <a:solidFill>
                  <a:srgbClr val="000000"/>
                </a:solidFill>
                <a:latin typeface="隶书" pitchFamily="49" charset="-122"/>
                <a:ea typeface="隶书" pitchFamily="49" charset="-122"/>
              </a:rPr>
              <a:t>自动化学院楼</a:t>
            </a:r>
            <a:r>
              <a:rPr lang="en-US" altLang="zh-CN" dirty="0" smtClean="0">
                <a:solidFill>
                  <a:srgbClr val="000000"/>
                </a:solidFill>
                <a:latin typeface="隶书" pitchFamily="49" charset="-122"/>
                <a:ea typeface="隶书" pitchFamily="49" charset="-122"/>
              </a:rPr>
              <a:t>2</a:t>
            </a:r>
            <a:r>
              <a:rPr lang="zh-CN" altLang="en-US" dirty="0" smtClean="0">
                <a:solidFill>
                  <a:srgbClr val="000000"/>
                </a:solidFill>
                <a:latin typeface="隶书" pitchFamily="49" charset="-122"/>
                <a:ea typeface="隶书" pitchFamily="49" charset="-122"/>
              </a:rPr>
              <a:t>层</a:t>
            </a:r>
            <a:r>
              <a:rPr lang="en-US" altLang="zh-CN" dirty="0" smtClean="0">
                <a:solidFill>
                  <a:srgbClr val="000000"/>
                </a:solidFill>
                <a:latin typeface="隶书" pitchFamily="49" charset="-122"/>
                <a:ea typeface="隶书" pitchFamily="49" charset="-122"/>
              </a:rPr>
              <a:t>235</a:t>
            </a:r>
            <a:r>
              <a:rPr lang="zh-CN" altLang="en-US" dirty="0" smtClean="0">
                <a:solidFill>
                  <a:srgbClr val="000000"/>
                </a:solidFill>
                <a:latin typeface="隶书" pitchFamily="49" charset="-122"/>
                <a:ea typeface="隶书" pitchFamily="49" charset="-122"/>
              </a:rPr>
              <a:t>房间</a:t>
            </a:r>
          </a:p>
          <a:p>
            <a:pPr algn="ctr" eaLnBrk="1" hangingPunct="1">
              <a:lnSpc>
                <a:spcPct val="150000"/>
              </a:lnSpc>
            </a:pPr>
            <a:r>
              <a:rPr lang="zh-CN" altLang="en-US" dirty="0" smtClean="0">
                <a:solidFill>
                  <a:srgbClr val="000000"/>
                </a:solidFill>
                <a:latin typeface="隶书" pitchFamily="49" charset="-122"/>
                <a:ea typeface="隶书" pitchFamily="49" charset="-122"/>
              </a:rPr>
              <a:t>电话：</a:t>
            </a:r>
            <a:r>
              <a:rPr lang="en-US" altLang="zh-CN" sz="3200" dirty="0" smtClean="0">
                <a:solidFill>
                  <a:srgbClr val="000000"/>
                </a:solidFill>
                <a:latin typeface="隶书" pitchFamily="49" charset="-122"/>
                <a:ea typeface="隶书" pitchFamily="49" charset="-122"/>
              </a:rPr>
              <a:t>13891433881</a:t>
            </a:r>
          </a:p>
          <a:p>
            <a:pPr lvl="3" algn="ctr" eaLnBrk="1" hangingPunct="1">
              <a:lnSpc>
                <a:spcPct val="150000"/>
              </a:lnSpc>
              <a:buFont typeface="Wingdings" pitchFamily="2" charset="2"/>
              <a:buNone/>
            </a:pPr>
            <a:r>
              <a:rPr lang="en-US" altLang="zh-CN" sz="3200" dirty="0" smtClean="0">
                <a:solidFill>
                  <a:srgbClr val="000000"/>
                </a:solidFill>
                <a:latin typeface="隶书" pitchFamily="49" charset="-122"/>
                <a:ea typeface="隶书" pitchFamily="49" charset="-122"/>
              </a:rPr>
              <a:t>QQ</a:t>
            </a:r>
            <a:r>
              <a:rPr lang="zh-CN" altLang="en-US" sz="3200" dirty="0" smtClean="0">
                <a:solidFill>
                  <a:srgbClr val="000000"/>
                </a:solidFill>
                <a:latin typeface="隶书" pitchFamily="49" charset="-122"/>
                <a:ea typeface="隶书" pitchFamily="49" charset="-122"/>
              </a:rPr>
              <a:t>：</a:t>
            </a:r>
            <a:r>
              <a:rPr lang="en-US" altLang="zh-CN" sz="3200" dirty="0" smtClean="0">
                <a:solidFill>
                  <a:srgbClr val="000000"/>
                </a:solidFill>
                <a:latin typeface="隶书" pitchFamily="49" charset="-122"/>
                <a:ea typeface="隶书" pitchFamily="49" charset="-122"/>
              </a:rPr>
              <a:t>7222606</a:t>
            </a:r>
          </a:p>
        </p:txBody>
      </p:sp>
    </p:spTree>
    <p:extLst>
      <p:ext uri="{BB962C8B-B14F-4D97-AF65-F5344CB8AC3E}">
        <p14:creationId xmlns:p14="http://schemas.microsoft.com/office/powerpoint/2010/main" val="15763042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Rot="1" noChangeArrowheads="1"/>
          </p:cNvSpPr>
          <p:nvPr>
            <p:ph type="title"/>
          </p:nvPr>
        </p:nvSpPr>
        <p:spPr/>
        <p:txBody>
          <a:bodyPr/>
          <a:lstStyle/>
          <a:p>
            <a:pPr eaLnBrk="1" hangingPunct="1"/>
            <a:r>
              <a:rPr lang="zh-CN" altLang="en-US" smtClean="0">
                <a:solidFill>
                  <a:srgbClr val="000000"/>
                </a:solidFill>
                <a:latin typeface="隶书" pitchFamily="49" charset="-122"/>
                <a:ea typeface="隶书" pitchFamily="49" charset="-122"/>
              </a:rPr>
              <a:t>使用教材</a:t>
            </a:r>
          </a:p>
        </p:txBody>
      </p:sp>
      <p:sp>
        <p:nvSpPr>
          <p:cNvPr id="44035" name="Rectangle 3"/>
          <p:cNvSpPr>
            <a:spLocks noGrp="1" noRot="1" noChangeArrowheads="1"/>
          </p:cNvSpPr>
          <p:nvPr>
            <p:ph type="body" idx="1"/>
          </p:nvPr>
        </p:nvSpPr>
        <p:spPr>
          <a:xfrm>
            <a:off x="301625" y="1557338"/>
            <a:ext cx="8540750" cy="4392612"/>
          </a:xfrm>
        </p:spPr>
        <p:txBody>
          <a:bodyPr/>
          <a:lstStyle/>
          <a:p>
            <a:pPr eaLnBrk="1" hangingPunct="1">
              <a:lnSpc>
                <a:spcPct val="90000"/>
              </a:lnSpc>
              <a:defRPr/>
            </a:pPr>
            <a:r>
              <a:rPr lang="zh-CN" altLang="en-US" sz="2800" dirty="0" smtClean="0">
                <a:solidFill>
                  <a:srgbClr val="000000"/>
                </a:solidFill>
                <a:latin typeface="隶书" pitchFamily="49" charset="-122"/>
                <a:ea typeface="隶书" pitchFamily="49" charset="-122"/>
              </a:rPr>
              <a:t>卢京潮，</a:t>
            </a:r>
            <a:r>
              <a:rPr lang="en-US" altLang="zh-CN" sz="2800" dirty="0" smtClean="0">
                <a:solidFill>
                  <a:srgbClr val="000000"/>
                </a:solidFill>
                <a:latin typeface="隶书" pitchFamily="49" charset="-122"/>
                <a:ea typeface="隶书" pitchFamily="49" charset="-122"/>
              </a:rPr>
              <a:t>《</a:t>
            </a:r>
            <a:r>
              <a:rPr lang="zh-CN" altLang="en-US" sz="2800" b="1" dirty="0" smtClean="0">
                <a:solidFill>
                  <a:srgbClr val="000000"/>
                </a:solidFill>
                <a:latin typeface="隶书" pitchFamily="49" charset="-122"/>
                <a:ea typeface="隶书" pitchFamily="49" charset="-122"/>
              </a:rPr>
              <a:t>自动控制原理</a:t>
            </a:r>
            <a:r>
              <a:rPr lang="zh-CN" altLang="en-US" sz="2800" dirty="0" smtClean="0">
                <a:solidFill>
                  <a:srgbClr val="000000"/>
                </a:solidFill>
                <a:latin typeface="隶书" pitchFamily="49" charset="-122"/>
                <a:ea typeface="隶书" pitchFamily="49" charset="-122"/>
              </a:rPr>
              <a:t> </a:t>
            </a:r>
            <a:r>
              <a:rPr lang="en-US" altLang="zh-CN" sz="2800" dirty="0" smtClean="0">
                <a:solidFill>
                  <a:srgbClr val="000000"/>
                </a:solidFill>
                <a:latin typeface="隶书" pitchFamily="49" charset="-122"/>
                <a:ea typeface="隶书" pitchFamily="49" charset="-122"/>
              </a:rPr>
              <a:t>》</a:t>
            </a:r>
            <a:r>
              <a:rPr lang="zh-CN" altLang="en-US" sz="2800" dirty="0" smtClean="0">
                <a:solidFill>
                  <a:srgbClr val="000000"/>
                </a:solidFill>
                <a:latin typeface="隶书" pitchFamily="49" charset="-122"/>
                <a:ea typeface="隶书" pitchFamily="49" charset="-122"/>
              </a:rPr>
              <a:t>，</a:t>
            </a:r>
          </a:p>
          <a:p>
            <a:pPr eaLnBrk="1" hangingPunct="1">
              <a:lnSpc>
                <a:spcPct val="90000"/>
              </a:lnSpc>
              <a:defRPr/>
            </a:pPr>
            <a:r>
              <a:rPr lang="zh-CN" altLang="en-US" sz="2800" dirty="0" smtClean="0">
                <a:solidFill>
                  <a:srgbClr val="000000"/>
                </a:solidFill>
                <a:latin typeface="隶书" pitchFamily="49" charset="-122"/>
                <a:ea typeface="隶书" pitchFamily="49" charset="-122"/>
              </a:rPr>
              <a:t>清华大学出版社</a:t>
            </a:r>
          </a:p>
          <a:p>
            <a:pPr algn="ctr" eaLnBrk="1" hangingPunct="1">
              <a:lnSpc>
                <a:spcPct val="90000"/>
              </a:lnSpc>
              <a:defRPr/>
            </a:pPr>
            <a:r>
              <a:rPr lang="zh-CN" altLang="en-US" sz="3600" dirty="0" smtClean="0">
                <a:solidFill>
                  <a:srgbClr val="000000"/>
                </a:solidFill>
                <a:latin typeface="隶书" pitchFamily="49" charset="-122"/>
                <a:ea typeface="隶书" pitchFamily="49" charset="-122"/>
              </a:rPr>
              <a:t>参考书籍</a:t>
            </a:r>
          </a:p>
          <a:p>
            <a:pPr eaLnBrk="1" hangingPunct="1">
              <a:lnSpc>
                <a:spcPct val="90000"/>
              </a:lnSpc>
              <a:defRPr/>
            </a:pPr>
            <a:r>
              <a:rPr lang="en-US" altLang="zh-CN" sz="2800" dirty="0" smtClean="0">
                <a:solidFill>
                  <a:srgbClr val="000000"/>
                </a:solidFill>
                <a:latin typeface="隶书" pitchFamily="49" charset="-122"/>
                <a:ea typeface="隶书" pitchFamily="49" charset="-122"/>
              </a:rPr>
              <a:t>1</a:t>
            </a:r>
            <a:r>
              <a:rPr lang="zh-CN" altLang="en-US" sz="2800" dirty="0" smtClean="0">
                <a:solidFill>
                  <a:srgbClr val="000000"/>
                </a:solidFill>
                <a:latin typeface="隶书" pitchFamily="49" charset="-122"/>
                <a:ea typeface="隶书" pitchFamily="49" charset="-122"/>
              </a:rPr>
              <a:t>、刘慧英等，自动控制原理导教、导学、导考</a:t>
            </a:r>
          </a:p>
          <a:p>
            <a:pPr eaLnBrk="1" hangingPunct="1">
              <a:lnSpc>
                <a:spcPct val="90000"/>
              </a:lnSpc>
              <a:defRPr/>
            </a:pPr>
            <a:r>
              <a:rPr lang="en-US" altLang="zh-CN" sz="2800" dirty="0" smtClean="0">
                <a:solidFill>
                  <a:srgbClr val="000000"/>
                </a:solidFill>
                <a:latin typeface="隶书" pitchFamily="49" charset="-122"/>
                <a:ea typeface="隶书" pitchFamily="49" charset="-122"/>
              </a:rPr>
              <a:t>-</a:t>
            </a:r>
            <a:r>
              <a:rPr lang="zh-CN" altLang="en-US" sz="2800" dirty="0" smtClean="0">
                <a:solidFill>
                  <a:srgbClr val="000000"/>
                </a:solidFill>
                <a:latin typeface="隶书" pitchFamily="49" charset="-122"/>
                <a:ea typeface="隶书" pitchFamily="49" charset="-122"/>
              </a:rPr>
              <a:t>西北工业大学出版社，</a:t>
            </a:r>
            <a:r>
              <a:rPr lang="en-US" altLang="zh-CN" sz="2800" dirty="0" smtClean="0">
                <a:solidFill>
                  <a:srgbClr val="000000"/>
                </a:solidFill>
                <a:latin typeface="隶书" pitchFamily="49" charset="-122"/>
                <a:ea typeface="隶书" pitchFamily="49" charset="-122"/>
              </a:rPr>
              <a:t>2016.10</a:t>
            </a:r>
            <a:endParaRPr lang="zh-CN" altLang="en-US" sz="2800" dirty="0" smtClean="0">
              <a:solidFill>
                <a:srgbClr val="000000"/>
              </a:solidFill>
              <a:latin typeface="隶书" pitchFamily="49" charset="-122"/>
              <a:ea typeface="隶书" pitchFamily="49" charset="-122"/>
            </a:endParaRPr>
          </a:p>
          <a:p>
            <a:pPr eaLnBrk="1" hangingPunct="1">
              <a:lnSpc>
                <a:spcPct val="90000"/>
              </a:lnSpc>
              <a:defRPr/>
            </a:pPr>
            <a:r>
              <a:rPr lang="en-US" altLang="zh-CN" sz="2800" dirty="0" smtClean="0">
                <a:solidFill>
                  <a:srgbClr val="000000"/>
                </a:solidFill>
                <a:latin typeface="隶书" pitchFamily="49" charset="-122"/>
                <a:ea typeface="隶书" pitchFamily="49" charset="-122"/>
              </a:rPr>
              <a:t>2</a:t>
            </a:r>
            <a:r>
              <a:rPr lang="zh-CN" altLang="en-US" sz="2800" dirty="0" smtClean="0">
                <a:solidFill>
                  <a:srgbClr val="000000"/>
                </a:solidFill>
                <a:latin typeface="隶书" pitchFamily="49" charset="-122"/>
                <a:ea typeface="隶书" pitchFamily="49" charset="-122"/>
              </a:rPr>
              <a:t>、卢京潮 刘慧英，自动控制原理典型题解析及自测试题</a:t>
            </a:r>
            <a:r>
              <a:rPr lang="en-US" altLang="zh-CN" sz="2800" dirty="0" smtClean="0">
                <a:solidFill>
                  <a:srgbClr val="000000"/>
                </a:solidFill>
                <a:latin typeface="隶书" pitchFamily="49" charset="-122"/>
                <a:ea typeface="隶书" pitchFamily="49" charset="-122"/>
              </a:rPr>
              <a:t>-</a:t>
            </a:r>
            <a:r>
              <a:rPr lang="zh-CN" altLang="en-US" sz="2800" dirty="0" smtClean="0">
                <a:solidFill>
                  <a:srgbClr val="000000"/>
                </a:solidFill>
                <a:latin typeface="隶书" pitchFamily="49" charset="-122"/>
                <a:ea typeface="隶书" pitchFamily="49" charset="-122"/>
              </a:rPr>
              <a:t>西北工业大学出版社 </a:t>
            </a:r>
          </a:p>
          <a:p>
            <a:pPr eaLnBrk="1" hangingPunct="1">
              <a:lnSpc>
                <a:spcPct val="90000"/>
              </a:lnSpc>
              <a:defRPr/>
            </a:pPr>
            <a:r>
              <a:rPr lang="en-US" altLang="zh-CN" sz="2800" dirty="0" smtClean="0">
                <a:solidFill>
                  <a:srgbClr val="000000"/>
                </a:solidFill>
                <a:latin typeface="隶书" pitchFamily="49" charset="-122"/>
                <a:ea typeface="隶书" pitchFamily="49" charset="-122"/>
              </a:rPr>
              <a:t>3</a:t>
            </a:r>
            <a:r>
              <a:rPr lang="zh-CN" altLang="en-US" sz="2800" dirty="0" smtClean="0">
                <a:solidFill>
                  <a:srgbClr val="000000"/>
                </a:solidFill>
                <a:latin typeface="隶书" pitchFamily="49" charset="-122"/>
                <a:ea typeface="隶书" pitchFamily="49" charset="-122"/>
              </a:rPr>
              <a:t>、刘慧英等，自动控制原理考研教案 第四版</a:t>
            </a:r>
          </a:p>
          <a:p>
            <a:pPr eaLnBrk="1" hangingPunct="1">
              <a:lnSpc>
                <a:spcPct val="90000"/>
              </a:lnSpc>
              <a:defRPr/>
            </a:pPr>
            <a:r>
              <a:rPr lang="en-US" altLang="zh-CN" sz="2800" dirty="0" smtClean="0">
                <a:solidFill>
                  <a:srgbClr val="000000"/>
                </a:solidFill>
                <a:latin typeface="隶书" pitchFamily="49" charset="-122"/>
                <a:ea typeface="隶书" pitchFamily="49" charset="-122"/>
              </a:rPr>
              <a:t>-</a:t>
            </a:r>
            <a:r>
              <a:rPr lang="zh-CN" altLang="en-US" sz="2800" dirty="0" smtClean="0">
                <a:solidFill>
                  <a:srgbClr val="000000"/>
                </a:solidFill>
                <a:latin typeface="隶书" pitchFamily="49" charset="-122"/>
                <a:ea typeface="隶书" pitchFamily="49" charset="-122"/>
              </a:rPr>
              <a:t>西北工业大学出版社 </a:t>
            </a:r>
          </a:p>
          <a:p>
            <a:pPr eaLnBrk="1" hangingPunct="1">
              <a:lnSpc>
                <a:spcPct val="90000"/>
              </a:lnSpc>
              <a:defRPr/>
            </a:pPr>
            <a:r>
              <a:rPr lang="en-US" altLang="zh-CN" sz="2800" dirty="0" smtClean="0">
                <a:solidFill>
                  <a:srgbClr val="000000"/>
                </a:solidFill>
                <a:latin typeface="隶书" pitchFamily="49" charset="-122"/>
                <a:ea typeface="隶书" pitchFamily="49" charset="-122"/>
              </a:rPr>
              <a:t>4</a:t>
            </a:r>
            <a:r>
              <a:rPr lang="zh-CN" altLang="en-US" sz="2800" dirty="0" smtClean="0">
                <a:solidFill>
                  <a:srgbClr val="000000"/>
                </a:solidFill>
                <a:latin typeface="隶书" pitchFamily="49" charset="-122"/>
                <a:ea typeface="隶书" pitchFamily="49" charset="-122"/>
              </a:rPr>
              <a:t>、袁冬莉</a:t>
            </a:r>
            <a:r>
              <a:rPr lang="en-US" altLang="zh-CN" sz="2800" dirty="0" smtClean="0">
                <a:solidFill>
                  <a:srgbClr val="000000"/>
                </a:solidFill>
                <a:latin typeface="隶书" pitchFamily="49" charset="-122"/>
                <a:ea typeface="隶书" pitchFamily="49" charset="-122"/>
              </a:rPr>
              <a:t>, </a:t>
            </a:r>
            <a:r>
              <a:rPr lang="zh-CN" altLang="en-US" sz="2800" dirty="0" smtClean="0">
                <a:solidFill>
                  <a:srgbClr val="000000"/>
                </a:solidFill>
                <a:latin typeface="隶书" pitchFamily="49" charset="-122"/>
                <a:ea typeface="隶书" pitchFamily="49" charset="-122"/>
              </a:rPr>
              <a:t>贾秋玲 ，自动控制原理解题题典 </a:t>
            </a:r>
            <a:r>
              <a:rPr lang="en-US" altLang="zh-CN" sz="2800" dirty="0" smtClean="0">
                <a:solidFill>
                  <a:srgbClr val="000000"/>
                </a:solidFill>
                <a:latin typeface="隶书" pitchFamily="49" charset="-122"/>
                <a:ea typeface="隶书" pitchFamily="49" charset="-122"/>
              </a:rPr>
              <a:t>-</a:t>
            </a:r>
            <a:r>
              <a:rPr lang="zh-CN" altLang="en-US" sz="2800" dirty="0" smtClean="0">
                <a:solidFill>
                  <a:srgbClr val="000000"/>
                </a:solidFill>
                <a:latin typeface="隶书" pitchFamily="49" charset="-122"/>
                <a:ea typeface="隶书" pitchFamily="49" charset="-122"/>
              </a:rPr>
              <a:t>西北工业大学出版社 </a:t>
            </a:r>
            <a:endParaRPr lang="en-US" altLang="zh-CN" sz="2800" dirty="0" smtClean="0">
              <a:solidFill>
                <a:srgbClr val="000000"/>
              </a:solidFill>
              <a:latin typeface="隶书" pitchFamily="49" charset="-122"/>
              <a:ea typeface="隶书" pitchFamily="49" charset="-122"/>
            </a:endParaRPr>
          </a:p>
          <a:p>
            <a:pPr marL="0" indent="0" eaLnBrk="1" hangingPunct="1">
              <a:lnSpc>
                <a:spcPct val="90000"/>
              </a:lnSpc>
              <a:buFont typeface="Wingdings" pitchFamily="2" charset="2"/>
              <a:buNone/>
              <a:defRPr/>
            </a:pPr>
            <a:endParaRPr lang="zh-CN" altLang="en-US" sz="2800" dirty="0" smtClean="0">
              <a:solidFill>
                <a:srgbClr val="000000"/>
              </a:solidFill>
              <a:latin typeface="隶书" pitchFamily="49" charset="-122"/>
              <a:ea typeface="隶书" pitchFamily="49" charset="-122"/>
            </a:endParaRPr>
          </a:p>
        </p:txBody>
      </p:sp>
      <p:pic>
        <p:nvPicPr>
          <p:cNvPr id="6148" name="Picture 7" descr="自动控制原理考研教案(第四版)">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5113" y="5084763"/>
            <a:ext cx="10287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73875" y="549275"/>
            <a:ext cx="1981200"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185664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p:txBody>
          <a:bodyPr/>
          <a:lstStyle/>
          <a:p>
            <a:pPr eaLnBrk="1" hangingPunct="1"/>
            <a:r>
              <a:rPr lang="zh-CN" altLang="en-US" smtClean="0"/>
              <a:t>先修课程</a:t>
            </a:r>
          </a:p>
        </p:txBody>
      </p:sp>
      <p:sp>
        <p:nvSpPr>
          <p:cNvPr id="8195" name="Rectangle 3"/>
          <p:cNvSpPr>
            <a:spLocks noGrp="1" noRot="1" noChangeArrowheads="1"/>
          </p:cNvSpPr>
          <p:nvPr>
            <p:ph type="body" idx="1"/>
          </p:nvPr>
        </p:nvSpPr>
        <p:spPr>
          <a:xfrm>
            <a:off x="1763713" y="1905000"/>
            <a:ext cx="7078662" cy="4194175"/>
          </a:xfrm>
        </p:spPr>
        <p:txBody>
          <a:bodyPr/>
          <a:lstStyle/>
          <a:p>
            <a:pPr eaLnBrk="1" hangingPunct="1"/>
            <a:r>
              <a:rPr lang="zh-CN" altLang="en-US" dirty="0" smtClean="0">
                <a:solidFill>
                  <a:schemeClr val="tx1"/>
                </a:solidFill>
                <a:ea typeface="隶书" pitchFamily="49" charset="-122"/>
              </a:rPr>
              <a:t>高等数学、</a:t>
            </a:r>
          </a:p>
          <a:p>
            <a:pPr eaLnBrk="1" hangingPunct="1"/>
            <a:r>
              <a:rPr lang="zh-CN" altLang="en-US" dirty="0" smtClean="0">
                <a:solidFill>
                  <a:schemeClr val="tx1"/>
                </a:solidFill>
                <a:ea typeface="隶书" pitchFamily="49" charset="-122"/>
              </a:rPr>
              <a:t>大学物理、</a:t>
            </a:r>
          </a:p>
          <a:p>
            <a:pPr eaLnBrk="1" hangingPunct="1"/>
            <a:r>
              <a:rPr lang="zh-CN" altLang="en-US" dirty="0" smtClean="0">
                <a:solidFill>
                  <a:schemeClr val="tx1"/>
                </a:solidFill>
                <a:ea typeface="隶书" pitchFamily="49" charset="-122"/>
              </a:rPr>
              <a:t>复变函数与积分变换、</a:t>
            </a:r>
          </a:p>
          <a:p>
            <a:pPr eaLnBrk="1" hangingPunct="1"/>
            <a:r>
              <a:rPr lang="zh-CN" altLang="en-US" dirty="0" smtClean="0">
                <a:solidFill>
                  <a:schemeClr val="tx1"/>
                </a:solidFill>
                <a:ea typeface="隶书" pitchFamily="49" charset="-122"/>
              </a:rPr>
              <a:t>电路分析基础、</a:t>
            </a:r>
          </a:p>
          <a:p>
            <a:pPr eaLnBrk="1" hangingPunct="1"/>
            <a:r>
              <a:rPr lang="zh-CN" altLang="en-US" dirty="0" smtClean="0">
                <a:solidFill>
                  <a:schemeClr val="tx1"/>
                </a:solidFill>
                <a:ea typeface="隶书" pitchFamily="49" charset="-122"/>
              </a:rPr>
              <a:t>电子技术基础（模拟）</a:t>
            </a:r>
          </a:p>
          <a:p>
            <a:pPr eaLnBrk="1" hangingPunct="1"/>
            <a:endParaRPr lang="en-US" altLang="zh-CN" dirty="0" smtClean="0">
              <a:ea typeface="隶书" pitchFamily="49" charset="-122"/>
            </a:endParaRPr>
          </a:p>
        </p:txBody>
      </p:sp>
    </p:spTree>
    <p:extLst>
      <p:ext uri="{BB962C8B-B14F-4D97-AF65-F5344CB8AC3E}">
        <p14:creationId xmlns:p14="http://schemas.microsoft.com/office/powerpoint/2010/main" val="42920273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Rot="1" noChangeArrowheads="1"/>
          </p:cNvSpPr>
          <p:nvPr>
            <p:ph type="title"/>
          </p:nvPr>
        </p:nvSpPr>
        <p:spPr/>
        <p:txBody>
          <a:bodyPr/>
          <a:lstStyle/>
          <a:p>
            <a:pPr eaLnBrk="1" hangingPunct="1"/>
            <a:r>
              <a:rPr lang="zh-CN" altLang="en-US" sz="4800" smtClean="0">
                <a:ea typeface="隶书" pitchFamily="49" charset="-122"/>
              </a:rPr>
              <a:t>课程要求</a:t>
            </a:r>
          </a:p>
        </p:txBody>
      </p:sp>
      <p:sp>
        <p:nvSpPr>
          <p:cNvPr id="9219" name="Rectangle 3"/>
          <p:cNvSpPr>
            <a:spLocks noGrp="1" noRot="1" noChangeArrowheads="1"/>
          </p:cNvSpPr>
          <p:nvPr>
            <p:ph type="body" idx="1"/>
          </p:nvPr>
        </p:nvSpPr>
        <p:spPr>
          <a:xfrm>
            <a:off x="1258888" y="1905000"/>
            <a:ext cx="7583487" cy="3829050"/>
          </a:xfrm>
        </p:spPr>
        <p:txBody>
          <a:bodyPr/>
          <a:lstStyle/>
          <a:p>
            <a:pPr eaLnBrk="1" hangingPunct="1"/>
            <a:r>
              <a:rPr lang="zh-CN" altLang="en-US" sz="4000" smtClean="0">
                <a:solidFill>
                  <a:srgbClr val="000000"/>
                </a:solidFill>
                <a:ea typeface="隶书" pitchFamily="49" charset="-122"/>
              </a:rPr>
              <a:t>按时上课，上课认真听讲</a:t>
            </a:r>
          </a:p>
          <a:p>
            <a:pPr eaLnBrk="1" hangingPunct="1"/>
            <a:endParaRPr lang="zh-CN" altLang="en-US" sz="4000" smtClean="0">
              <a:solidFill>
                <a:srgbClr val="000000"/>
              </a:solidFill>
              <a:ea typeface="隶书" pitchFamily="49" charset="-122"/>
            </a:endParaRPr>
          </a:p>
          <a:p>
            <a:pPr eaLnBrk="1" hangingPunct="1"/>
            <a:r>
              <a:rPr lang="zh-CN" altLang="en-US" sz="4000" smtClean="0">
                <a:solidFill>
                  <a:srgbClr val="000000"/>
                </a:solidFill>
                <a:ea typeface="隶书" pitchFamily="49" charset="-122"/>
              </a:rPr>
              <a:t>要灵活掌握概念并应用</a:t>
            </a:r>
          </a:p>
          <a:p>
            <a:pPr eaLnBrk="1" hangingPunct="1"/>
            <a:endParaRPr lang="zh-CN" altLang="en-US" sz="4000" smtClean="0">
              <a:solidFill>
                <a:srgbClr val="000000"/>
              </a:solidFill>
              <a:ea typeface="隶书" pitchFamily="49" charset="-122"/>
            </a:endParaRPr>
          </a:p>
          <a:p>
            <a:pPr eaLnBrk="1" hangingPunct="1"/>
            <a:r>
              <a:rPr lang="zh-CN" altLang="en-US" sz="4000" smtClean="0">
                <a:solidFill>
                  <a:srgbClr val="000000"/>
                </a:solidFill>
                <a:ea typeface="隶书" pitchFamily="49" charset="-122"/>
              </a:rPr>
              <a:t>下课独立完成作业</a:t>
            </a:r>
          </a:p>
          <a:p>
            <a:pPr eaLnBrk="1" hangingPunct="1"/>
            <a:endParaRPr lang="en-US" altLang="zh-CN" sz="4000" smtClean="0">
              <a:solidFill>
                <a:srgbClr val="000000"/>
              </a:solidFill>
              <a:ea typeface="隶书" pitchFamily="49" charset="-122"/>
            </a:endParaRPr>
          </a:p>
        </p:txBody>
      </p:sp>
    </p:spTree>
    <p:extLst>
      <p:ext uri="{BB962C8B-B14F-4D97-AF65-F5344CB8AC3E}">
        <p14:creationId xmlns:p14="http://schemas.microsoft.com/office/powerpoint/2010/main" val="33975587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0" y="1574800"/>
            <a:ext cx="9144000" cy="5270500"/>
          </a:xfrm>
          <a:prstGeom prst="rect">
            <a:avLst/>
          </a:prstGeom>
          <a:noFill/>
          <a:ln>
            <a:noFill/>
          </a:ln>
          <a:effectLst>
            <a:outerShdw dist="45791" dir="2021404" algn="ctr" rotWithShape="0">
              <a:schemeClr val="bg2">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kumimoji="1" lang="zh-CN" altLang="zh-CN" sz="9600" b="1">
              <a:solidFill>
                <a:srgbClr val="FFFF00"/>
              </a:solidFill>
              <a:latin typeface="Times New Roman" pitchFamily="18" charset="0"/>
              <a:ea typeface="华文新魏" pitchFamily="2" charset="-122"/>
            </a:endParaRPr>
          </a:p>
        </p:txBody>
      </p:sp>
      <p:sp>
        <p:nvSpPr>
          <p:cNvPr id="10243" name="Rectangle 3"/>
          <p:cNvSpPr>
            <a:spLocks noGrp="1" noRot="1" noChangeArrowheads="1"/>
          </p:cNvSpPr>
          <p:nvPr>
            <p:ph type="title"/>
          </p:nvPr>
        </p:nvSpPr>
        <p:spPr>
          <a:xfrm>
            <a:off x="0" y="908050"/>
            <a:ext cx="9144000" cy="606425"/>
          </a:xfrm>
        </p:spPr>
        <p:txBody>
          <a:bodyPr/>
          <a:lstStyle/>
          <a:p>
            <a:pPr eaLnBrk="1" hangingPunct="1"/>
            <a:r>
              <a:rPr lang="zh-CN" altLang="en-US" smtClean="0">
                <a:solidFill>
                  <a:srgbClr val="FF3300"/>
                </a:solidFill>
                <a:ea typeface="华文新魏" pitchFamily="2" charset="-122"/>
              </a:rPr>
              <a:t>课程学习有关事宜</a:t>
            </a:r>
            <a:endParaRPr lang="zh-CN" altLang="en-US" sz="3200" smtClean="0">
              <a:solidFill>
                <a:srgbClr val="FF3300"/>
              </a:solidFill>
              <a:ea typeface="华文新魏" pitchFamily="2" charset="-122"/>
            </a:endParaRPr>
          </a:p>
        </p:txBody>
      </p:sp>
      <p:sp>
        <p:nvSpPr>
          <p:cNvPr id="64517" name="Rectangle 5"/>
          <p:cNvSpPr>
            <a:spLocks noChangeArrowheads="1"/>
          </p:cNvSpPr>
          <p:nvPr/>
        </p:nvSpPr>
        <p:spPr bwMode="auto">
          <a:xfrm>
            <a:off x="265113" y="1988840"/>
            <a:ext cx="8459787" cy="978729"/>
          </a:xfrm>
          <a:prstGeom prst="rect">
            <a:avLst/>
          </a:prstGeom>
          <a:noFill/>
          <a:ln>
            <a:noFill/>
          </a:ln>
          <a:effectLst/>
          <a:extLst>
            <a:ext uri="{909E8E84-426E-40DD-AFC4-6F175D3DCCD1}">
              <a14:hiddenFill xmlns:a14="http://schemas.microsoft.com/office/drawing/2010/main">
                <a:gradFill rotWithShape="0">
                  <a:gsLst>
                    <a:gs pos="0">
                      <a:srgbClr val="CCFFFF"/>
                    </a:gs>
                    <a:gs pos="50000">
                      <a:srgbClr val="F0FFFF"/>
                    </a:gs>
                    <a:gs pos="100000">
                      <a:srgbClr val="CCFFFF"/>
                    </a:gs>
                  </a:gsLst>
                  <a:lin ang="2700000" scaled="1"/>
                </a:gradFill>
              </a14:hiddenFill>
            </a:ext>
            <a:ext uri="{91240B29-F687-4F45-9708-019B960494DF}">
              <a14:hiddenLine xmlns:a14="http://schemas.microsoft.com/office/drawing/2010/main" w="9525">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0000"/>
              </a:lnSpc>
              <a:spcBef>
                <a:spcPct val="30000"/>
              </a:spcBef>
            </a:pPr>
            <a:r>
              <a:rPr lang="zh-CN" altLang="en-US" sz="2400" b="1" dirty="0">
                <a:solidFill>
                  <a:srgbClr val="000000"/>
                </a:solidFill>
                <a:latin typeface="Times New Roman" pitchFamily="18" charset="0"/>
                <a:ea typeface="楷体_GB2312" pitchFamily="49" charset="-122"/>
              </a:rPr>
              <a:t>（</a:t>
            </a:r>
            <a:r>
              <a:rPr lang="en-US" altLang="zh-CN" sz="2400" b="1" dirty="0">
                <a:solidFill>
                  <a:srgbClr val="000000"/>
                </a:solidFill>
                <a:latin typeface="Times New Roman" pitchFamily="18" charset="0"/>
                <a:ea typeface="楷体_GB2312" pitchFamily="49" charset="-122"/>
              </a:rPr>
              <a:t>1</a:t>
            </a:r>
            <a:r>
              <a:rPr lang="zh-CN" altLang="en-US" sz="2400" b="1" dirty="0" smtClean="0">
                <a:solidFill>
                  <a:srgbClr val="000000"/>
                </a:solidFill>
                <a:latin typeface="Times New Roman" pitchFamily="18" charset="0"/>
                <a:ea typeface="楷体_GB2312" pitchFamily="49" charset="-122"/>
              </a:rPr>
              <a:t>）本学期每</a:t>
            </a:r>
            <a:r>
              <a:rPr lang="zh-CN" altLang="en-US" sz="2400" b="1" dirty="0" smtClean="0">
                <a:solidFill>
                  <a:srgbClr val="000000"/>
                </a:solidFill>
                <a:latin typeface="Times New Roman" pitchFamily="18" charset="0"/>
                <a:ea typeface="楷体_GB2312" pitchFamily="49" charset="-122"/>
              </a:rPr>
              <a:t>周一提交</a:t>
            </a:r>
            <a:r>
              <a:rPr lang="zh-CN" altLang="en-US" sz="2400" b="1" dirty="0" smtClean="0">
                <a:solidFill>
                  <a:srgbClr val="000000"/>
                </a:solidFill>
                <a:latin typeface="Times New Roman" pitchFamily="18" charset="0"/>
                <a:ea typeface="楷体_GB2312" pitchFamily="49" charset="-122"/>
              </a:rPr>
              <a:t>作业，准备两个作业本，</a:t>
            </a:r>
            <a:r>
              <a:rPr lang="zh-CN" altLang="en-US" sz="2400" dirty="0" smtClean="0">
                <a:solidFill>
                  <a:srgbClr val="000000"/>
                </a:solidFill>
                <a:ea typeface="楷体_GB2312" pitchFamily="49" charset="-122"/>
              </a:rPr>
              <a:t>请按时</a:t>
            </a:r>
            <a:r>
              <a:rPr lang="zh-CN" altLang="en-US" sz="2400" b="1" dirty="0" smtClean="0">
                <a:solidFill>
                  <a:srgbClr val="000000"/>
                </a:solidFill>
                <a:latin typeface="Times New Roman" pitchFamily="18" charset="0"/>
                <a:ea typeface="楷体_GB2312" pitchFamily="49" charset="-122"/>
              </a:rPr>
              <a:t>提交作业。</a:t>
            </a:r>
            <a:endParaRPr lang="zh-CN" altLang="en-US" sz="2400" b="1" dirty="0">
              <a:solidFill>
                <a:srgbClr val="000000"/>
              </a:solidFill>
              <a:latin typeface="Times New Roman" pitchFamily="18" charset="0"/>
              <a:ea typeface="楷体_GB2312" pitchFamily="49" charset="-122"/>
            </a:endParaRPr>
          </a:p>
        </p:txBody>
      </p:sp>
      <p:sp>
        <p:nvSpPr>
          <p:cNvPr id="64518" name="Rectangle 6"/>
          <p:cNvSpPr>
            <a:spLocks noChangeArrowheads="1"/>
          </p:cNvSpPr>
          <p:nvPr/>
        </p:nvSpPr>
        <p:spPr bwMode="auto">
          <a:xfrm>
            <a:off x="265113" y="3386138"/>
            <a:ext cx="7632700" cy="493712"/>
          </a:xfrm>
          <a:prstGeom prst="rect">
            <a:avLst/>
          </a:prstGeom>
          <a:noFill/>
          <a:ln>
            <a:noFill/>
          </a:ln>
          <a:effectLst/>
          <a:extLst>
            <a:ext uri="{909E8E84-426E-40DD-AFC4-6F175D3DCCD1}">
              <a14:hiddenFill xmlns:a14="http://schemas.microsoft.com/office/drawing/2010/main">
                <a:gradFill rotWithShape="0">
                  <a:gsLst>
                    <a:gs pos="0">
                      <a:srgbClr val="CCFFFF"/>
                    </a:gs>
                    <a:gs pos="50000">
                      <a:srgbClr val="F0FFFF"/>
                    </a:gs>
                    <a:gs pos="100000">
                      <a:srgbClr val="CCFFFF"/>
                    </a:gs>
                  </a:gsLst>
                  <a:lin ang="2700000" scaled="1"/>
                </a:gradFill>
              </a14:hiddenFill>
            </a:ext>
            <a:ext uri="{91240B29-F687-4F45-9708-019B960494DF}">
              <a14:hiddenLine xmlns:a14="http://schemas.microsoft.com/office/drawing/2010/main" w="9525">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0000"/>
              </a:lnSpc>
              <a:spcBef>
                <a:spcPct val="30000"/>
              </a:spcBef>
            </a:pPr>
            <a:r>
              <a:rPr lang="zh-CN" altLang="en-US" sz="2400" b="1" dirty="0" smtClean="0">
                <a:solidFill>
                  <a:srgbClr val="000000"/>
                </a:solidFill>
                <a:latin typeface="Times New Roman" pitchFamily="18" charset="0"/>
                <a:ea typeface="楷体_GB2312" pitchFamily="49" charset="-122"/>
              </a:rPr>
              <a:t>（</a:t>
            </a:r>
            <a:r>
              <a:rPr lang="en-US" altLang="zh-CN" sz="2400" b="1" dirty="0" smtClean="0">
                <a:solidFill>
                  <a:srgbClr val="000000"/>
                </a:solidFill>
                <a:latin typeface="Times New Roman" pitchFamily="18" charset="0"/>
                <a:ea typeface="楷体_GB2312" pitchFamily="49" charset="-122"/>
              </a:rPr>
              <a:t>2</a:t>
            </a:r>
            <a:r>
              <a:rPr lang="zh-CN" altLang="en-US" sz="2400" b="1" dirty="0" smtClean="0">
                <a:solidFill>
                  <a:srgbClr val="000000"/>
                </a:solidFill>
                <a:latin typeface="Times New Roman" pitchFamily="18" charset="0"/>
                <a:ea typeface="楷体_GB2312" pitchFamily="49" charset="-122"/>
              </a:rPr>
              <a:t>）</a:t>
            </a:r>
            <a:r>
              <a:rPr lang="zh-CN" altLang="en-US" sz="2400" b="1" dirty="0">
                <a:solidFill>
                  <a:srgbClr val="000000"/>
                </a:solidFill>
                <a:latin typeface="Times New Roman" pitchFamily="18" charset="0"/>
                <a:ea typeface="楷体_GB2312" pitchFamily="49" charset="-122"/>
              </a:rPr>
              <a:t>有意见或建议请转达，有问题及时反馈</a:t>
            </a:r>
          </a:p>
        </p:txBody>
      </p:sp>
      <p:sp>
        <p:nvSpPr>
          <p:cNvPr id="8" name="Rectangle 9"/>
          <p:cNvSpPr>
            <a:spLocks noChangeArrowheads="1"/>
          </p:cNvSpPr>
          <p:nvPr/>
        </p:nvSpPr>
        <p:spPr bwMode="auto">
          <a:xfrm>
            <a:off x="265113" y="4797152"/>
            <a:ext cx="7632700" cy="493148"/>
          </a:xfrm>
          <a:prstGeom prst="rect">
            <a:avLst/>
          </a:prstGeom>
          <a:noFill/>
          <a:ln>
            <a:noFill/>
          </a:ln>
          <a:effectLst/>
          <a:extLst>
            <a:ext uri="{909E8E84-426E-40DD-AFC4-6F175D3DCCD1}">
              <a14:hiddenFill xmlns:a14="http://schemas.microsoft.com/office/drawing/2010/main">
                <a:gradFill rotWithShape="0">
                  <a:gsLst>
                    <a:gs pos="0">
                      <a:srgbClr val="CCFFFF"/>
                    </a:gs>
                    <a:gs pos="50000">
                      <a:srgbClr val="F0FFFF"/>
                    </a:gs>
                    <a:gs pos="100000">
                      <a:srgbClr val="CCFFFF"/>
                    </a:gs>
                  </a:gsLst>
                  <a:lin ang="2700000" scaled="1"/>
                </a:gradFill>
              </a14:hiddenFill>
            </a:ext>
            <a:ext uri="{91240B29-F687-4F45-9708-019B960494DF}">
              <a14:hiddenLine xmlns:a14="http://schemas.microsoft.com/office/drawing/2010/main" w="9525">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30000"/>
              </a:spcBef>
            </a:pPr>
            <a:r>
              <a:rPr lang="zh-CN" altLang="en-US" sz="2400" b="1" dirty="0" smtClean="0">
                <a:solidFill>
                  <a:srgbClr val="000000"/>
                </a:solidFill>
                <a:latin typeface="Times New Roman" pitchFamily="18" charset="0"/>
                <a:ea typeface="楷体_GB2312" pitchFamily="49" charset="-122"/>
              </a:rPr>
              <a:t>（</a:t>
            </a:r>
            <a:r>
              <a:rPr lang="en-US" altLang="zh-CN" sz="2400" b="1" dirty="0" smtClean="0">
                <a:solidFill>
                  <a:srgbClr val="000000"/>
                </a:solidFill>
                <a:latin typeface="Times New Roman" pitchFamily="18" charset="0"/>
                <a:ea typeface="楷体_GB2312" pitchFamily="49" charset="-122"/>
              </a:rPr>
              <a:t>3</a:t>
            </a:r>
            <a:r>
              <a:rPr lang="zh-CN" altLang="en-US" sz="2400" b="1" dirty="0" smtClean="0">
                <a:solidFill>
                  <a:srgbClr val="000000"/>
                </a:solidFill>
                <a:latin typeface="Times New Roman" pitchFamily="18" charset="0"/>
                <a:ea typeface="楷体_GB2312" pitchFamily="49" charset="-122"/>
              </a:rPr>
              <a:t>）</a:t>
            </a:r>
            <a:r>
              <a:rPr lang="zh-CN" altLang="en-US" sz="2400" b="1" dirty="0">
                <a:solidFill>
                  <a:srgbClr val="000000"/>
                </a:solidFill>
                <a:latin typeface="Times New Roman" pitchFamily="18" charset="0"/>
                <a:ea typeface="楷体_GB2312" pitchFamily="49" charset="-122"/>
              </a:rPr>
              <a:t>务必认真做作业</a:t>
            </a:r>
            <a:r>
              <a:rPr lang="zh-CN" altLang="en-US" sz="2400" b="1" dirty="0" smtClean="0">
                <a:solidFill>
                  <a:srgbClr val="000000"/>
                </a:solidFill>
                <a:latin typeface="Times New Roman" pitchFamily="18" charset="0"/>
                <a:ea typeface="楷体_GB2312" pitchFamily="49" charset="-122"/>
              </a:rPr>
              <a:t>（平时</a:t>
            </a:r>
            <a:r>
              <a:rPr lang="zh-CN" altLang="en-US" sz="2400" dirty="0">
                <a:solidFill>
                  <a:srgbClr val="000000"/>
                </a:solidFill>
                <a:ea typeface="楷体_GB2312" pitchFamily="49" charset="-122"/>
                <a:cs typeface="Times New Roman" pitchFamily="18" charset="0"/>
              </a:rPr>
              <a:t>成绩</a:t>
            </a:r>
            <a:r>
              <a:rPr lang="zh-CN" altLang="en-US" sz="2400" b="1" dirty="0" smtClean="0">
                <a:solidFill>
                  <a:srgbClr val="000000"/>
                </a:solidFill>
                <a:latin typeface="Times New Roman" pitchFamily="18" charset="0"/>
                <a:ea typeface="楷体_GB2312" pitchFamily="49" charset="-122"/>
              </a:rPr>
              <a:t>占</a:t>
            </a:r>
            <a:r>
              <a:rPr lang="en-US" altLang="zh-CN" sz="2400" b="1" dirty="0">
                <a:solidFill>
                  <a:srgbClr val="000000"/>
                </a:solidFill>
                <a:latin typeface="Times New Roman" pitchFamily="18" charset="0"/>
                <a:ea typeface="楷体_GB2312" pitchFamily="49" charset="-122"/>
              </a:rPr>
              <a:t>30</a:t>
            </a:r>
            <a:r>
              <a:rPr lang="en-US" altLang="zh-CN" sz="2400" b="1" dirty="0" smtClean="0">
                <a:solidFill>
                  <a:srgbClr val="000000"/>
                </a:solidFill>
                <a:latin typeface="Times New Roman" pitchFamily="18" charset="0"/>
                <a:ea typeface="楷体_GB2312" pitchFamily="49" charset="-122"/>
                <a:cs typeface="Times New Roman" pitchFamily="18" charset="0"/>
              </a:rPr>
              <a:t>%</a:t>
            </a:r>
            <a:r>
              <a:rPr lang="zh-CN" altLang="en-US" sz="2400" b="1" dirty="0" smtClean="0">
                <a:solidFill>
                  <a:srgbClr val="000000"/>
                </a:solidFill>
                <a:latin typeface="Times New Roman" pitchFamily="18" charset="0"/>
                <a:ea typeface="楷体_GB2312" pitchFamily="49" charset="-122"/>
              </a:rPr>
              <a:t>）</a:t>
            </a:r>
            <a:endParaRPr lang="zh-CN" altLang="en-US" sz="2400" b="1" dirty="0">
              <a:solidFill>
                <a:srgbClr val="000000"/>
              </a:solidFill>
              <a:latin typeface="Times New Roman" pitchFamily="18" charset="0"/>
              <a:ea typeface="楷体_GB2312" pitchFamily="49" charset="-122"/>
            </a:endParaRPr>
          </a:p>
        </p:txBody>
      </p:sp>
    </p:spTree>
    <p:extLst>
      <p:ext uri="{BB962C8B-B14F-4D97-AF65-F5344CB8AC3E}">
        <p14:creationId xmlns:p14="http://schemas.microsoft.com/office/powerpoint/2010/main" val="29105894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4517"/>
                                        </p:tgtEl>
                                        <p:attrNameLst>
                                          <p:attrName>style.visibility</p:attrName>
                                        </p:attrNameLst>
                                      </p:cBhvr>
                                      <p:to>
                                        <p:strVal val="visible"/>
                                      </p:to>
                                    </p:set>
                                    <p:animEffect transition="in" filter="slide(fromBottom)">
                                      <p:cBhvr>
                                        <p:cTn id="7" dur="1000"/>
                                        <p:tgtEl>
                                          <p:spTgt spid="645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64518"/>
                                        </p:tgtEl>
                                        <p:attrNameLst>
                                          <p:attrName>style.visibility</p:attrName>
                                        </p:attrNameLst>
                                      </p:cBhvr>
                                      <p:to>
                                        <p:strVal val="visible"/>
                                      </p:to>
                                    </p:set>
                                    <p:animEffect transition="in" filter="slide(fromBottom)">
                                      <p:cBhvr>
                                        <p:cTn id="12" dur="1000"/>
                                        <p:tgtEl>
                                          <p:spTgt spid="64518"/>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slide(fromBottom)">
                                      <p:cBhvr>
                                        <p:cTn id="1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7" grpId="0"/>
      <p:bldP spid="64518"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p:cNvSpPr>
            <a:spLocks noGrp="1" noRot="1" noChangeArrowheads="1"/>
          </p:cNvSpPr>
          <p:nvPr>
            <p:ph type="title"/>
          </p:nvPr>
        </p:nvSpPr>
        <p:spPr>
          <a:xfrm>
            <a:off x="77788" y="977900"/>
            <a:ext cx="8964612" cy="546100"/>
          </a:xfrm>
        </p:spPr>
        <p:txBody>
          <a:bodyPr/>
          <a:lstStyle/>
          <a:p>
            <a:pPr eaLnBrk="1" hangingPunct="1"/>
            <a:r>
              <a:rPr lang="zh-CN" altLang="en-US" sz="4000" smtClean="0">
                <a:solidFill>
                  <a:srgbClr val="000000"/>
                </a:solidFill>
                <a:ea typeface="华文新魏" pitchFamily="2" charset="-122"/>
              </a:rPr>
              <a:t>自动控制原理课程的任务与体系结构</a:t>
            </a:r>
          </a:p>
        </p:txBody>
      </p:sp>
      <p:pic>
        <p:nvPicPr>
          <p:cNvPr id="16" name="Picture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0800" y="2505075"/>
            <a:ext cx="1057275" cy="117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6975" y="2505075"/>
            <a:ext cx="1695450" cy="117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7763" y="2789238"/>
            <a:ext cx="1085850"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0" y="3721100"/>
            <a:ext cx="279082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0" y="2212975"/>
            <a:ext cx="2771775"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 name="Picture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35488" y="1866900"/>
            <a:ext cx="1295400" cy="26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Picture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35488" y="4271963"/>
            <a:ext cx="133350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 name="Picture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67225" y="2576513"/>
            <a:ext cx="125730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 name="Picture 2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52938" y="2973388"/>
            <a:ext cx="1571625"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 name="Picture 2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48175" y="3411538"/>
            <a:ext cx="12763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 name="矩形 1"/>
          <p:cNvSpPr>
            <a:spLocks noChangeArrowheads="1"/>
          </p:cNvSpPr>
          <p:nvPr/>
        </p:nvSpPr>
        <p:spPr bwMode="auto">
          <a:xfrm>
            <a:off x="3159125" y="5013325"/>
            <a:ext cx="3068638"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a:latin typeface="隶书" pitchFamily="49" charset="-122"/>
                <a:ea typeface="隶书" pitchFamily="49" charset="-122"/>
              </a:rPr>
              <a:t>本课程体系框图</a:t>
            </a:r>
          </a:p>
        </p:txBody>
      </p:sp>
    </p:spTree>
    <p:extLst>
      <p:ext uri="{BB962C8B-B14F-4D97-AF65-F5344CB8AC3E}">
        <p14:creationId xmlns:p14="http://schemas.microsoft.com/office/powerpoint/2010/main" val="15673993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1000"/>
                                        <p:tgtEl>
                                          <p:spTgt spid="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1500"/>
                                        <p:tgtEl>
                                          <p:spTgt spid="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1000"/>
                                        <p:tgtEl>
                                          <p:spTgt spid="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left)">
                                      <p:cBhvr>
                                        <p:cTn id="22" dur="1250"/>
                                        <p:tgtEl>
                                          <p:spTgt spid="20"/>
                                        </p:tgtEl>
                                      </p:cBhvr>
                                    </p:animEffect>
                                  </p:childTnLst>
                                </p:cTn>
                              </p:par>
                            </p:childTnLst>
                          </p:cTn>
                        </p:par>
                        <p:par>
                          <p:cTn id="23" fill="hold" nodeType="afterGroup">
                            <p:stCondLst>
                              <p:cond delay="1250"/>
                            </p:stCondLst>
                            <p:childTnLst>
                              <p:par>
                                <p:cTn id="24" presetID="12" presetClass="entr" presetSubtype="4" fill="hold" nodeType="afterEffect">
                                  <p:stCondLst>
                                    <p:cond delay="0"/>
                                  </p:stCondLst>
                                  <p:childTnLst>
                                    <p:set>
                                      <p:cBhvr>
                                        <p:cTn id="25" dur="1" fill="hold">
                                          <p:stCondLst>
                                            <p:cond delay="0"/>
                                          </p:stCondLst>
                                        </p:cTn>
                                        <p:tgtEl>
                                          <p:spTgt spid="21"/>
                                        </p:tgtEl>
                                        <p:attrNameLst>
                                          <p:attrName>style.visibility</p:attrName>
                                        </p:attrNameLst>
                                      </p:cBhvr>
                                      <p:to>
                                        <p:strVal val="visible"/>
                                      </p:to>
                                    </p:set>
                                    <p:anim calcmode="lin" valueType="num">
                                      <p:cBhvr additive="base">
                                        <p:cTn id="26" dur="500"/>
                                        <p:tgtEl>
                                          <p:spTgt spid="21"/>
                                        </p:tgtEl>
                                        <p:attrNameLst>
                                          <p:attrName>ppt_y</p:attrName>
                                        </p:attrNameLst>
                                      </p:cBhvr>
                                      <p:tavLst>
                                        <p:tav tm="0">
                                          <p:val>
                                            <p:strVal val="#ppt_y+#ppt_h*1.125000"/>
                                          </p:val>
                                        </p:tav>
                                        <p:tav tm="100000">
                                          <p:val>
                                            <p:strVal val="#ppt_y"/>
                                          </p:val>
                                        </p:tav>
                                      </p:tavLst>
                                    </p:anim>
                                    <p:animEffect transition="in" filter="wipe(up)">
                                      <p:cBhvr>
                                        <p:cTn id="27" dur="500"/>
                                        <p:tgtEl>
                                          <p:spTgt spid="2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2"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right)">
                                      <p:cBhvr>
                                        <p:cTn id="32" dur="1500"/>
                                        <p:tgtEl>
                                          <p:spTgt spid="19"/>
                                        </p:tgtEl>
                                      </p:cBhvr>
                                    </p:animEffect>
                                  </p:childTnLst>
                                </p:cTn>
                              </p:par>
                            </p:childTnLst>
                          </p:cTn>
                        </p:par>
                        <p:par>
                          <p:cTn id="33" fill="hold" nodeType="afterGroup">
                            <p:stCondLst>
                              <p:cond delay="1500"/>
                            </p:stCondLst>
                            <p:childTnLst>
                              <p:par>
                                <p:cTn id="34" presetID="12" presetClass="entr" presetSubtype="1" fill="hold" nodeType="afterEffect">
                                  <p:stCondLst>
                                    <p:cond delay="0"/>
                                  </p:stCondLst>
                                  <p:childTnLst>
                                    <p:set>
                                      <p:cBhvr>
                                        <p:cTn id="35" dur="1" fill="hold">
                                          <p:stCondLst>
                                            <p:cond delay="0"/>
                                          </p:stCondLst>
                                        </p:cTn>
                                        <p:tgtEl>
                                          <p:spTgt spid="22"/>
                                        </p:tgtEl>
                                        <p:attrNameLst>
                                          <p:attrName>style.visibility</p:attrName>
                                        </p:attrNameLst>
                                      </p:cBhvr>
                                      <p:to>
                                        <p:strVal val="visible"/>
                                      </p:to>
                                    </p:set>
                                    <p:anim calcmode="lin" valueType="num">
                                      <p:cBhvr additive="base">
                                        <p:cTn id="36" dur="500"/>
                                        <p:tgtEl>
                                          <p:spTgt spid="22"/>
                                        </p:tgtEl>
                                        <p:attrNameLst>
                                          <p:attrName>ppt_y</p:attrName>
                                        </p:attrNameLst>
                                      </p:cBhvr>
                                      <p:tavLst>
                                        <p:tav tm="0">
                                          <p:val>
                                            <p:strVal val="#ppt_y-#ppt_h*1.125000"/>
                                          </p:val>
                                        </p:tav>
                                        <p:tav tm="100000">
                                          <p:val>
                                            <p:strVal val="#ppt_y"/>
                                          </p:val>
                                        </p:tav>
                                      </p:tavLst>
                                    </p:anim>
                                    <p:animEffect transition="in" filter="wipe(down)">
                                      <p:cBhvr>
                                        <p:cTn id="37" dur="500"/>
                                        <p:tgtEl>
                                          <p:spTgt spid="2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3" presetClass="entr" presetSubtype="16" fill="hold" nodeType="clickEffect">
                                  <p:stCondLst>
                                    <p:cond delay="0"/>
                                  </p:stCondLst>
                                  <p:childTnLst>
                                    <p:set>
                                      <p:cBhvr>
                                        <p:cTn id="41" dur="1" fill="hold">
                                          <p:stCondLst>
                                            <p:cond delay="0"/>
                                          </p:stCondLst>
                                        </p:cTn>
                                        <p:tgtEl>
                                          <p:spTgt spid="23"/>
                                        </p:tgtEl>
                                        <p:attrNameLst>
                                          <p:attrName>style.visibility</p:attrName>
                                        </p:attrNameLst>
                                      </p:cBhvr>
                                      <p:to>
                                        <p:strVal val="visible"/>
                                      </p:to>
                                    </p:set>
                                    <p:anim calcmode="lin" valueType="num">
                                      <p:cBhvr>
                                        <p:cTn id="42" dur="1000" fill="hold"/>
                                        <p:tgtEl>
                                          <p:spTgt spid="23"/>
                                        </p:tgtEl>
                                        <p:attrNameLst>
                                          <p:attrName>ppt_w</p:attrName>
                                        </p:attrNameLst>
                                      </p:cBhvr>
                                      <p:tavLst>
                                        <p:tav tm="0">
                                          <p:val>
                                            <p:fltVal val="0"/>
                                          </p:val>
                                        </p:tav>
                                        <p:tav tm="100000">
                                          <p:val>
                                            <p:strVal val="#ppt_w"/>
                                          </p:val>
                                        </p:tav>
                                      </p:tavLst>
                                    </p:anim>
                                    <p:anim calcmode="lin" valueType="num">
                                      <p:cBhvr>
                                        <p:cTn id="43" dur="1000" fill="hold"/>
                                        <p:tgtEl>
                                          <p:spTgt spid="23"/>
                                        </p:tgtEl>
                                        <p:attrNameLst>
                                          <p:attrName>ppt_h</p:attrName>
                                        </p:attrNameLst>
                                      </p:cBhvr>
                                      <p:tavLst>
                                        <p:tav tm="0">
                                          <p:val>
                                            <p:fltVal val="0"/>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3" presetClass="entr" presetSubtype="16" fill="hold" nodeType="clickEffect">
                                  <p:stCondLst>
                                    <p:cond delay="0"/>
                                  </p:stCondLst>
                                  <p:childTnLst>
                                    <p:set>
                                      <p:cBhvr>
                                        <p:cTn id="47" dur="1" fill="hold">
                                          <p:stCondLst>
                                            <p:cond delay="0"/>
                                          </p:stCondLst>
                                        </p:cTn>
                                        <p:tgtEl>
                                          <p:spTgt spid="24"/>
                                        </p:tgtEl>
                                        <p:attrNameLst>
                                          <p:attrName>style.visibility</p:attrName>
                                        </p:attrNameLst>
                                      </p:cBhvr>
                                      <p:to>
                                        <p:strVal val="visible"/>
                                      </p:to>
                                    </p:set>
                                    <p:anim calcmode="lin" valueType="num">
                                      <p:cBhvr>
                                        <p:cTn id="48" dur="1000" fill="hold"/>
                                        <p:tgtEl>
                                          <p:spTgt spid="24"/>
                                        </p:tgtEl>
                                        <p:attrNameLst>
                                          <p:attrName>ppt_w</p:attrName>
                                        </p:attrNameLst>
                                      </p:cBhvr>
                                      <p:tavLst>
                                        <p:tav tm="0">
                                          <p:val>
                                            <p:fltVal val="0"/>
                                          </p:val>
                                        </p:tav>
                                        <p:tav tm="100000">
                                          <p:val>
                                            <p:strVal val="#ppt_w"/>
                                          </p:val>
                                        </p:tav>
                                      </p:tavLst>
                                    </p:anim>
                                    <p:anim calcmode="lin" valueType="num">
                                      <p:cBhvr>
                                        <p:cTn id="49" dur="1000" fill="hold"/>
                                        <p:tgtEl>
                                          <p:spTgt spid="24"/>
                                        </p:tgtEl>
                                        <p:attrNameLst>
                                          <p:attrName>ppt_h</p:attrName>
                                        </p:attrNameLst>
                                      </p:cBhvr>
                                      <p:tavLst>
                                        <p:tav tm="0">
                                          <p:val>
                                            <p:fltVal val="0"/>
                                          </p:val>
                                        </p:tav>
                                        <p:tav tm="100000">
                                          <p:val>
                                            <p:strVal val="#ppt_h"/>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23" presetClass="entr" presetSubtype="16" fill="hold" nodeType="clickEffect">
                                  <p:stCondLst>
                                    <p:cond delay="0"/>
                                  </p:stCondLst>
                                  <p:childTnLst>
                                    <p:set>
                                      <p:cBhvr>
                                        <p:cTn id="53" dur="1" fill="hold">
                                          <p:stCondLst>
                                            <p:cond delay="0"/>
                                          </p:stCondLst>
                                        </p:cTn>
                                        <p:tgtEl>
                                          <p:spTgt spid="25"/>
                                        </p:tgtEl>
                                        <p:attrNameLst>
                                          <p:attrName>style.visibility</p:attrName>
                                        </p:attrNameLst>
                                      </p:cBhvr>
                                      <p:to>
                                        <p:strVal val="visible"/>
                                      </p:to>
                                    </p:set>
                                    <p:anim calcmode="lin" valueType="num">
                                      <p:cBhvr>
                                        <p:cTn id="54" dur="500" fill="hold"/>
                                        <p:tgtEl>
                                          <p:spTgt spid="25"/>
                                        </p:tgtEl>
                                        <p:attrNameLst>
                                          <p:attrName>ppt_w</p:attrName>
                                        </p:attrNameLst>
                                      </p:cBhvr>
                                      <p:tavLst>
                                        <p:tav tm="0">
                                          <p:val>
                                            <p:fltVal val="0"/>
                                          </p:val>
                                        </p:tav>
                                        <p:tav tm="100000">
                                          <p:val>
                                            <p:strVal val="#ppt_w"/>
                                          </p:val>
                                        </p:tav>
                                      </p:tavLst>
                                    </p:anim>
                                    <p:anim calcmode="lin" valueType="num">
                                      <p:cBhvr>
                                        <p:cTn id="55" dur="500" fill="hold"/>
                                        <p:tgtEl>
                                          <p:spTgt spid="25"/>
                                        </p:tgtEl>
                                        <p:attrNameLst>
                                          <p:attrName>ppt_h</p:attrName>
                                        </p:attrNameLst>
                                      </p:cBhvr>
                                      <p:tavLst>
                                        <p:tav tm="0">
                                          <p:val>
                                            <p:fltVal val="0"/>
                                          </p:val>
                                        </p:tav>
                                        <p:tav tm="100000">
                                          <p:val>
                                            <p:strVal val="#ppt_h"/>
                                          </p:val>
                                        </p:tav>
                                      </p:tavLst>
                                    </p:anim>
                                  </p:childTnLst>
                                </p:cTn>
                              </p:par>
                            </p:childTnLst>
                          </p:cTn>
                        </p:par>
                        <p:par>
                          <p:cTn id="56" fill="hold" nodeType="afterGroup">
                            <p:stCondLst>
                              <p:cond delay="500"/>
                            </p:stCondLst>
                            <p:childTnLst>
                              <p:par>
                                <p:cTn id="57" presetID="22" presetClass="entr" presetSubtype="8" fill="hold" grpId="0" nodeType="after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wipe(left)">
                                      <p:cBhvr>
                                        <p:cTn id="59" dur="12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rrowheads="1"/>
          </p:cNvSpPr>
          <p:nvPr>
            <p:ph type="title"/>
          </p:nvPr>
        </p:nvSpPr>
        <p:spPr/>
        <p:txBody>
          <a:bodyPr/>
          <a:lstStyle/>
          <a:p>
            <a:pPr eaLnBrk="1" hangingPunct="1"/>
            <a:r>
              <a:rPr kumimoji="1" lang="zh-CN" altLang="en-US" b="1" smtClean="0">
                <a:solidFill>
                  <a:srgbClr val="000000"/>
                </a:solidFill>
                <a:latin typeface="隶书" pitchFamily="49" charset="-122"/>
                <a:ea typeface="隶书" pitchFamily="49" charset="-122"/>
              </a:rPr>
              <a:t>第一章  自动控制的一般概念</a:t>
            </a:r>
          </a:p>
        </p:txBody>
      </p:sp>
      <p:sp>
        <p:nvSpPr>
          <p:cNvPr id="16387" name="Rectangle 3"/>
          <p:cNvSpPr>
            <a:spLocks noGrp="1" noRot="1" noChangeArrowheads="1"/>
          </p:cNvSpPr>
          <p:nvPr>
            <p:ph type="body" idx="1"/>
          </p:nvPr>
        </p:nvSpPr>
        <p:spPr/>
        <p:txBody>
          <a:bodyPr/>
          <a:lstStyle/>
          <a:p>
            <a:pPr eaLnBrk="1" hangingPunct="1"/>
            <a:r>
              <a:rPr lang="en-US" altLang="zh-CN" b="1" smtClean="0">
                <a:solidFill>
                  <a:srgbClr val="000000"/>
                </a:solidFill>
                <a:latin typeface="隶书" pitchFamily="49" charset="-122"/>
                <a:ea typeface="隶书" pitchFamily="49" charset="-122"/>
              </a:rPr>
              <a:t>§1.1  </a:t>
            </a:r>
            <a:r>
              <a:rPr lang="zh-CN" altLang="en-US" b="1" smtClean="0">
                <a:solidFill>
                  <a:srgbClr val="000000"/>
                </a:solidFill>
                <a:latin typeface="隶书" pitchFamily="49" charset="-122"/>
                <a:ea typeface="隶书" pitchFamily="49" charset="-122"/>
              </a:rPr>
              <a:t>引言 </a:t>
            </a:r>
          </a:p>
          <a:p>
            <a:pPr eaLnBrk="1" hangingPunct="1"/>
            <a:r>
              <a:rPr lang="en-US" altLang="zh-CN" b="1" smtClean="0">
                <a:solidFill>
                  <a:srgbClr val="000000"/>
                </a:solidFill>
                <a:latin typeface="隶书" pitchFamily="49" charset="-122"/>
                <a:ea typeface="隶书" pitchFamily="49" charset="-122"/>
              </a:rPr>
              <a:t>§1.2  </a:t>
            </a:r>
            <a:r>
              <a:rPr lang="zh-CN" altLang="en-US" b="1" smtClean="0">
                <a:solidFill>
                  <a:srgbClr val="000000"/>
                </a:solidFill>
                <a:latin typeface="隶书" pitchFamily="49" charset="-122"/>
                <a:ea typeface="隶书" pitchFamily="49" charset="-122"/>
              </a:rPr>
              <a:t>自动控制理论发展概述 </a:t>
            </a:r>
          </a:p>
          <a:p>
            <a:pPr eaLnBrk="1" hangingPunct="1"/>
            <a:r>
              <a:rPr lang="en-US" altLang="zh-CN" b="1" smtClean="0">
                <a:solidFill>
                  <a:srgbClr val="000000"/>
                </a:solidFill>
                <a:latin typeface="隶书" pitchFamily="49" charset="-122"/>
                <a:ea typeface="隶书" pitchFamily="49" charset="-122"/>
              </a:rPr>
              <a:t>§1.3  </a:t>
            </a:r>
            <a:r>
              <a:rPr lang="zh-CN" altLang="en-US" b="1" smtClean="0">
                <a:solidFill>
                  <a:srgbClr val="000000"/>
                </a:solidFill>
                <a:latin typeface="隶书" pitchFamily="49" charset="-122"/>
                <a:ea typeface="隶书" pitchFamily="49" charset="-122"/>
              </a:rPr>
              <a:t>自动控制和自动控制系统的基本概念 </a:t>
            </a:r>
          </a:p>
          <a:p>
            <a:pPr eaLnBrk="1" hangingPunct="1"/>
            <a:r>
              <a:rPr lang="en-US" altLang="zh-CN" b="1" smtClean="0">
                <a:solidFill>
                  <a:srgbClr val="000000"/>
                </a:solidFill>
                <a:latin typeface="隶书" pitchFamily="49" charset="-122"/>
                <a:ea typeface="隶书" pitchFamily="49" charset="-122"/>
              </a:rPr>
              <a:t>§1.4  </a:t>
            </a:r>
            <a:r>
              <a:rPr lang="zh-CN" altLang="en-US" b="1" smtClean="0">
                <a:solidFill>
                  <a:srgbClr val="000000"/>
                </a:solidFill>
                <a:latin typeface="隶书" pitchFamily="49" charset="-122"/>
                <a:ea typeface="隶书" pitchFamily="49" charset="-122"/>
              </a:rPr>
              <a:t>自动控制系统的基本组成 </a:t>
            </a:r>
          </a:p>
          <a:p>
            <a:pPr eaLnBrk="1" hangingPunct="1"/>
            <a:r>
              <a:rPr lang="en-US" altLang="zh-CN" b="1" smtClean="0">
                <a:solidFill>
                  <a:srgbClr val="000000"/>
                </a:solidFill>
                <a:latin typeface="隶书" pitchFamily="49" charset="-122"/>
                <a:ea typeface="隶书" pitchFamily="49" charset="-122"/>
              </a:rPr>
              <a:t>§1.5  </a:t>
            </a:r>
            <a:r>
              <a:rPr lang="zh-CN" altLang="en-US" b="1" smtClean="0">
                <a:solidFill>
                  <a:srgbClr val="000000"/>
                </a:solidFill>
                <a:latin typeface="隶书" pitchFamily="49" charset="-122"/>
                <a:ea typeface="隶书" pitchFamily="49" charset="-122"/>
              </a:rPr>
              <a:t>控制系统示例 </a:t>
            </a:r>
          </a:p>
          <a:p>
            <a:pPr eaLnBrk="1" hangingPunct="1"/>
            <a:endParaRPr lang="en-US" altLang="zh-CN" smtClean="0">
              <a:solidFill>
                <a:srgbClr val="000000"/>
              </a:solidFill>
              <a:latin typeface="隶书" pitchFamily="49" charset="-122"/>
              <a:ea typeface="隶书" pitchFamily="49" charset="-122"/>
            </a:endParaRPr>
          </a:p>
        </p:txBody>
      </p:sp>
    </p:spTree>
    <p:extLst>
      <p:ext uri="{BB962C8B-B14F-4D97-AF65-F5344CB8AC3E}">
        <p14:creationId xmlns:p14="http://schemas.microsoft.com/office/powerpoint/2010/main" val="40196573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rrowheads="1"/>
          </p:cNvSpPr>
          <p:nvPr>
            <p:ph type="title"/>
          </p:nvPr>
        </p:nvSpPr>
        <p:spPr>
          <a:xfrm>
            <a:off x="323850" y="476250"/>
            <a:ext cx="8540750" cy="792163"/>
          </a:xfrm>
        </p:spPr>
        <p:txBody>
          <a:bodyPr/>
          <a:lstStyle/>
          <a:p>
            <a:pPr algn="l" eaLnBrk="1" hangingPunct="1"/>
            <a:r>
              <a:rPr lang="en-US" altLang="zh-CN" b="1" smtClean="0">
                <a:solidFill>
                  <a:srgbClr val="000000"/>
                </a:solidFill>
                <a:latin typeface="隶书" pitchFamily="49" charset="-122"/>
                <a:ea typeface="隶书" pitchFamily="49" charset="-122"/>
              </a:rPr>
              <a:t>§1.1 </a:t>
            </a:r>
            <a:r>
              <a:rPr lang="zh-CN" altLang="en-US" b="1" smtClean="0">
                <a:solidFill>
                  <a:srgbClr val="000000"/>
                </a:solidFill>
                <a:latin typeface="隶书" pitchFamily="49" charset="-122"/>
                <a:ea typeface="隶书" pitchFamily="49" charset="-122"/>
              </a:rPr>
              <a:t>引言</a:t>
            </a:r>
          </a:p>
        </p:txBody>
      </p:sp>
      <p:sp>
        <p:nvSpPr>
          <p:cNvPr id="17411" name="Rectangle 3"/>
          <p:cNvSpPr>
            <a:spLocks noGrp="1" noRot="1" noChangeArrowheads="1"/>
          </p:cNvSpPr>
          <p:nvPr>
            <p:ph type="body" idx="1"/>
          </p:nvPr>
        </p:nvSpPr>
        <p:spPr>
          <a:xfrm>
            <a:off x="179388" y="1989138"/>
            <a:ext cx="4968875" cy="4194175"/>
          </a:xfrm>
        </p:spPr>
        <p:txBody>
          <a:bodyPr/>
          <a:lstStyle/>
          <a:p>
            <a:pPr eaLnBrk="1" hangingPunct="1"/>
            <a:r>
              <a:rPr lang="zh-CN" altLang="en-US" sz="2800" smtClean="0">
                <a:solidFill>
                  <a:srgbClr val="000000"/>
                </a:solidFill>
                <a:latin typeface="隶书" pitchFamily="49" charset="-122"/>
                <a:ea typeface="隶书" pitchFamily="49" charset="-122"/>
              </a:rPr>
              <a:t>一、应用领域</a:t>
            </a:r>
          </a:p>
          <a:p>
            <a:pPr eaLnBrk="1" hangingPunct="1"/>
            <a:r>
              <a:rPr lang="zh-CN" altLang="en-US" sz="2800" smtClean="0">
                <a:solidFill>
                  <a:srgbClr val="000000"/>
                </a:solidFill>
                <a:latin typeface="隶书" pitchFamily="49" charset="-122"/>
                <a:ea typeface="隶书" pitchFamily="49" charset="-122"/>
              </a:rPr>
              <a:t>机械、冶金、石油、化工、电子、电力、航空、航海、航天、核反应堆</a:t>
            </a:r>
          </a:p>
          <a:p>
            <a:pPr eaLnBrk="1" hangingPunct="1"/>
            <a:r>
              <a:rPr lang="zh-CN" altLang="en-US" sz="2800" smtClean="0">
                <a:solidFill>
                  <a:srgbClr val="000000"/>
                </a:solidFill>
                <a:latin typeface="隶书" pitchFamily="49" charset="-122"/>
                <a:ea typeface="隶书" pitchFamily="49" charset="-122"/>
              </a:rPr>
              <a:t>扩展学科：交通管理、生物医学、生态环境、经济管理、社会科学和其它许多社会生活领域 </a:t>
            </a:r>
          </a:p>
          <a:p>
            <a:pPr eaLnBrk="1" hangingPunct="1"/>
            <a:endParaRPr lang="en-US" altLang="zh-CN" sz="2800" smtClean="0">
              <a:solidFill>
                <a:srgbClr val="000000"/>
              </a:solidFill>
              <a:latin typeface="隶书" pitchFamily="49" charset="-122"/>
              <a:ea typeface="隶书" pitchFamily="49" charset="-122"/>
            </a:endParaRPr>
          </a:p>
        </p:txBody>
      </p:sp>
      <p:pic>
        <p:nvPicPr>
          <p:cNvPr id="17412" name="Picture 5" descr="u=3292645781,205219012&amp;gp=-30">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8038" y="0"/>
            <a:ext cx="2592387"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3" name="Picture 9" descr="hb0202a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525" y="4797425"/>
            <a:ext cx="2374900" cy="185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4" name="Picture 12" descr="xinsrc_0120602130951124283214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19700" y="2276475"/>
            <a:ext cx="4257675" cy="226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84888" y="0"/>
            <a:ext cx="2447925" cy="206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97158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Rot="1" noChangeArrowheads="1"/>
          </p:cNvSpPr>
          <p:nvPr>
            <p:ph type="body" idx="1"/>
          </p:nvPr>
        </p:nvSpPr>
        <p:spPr>
          <a:xfrm>
            <a:off x="107950" y="549275"/>
            <a:ext cx="8540750" cy="4194175"/>
          </a:xfrm>
        </p:spPr>
        <p:txBody>
          <a:bodyPr/>
          <a:lstStyle/>
          <a:p>
            <a:pPr eaLnBrk="1" hangingPunct="1">
              <a:defRPr/>
            </a:pPr>
            <a:r>
              <a:rPr lang="zh-CN" altLang="en-US" dirty="0" smtClean="0">
                <a:solidFill>
                  <a:srgbClr val="000000"/>
                </a:solidFill>
                <a:latin typeface="隶书" pitchFamily="49" charset="-122"/>
                <a:ea typeface="隶书" pitchFamily="49" charset="-122"/>
              </a:rPr>
              <a:t>二、应用效果</a:t>
            </a:r>
          </a:p>
          <a:p>
            <a:pPr eaLnBrk="1" hangingPunct="1">
              <a:defRPr/>
            </a:pPr>
            <a:r>
              <a:rPr lang="zh-CN" altLang="en-US" dirty="0" smtClean="0">
                <a:solidFill>
                  <a:srgbClr val="000000"/>
                </a:solidFill>
                <a:latin typeface="隶书" pitchFamily="49" charset="-122"/>
                <a:ea typeface="隶书" pitchFamily="49" charset="-122"/>
              </a:rPr>
              <a:t>实现自动化。</a:t>
            </a:r>
          </a:p>
          <a:p>
            <a:pPr marL="0" indent="0" eaLnBrk="1" hangingPunct="1">
              <a:buFont typeface="Wingdings" pitchFamily="2" charset="2"/>
              <a:buNone/>
              <a:defRPr/>
            </a:pPr>
            <a:r>
              <a:rPr lang="en-US" altLang="zh-CN" dirty="0" smtClean="0">
                <a:solidFill>
                  <a:srgbClr val="000000"/>
                </a:solidFill>
                <a:latin typeface="隶书" pitchFamily="49" charset="-122"/>
                <a:ea typeface="隶书" pitchFamily="49" charset="-122"/>
              </a:rPr>
              <a:t>1</a:t>
            </a:r>
            <a:r>
              <a:rPr lang="zh-CN" altLang="en-US" dirty="0" smtClean="0">
                <a:solidFill>
                  <a:srgbClr val="000000"/>
                </a:solidFill>
                <a:latin typeface="隶书" pitchFamily="49" charset="-122"/>
                <a:ea typeface="隶书" pitchFamily="49" charset="-122"/>
              </a:rPr>
              <a:t>、可以提高劳动生产率和产品质量，降低生产成本，提高经济效益，改善劳动条件；</a:t>
            </a:r>
            <a:endParaRPr lang="en-US" altLang="zh-CN" dirty="0" smtClean="0">
              <a:solidFill>
                <a:srgbClr val="000000"/>
              </a:solidFill>
              <a:latin typeface="隶书" pitchFamily="49" charset="-122"/>
              <a:ea typeface="隶书" pitchFamily="49" charset="-122"/>
            </a:endParaRPr>
          </a:p>
          <a:p>
            <a:pPr marL="0" indent="0" eaLnBrk="1" hangingPunct="1">
              <a:buFont typeface="Wingdings" pitchFamily="2" charset="2"/>
              <a:buNone/>
              <a:defRPr/>
            </a:pPr>
            <a:r>
              <a:rPr lang="en-US" altLang="zh-CN" dirty="0" smtClean="0">
                <a:solidFill>
                  <a:srgbClr val="000000"/>
                </a:solidFill>
                <a:latin typeface="隶书" pitchFamily="49" charset="-122"/>
                <a:ea typeface="隶书" pitchFamily="49" charset="-122"/>
              </a:rPr>
              <a:t>2</a:t>
            </a:r>
            <a:r>
              <a:rPr lang="zh-CN" altLang="en-US" dirty="0" smtClean="0">
                <a:solidFill>
                  <a:srgbClr val="000000"/>
                </a:solidFill>
                <a:latin typeface="隶书" pitchFamily="49" charset="-122"/>
                <a:ea typeface="隶书" pitchFamily="49" charset="-122"/>
              </a:rPr>
              <a:t>、使人们从繁重的体力劳动和单调重复的脑力劳动中解放出来；</a:t>
            </a:r>
            <a:endParaRPr lang="en-US" altLang="zh-CN" dirty="0" smtClean="0">
              <a:solidFill>
                <a:srgbClr val="000000"/>
              </a:solidFill>
              <a:latin typeface="隶书" pitchFamily="49" charset="-122"/>
              <a:ea typeface="隶书" pitchFamily="49" charset="-122"/>
            </a:endParaRPr>
          </a:p>
          <a:p>
            <a:pPr marL="0" indent="0" eaLnBrk="1" hangingPunct="1">
              <a:buFont typeface="Wingdings" pitchFamily="2" charset="2"/>
              <a:buNone/>
              <a:defRPr/>
            </a:pPr>
            <a:r>
              <a:rPr lang="en-US" altLang="zh-CN" dirty="0" smtClean="0">
                <a:solidFill>
                  <a:srgbClr val="000000"/>
                </a:solidFill>
                <a:latin typeface="隶书" pitchFamily="49" charset="-122"/>
                <a:ea typeface="隶书" pitchFamily="49" charset="-122"/>
              </a:rPr>
              <a:t>3</a:t>
            </a:r>
            <a:r>
              <a:rPr lang="zh-CN" altLang="en-US" dirty="0" smtClean="0">
                <a:solidFill>
                  <a:srgbClr val="000000"/>
                </a:solidFill>
                <a:latin typeface="隶书" pitchFamily="49" charset="-122"/>
                <a:ea typeface="隶书" pitchFamily="49" charset="-122"/>
              </a:rPr>
              <a:t>、在恶劣的环境或人们无法达到的环境中实现自动控制</a:t>
            </a:r>
            <a:endParaRPr lang="en-US" altLang="zh-CN" dirty="0" smtClean="0">
              <a:solidFill>
                <a:srgbClr val="000000"/>
              </a:solidFill>
              <a:latin typeface="隶书" pitchFamily="49" charset="-122"/>
              <a:ea typeface="隶书" pitchFamily="49" charset="-122"/>
            </a:endParaRPr>
          </a:p>
          <a:p>
            <a:pPr marL="0" indent="0" eaLnBrk="1" hangingPunct="1">
              <a:buFont typeface="Wingdings" pitchFamily="2" charset="2"/>
              <a:buNone/>
              <a:defRPr/>
            </a:pPr>
            <a:r>
              <a:rPr lang="en-US" altLang="zh-CN" dirty="0" smtClean="0">
                <a:solidFill>
                  <a:srgbClr val="000000"/>
                </a:solidFill>
                <a:latin typeface="隶书" pitchFamily="49" charset="-122"/>
                <a:ea typeface="隶书" pitchFamily="49" charset="-122"/>
              </a:rPr>
              <a:t>4</a:t>
            </a:r>
            <a:r>
              <a:rPr lang="zh-CN" altLang="en-US" dirty="0" smtClean="0">
                <a:solidFill>
                  <a:srgbClr val="000000"/>
                </a:solidFill>
                <a:latin typeface="隶书" pitchFamily="49" charset="-122"/>
                <a:ea typeface="隶书" pitchFamily="49" charset="-122"/>
              </a:rPr>
              <a:t>、可以长时间不疲劳的工作，以提高工作效率。 </a:t>
            </a:r>
          </a:p>
          <a:p>
            <a:pPr eaLnBrk="1" hangingPunct="1">
              <a:defRPr/>
            </a:pPr>
            <a:endParaRPr lang="en-US" altLang="zh-CN" dirty="0" smtClean="0"/>
          </a:p>
        </p:txBody>
      </p:sp>
    </p:spTree>
    <p:extLst>
      <p:ext uri="{BB962C8B-B14F-4D97-AF65-F5344CB8AC3E}">
        <p14:creationId xmlns:p14="http://schemas.microsoft.com/office/powerpoint/2010/main" val="37448053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3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4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19458" name="Rectangle 2"/>
          <p:cNvSpPr>
            <a:spLocks noGrp="1" noRot="1" noChangeArrowheads="1"/>
          </p:cNvSpPr>
          <p:nvPr>
            <p:ph type="title"/>
          </p:nvPr>
        </p:nvSpPr>
        <p:spPr>
          <a:xfrm>
            <a:off x="77788" y="977900"/>
            <a:ext cx="8964612" cy="546100"/>
          </a:xfrm>
        </p:spPr>
        <p:txBody>
          <a:bodyPr/>
          <a:lstStyle/>
          <a:p>
            <a:pPr eaLnBrk="1" hangingPunct="1"/>
            <a:r>
              <a:rPr lang="zh-CN" altLang="en-US" sz="4000" smtClean="0">
                <a:solidFill>
                  <a:srgbClr val="000000"/>
                </a:solidFill>
                <a:ea typeface="华文新魏" pitchFamily="2" charset="-122"/>
              </a:rPr>
              <a:t>自动控制原理课程的任务与体系结构</a:t>
            </a:r>
          </a:p>
        </p:txBody>
      </p:sp>
      <p:pic>
        <p:nvPicPr>
          <p:cNvPr id="16" name="Picture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0800" y="2505075"/>
            <a:ext cx="1057275" cy="117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6975" y="2505075"/>
            <a:ext cx="1695450" cy="117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7763" y="2789238"/>
            <a:ext cx="1085850"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0" y="3721100"/>
            <a:ext cx="279082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0" y="2212975"/>
            <a:ext cx="2771775"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 name="Picture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35488" y="1866900"/>
            <a:ext cx="1295400" cy="26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Picture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35488" y="4271963"/>
            <a:ext cx="133350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 name="Picture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67225" y="2576513"/>
            <a:ext cx="125730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 name="Picture 2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52938" y="2973388"/>
            <a:ext cx="1571625"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 name="Picture 2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48175" y="3411538"/>
            <a:ext cx="12763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 name="矩形 1"/>
          <p:cNvSpPr>
            <a:spLocks noChangeArrowheads="1"/>
          </p:cNvSpPr>
          <p:nvPr/>
        </p:nvSpPr>
        <p:spPr bwMode="auto">
          <a:xfrm>
            <a:off x="3159125" y="5013325"/>
            <a:ext cx="3068638"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a:latin typeface="隶书" pitchFamily="49" charset="-122"/>
                <a:ea typeface="隶书" pitchFamily="49" charset="-122"/>
              </a:rPr>
              <a:t>本课程体系框图</a:t>
            </a:r>
          </a:p>
        </p:txBody>
      </p:sp>
    </p:spTree>
    <p:extLst>
      <p:ext uri="{BB962C8B-B14F-4D97-AF65-F5344CB8AC3E}">
        <p14:creationId xmlns:p14="http://schemas.microsoft.com/office/powerpoint/2010/main" val="7927340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1000"/>
                                        <p:tgtEl>
                                          <p:spTgt spid="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1500"/>
                                        <p:tgtEl>
                                          <p:spTgt spid="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1000"/>
                                        <p:tgtEl>
                                          <p:spTgt spid="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left)">
                                      <p:cBhvr>
                                        <p:cTn id="22" dur="1250"/>
                                        <p:tgtEl>
                                          <p:spTgt spid="20"/>
                                        </p:tgtEl>
                                      </p:cBhvr>
                                    </p:animEffect>
                                  </p:childTnLst>
                                </p:cTn>
                              </p:par>
                            </p:childTnLst>
                          </p:cTn>
                        </p:par>
                        <p:par>
                          <p:cTn id="23" fill="hold" nodeType="afterGroup">
                            <p:stCondLst>
                              <p:cond delay="1250"/>
                            </p:stCondLst>
                            <p:childTnLst>
                              <p:par>
                                <p:cTn id="24" presetID="12" presetClass="entr" presetSubtype="4" fill="hold" nodeType="afterEffect">
                                  <p:stCondLst>
                                    <p:cond delay="0"/>
                                  </p:stCondLst>
                                  <p:childTnLst>
                                    <p:set>
                                      <p:cBhvr>
                                        <p:cTn id="25" dur="1" fill="hold">
                                          <p:stCondLst>
                                            <p:cond delay="0"/>
                                          </p:stCondLst>
                                        </p:cTn>
                                        <p:tgtEl>
                                          <p:spTgt spid="21"/>
                                        </p:tgtEl>
                                        <p:attrNameLst>
                                          <p:attrName>style.visibility</p:attrName>
                                        </p:attrNameLst>
                                      </p:cBhvr>
                                      <p:to>
                                        <p:strVal val="visible"/>
                                      </p:to>
                                    </p:set>
                                    <p:anim calcmode="lin" valueType="num">
                                      <p:cBhvr additive="base">
                                        <p:cTn id="26" dur="500"/>
                                        <p:tgtEl>
                                          <p:spTgt spid="21"/>
                                        </p:tgtEl>
                                        <p:attrNameLst>
                                          <p:attrName>ppt_y</p:attrName>
                                        </p:attrNameLst>
                                      </p:cBhvr>
                                      <p:tavLst>
                                        <p:tav tm="0">
                                          <p:val>
                                            <p:strVal val="#ppt_y+#ppt_h*1.125000"/>
                                          </p:val>
                                        </p:tav>
                                        <p:tav tm="100000">
                                          <p:val>
                                            <p:strVal val="#ppt_y"/>
                                          </p:val>
                                        </p:tav>
                                      </p:tavLst>
                                    </p:anim>
                                    <p:animEffect transition="in" filter="wipe(up)">
                                      <p:cBhvr>
                                        <p:cTn id="27" dur="500"/>
                                        <p:tgtEl>
                                          <p:spTgt spid="2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2"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right)">
                                      <p:cBhvr>
                                        <p:cTn id="32" dur="1500"/>
                                        <p:tgtEl>
                                          <p:spTgt spid="19"/>
                                        </p:tgtEl>
                                      </p:cBhvr>
                                    </p:animEffect>
                                  </p:childTnLst>
                                </p:cTn>
                              </p:par>
                            </p:childTnLst>
                          </p:cTn>
                        </p:par>
                        <p:par>
                          <p:cTn id="33" fill="hold" nodeType="afterGroup">
                            <p:stCondLst>
                              <p:cond delay="1500"/>
                            </p:stCondLst>
                            <p:childTnLst>
                              <p:par>
                                <p:cTn id="34" presetID="12" presetClass="entr" presetSubtype="1" fill="hold" nodeType="afterEffect">
                                  <p:stCondLst>
                                    <p:cond delay="0"/>
                                  </p:stCondLst>
                                  <p:childTnLst>
                                    <p:set>
                                      <p:cBhvr>
                                        <p:cTn id="35" dur="1" fill="hold">
                                          <p:stCondLst>
                                            <p:cond delay="0"/>
                                          </p:stCondLst>
                                        </p:cTn>
                                        <p:tgtEl>
                                          <p:spTgt spid="22"/>
                                        </p:tgtEl>
                                        <p:attrNameLst>
                                          <p:attrName>style.visibility</p:attrName>
                                        </p:attrNameLst>
                                      </p:cBhvr>
                                      <p:to>
                                        <p:strVal val="visible"/>
                                      </p:to>
                                    </p:set>
                                    <p:anim calcmode="lin" valueType="num">
                                      <p:cBhvr additive="base">
                                        <p:cTn id="36" dur="500"/>
                                        <p:tgtEl>
                                          <p:spTgt spid="22"/>
                                        </p:tgtEl>
                                        <p:attrNameLst>
                                          <p:attrName>ppt_y</p:attrName>
                                        </p:attrNameLst>
                                      </p:cBhvr>
                                      <p:tavLst>
                                        <p:tav tm="0">
                                          <p:val>
                                            <p:strVal val="#ppt_y-#ppt_h*1.125000"/>
                                          </p:val>
                                        </p:tav>
                                        <p:tav tm="100000">
                                          <p:val>
                                            <p:strVal val="#ppt_y"/>
                                          </p:val>
                                        </p:tav>
                                      </p:tavLst>
                                    </p:anim>
                                    <p:animEffect transition="in" filter="wipe(down)">
                                      <p:cBhvr>
                                        <p:cTn id="37" dur="500"/>
                                        <p:tgtEl>
                                          <p:spTgt spid="2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3" presetClass="entr" presetSubtype="16" fill="hold" nodeType="clickEffect">
                                  <p:stCondLst>
                                    <p:cond delay="0"/>
                                  </p:stCondLst>
                                  <p:childTnLst>
                                    <p:set>
                                      <p:cBhvr>
                                        <p:cTn id="41" dur="1" fill="hold">
                                          <p:stCondLst>
                                            <p:cond delay="0"/>
                                          </p:stCondLst>
                                        </p:cTn>
                                        <p:tgtEl>
                                          <p:spTgt spid="23"/>
                                        </p:tgtEl>
                                        <p:attrNameLst>
                                          <p:attrName>style.visibility</p:attrName>
                                        </p:attrNameLst>
                                      </p:cBhvr>
                                      <p:to>
                                        <p:strVal val="visible"/>
                                      </p:to>
                                    </p:set>
                                    <p:anim calcmode="lin" valueType="num">
                                      <p:cBhvr>
                                        <p:cTn id="42" dur="1000" fill="hold"/>
                                        <p:tgtEl>
                                          <p:spTgt spid="23"/>
                                        </p:tgtEl>
                                        <p:attrNameLst>
                                          <p:attrName>ppt_w</p:attrName>
                                        </p:attrNameLst>
                                      </p:cBhvr>
                                      <p:tavLst>
                                        <p:tav tm="0">
                                          <p:val>
                                            <p:fltVal val="0"/>
                                          </p:val>
                                        </p:tav>
                                        <p:tav tm="100000">
                                          <p:val>
                                            <p:strVal val="#ppt_w"/>
                                          </p:val>
                                        </p:tav>
                                      </p:tavLst>
                                    </p:anim>
                                    <p:anim calcmode="lin" valueType="num">
                                      <p:cBhvr>
                                        <p:cTn id="43" dur="1000" fill="hold"/>
                                        <p:tgtEl>
                                          <p:spTgt spid="23"/>
                                        </p:tgtEl>
                                        <p:attrNameLst>
                                          <p:attrName>ppt_h</p:attrName>
                                        </p:attrNameLst>
                                      </p:cBhvr>
                                      <p:tavLst>
                                        <p:tav tm="0">
                                          <p:val>
                                            <p:fltVal val="0"/>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3" presetClass="entr" presetSubtype="16" fill="hold" nodeType="clickEffect">
                                  <p:stCondLst>
                                    <p:cond delay="0"/>
                                  </p:stCondLst>
                                  <p:childTnLst>
                                    <p:set>
                                      <p:cBhvr>
                                        <p:cTn id="47" dur="1" fill="hold">
                                          <p:stCondLst>
                                            <p:cond delay="0"/>
                                          </p:stCondLst>
                                        </p:cTn>
                                        <p:tgtEl>
                                          <p:spTgt spid="24"/>
                                        </p:tgtEl>
                                        <p:attrNameLst>
                                          <p:attrName>style.visibility</p:attrName>
                                        </p:attrNameLst>
                                      </p:cBhvr>
                                      <p:to>
                                        <p:strVal val="visible"/>
                                      </p:to>
                                    </p:set>
                                    <p:anim calcmode="lin" valueType="num">
                                      <p:cBhvr>
                                        <p:cTn id="48" dur="1000" fill="hold"/>
                                        <p:tgtEl>
                                          <p:spTgt spid="24"/>
                                        </p:tgtEl>
                                        <p:attrNameLst>
                                          <p:attrName>ppt_w</p:attrName>
                                        </p:attrNameLst>
                                      </p:cBhvr>
                                      <p:tavLst>
                                        <p:tav tm="0">
                                          <p:val>
                                            <p:fltVal val="0"/>
                                          </p:val>
                                        </p:tav>
                                        <p:tav tm="100000">
                                          <p:val>
                                            <p:strVal val="#ppt_w"/>
                                          </p:val>
                                        </p:tav>
                                      </p:tavLst>
                                    </p:anim>
                                    <p:anim calcmode="lin" valueType="num">
                                      <p:cBhvr>
                                        <p:cTn id="49" dur="1000" fill="hold"/>
                                        <p:tgtEl>
                                          <p:spTgt spid="24"/>
                                        </p:tgtEl>
                                        <p:attrNameLst>
                                          <p:attrName>ppt_h</p:attrName>
                                        </p:attrNameLst>
                                      </p:cBhvr>
                                      <p:tavLst>
                                        <p:tav tm="0">
                                          <p:val>
                                            <p:fltVal val="0"/>
                                          </p:val>
                                        </p:tav>
                                        <p:tav tm="100000">
                                          <p:val>
                                            <p:strVal val="#ppt_h"/>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23" presetClass="entr" presetSubtype="16" fill="hold" nodeType="clickEffect">
                                  <p:stCondLst>
                                    <p:cond delay="0"/>
                                  </p:stCondLst>
                                  <p:childTnLst>
                                    <p:set>
                                      <p:cBhvr>
                                        <p:cTn id="53" dur="1" fill="hold">
                                          <p:stCondLst>
                                            <p:cond delay="0"/>
                                          </p:stCondLst>
                                        </p:cTn>
                                        <p:tgtEl>
                                          <p:spTgt spid="25"/>
                                        </p:tgtEl>
                                        <p:attrNameLst>
                                          <p:attrName>style.visibility</p:attrName>
                                        </p:attrNameLst>
                                      </p:cBhvr>
                                      <p:to>
                                        <p:strVal val="visible"/>
                                      </p:to>
                                    </p:set>
                                    <p:anim calcmode="lin" valueType="num">
                                      <p:cBhvr>
                                        <p:cTn id="54" dur="500" fill="hold"/>
                                        <p:tgtEl>
                                          <p:spTgt spid="25"/>
                                        </p:tgtEl>
                                        <p:attrNameLst>
                                          <p:attrName>ppt_w</p:attrName>
                                        </p:attrNameLst>
                                      </p:cBhvr>
                                      <p:tavLst>
                                        <p:tav tm="0">
                                          <p:val>
                                            <p:fltVal val="0"/>
                                          </p:val>
                                        </p:tav>
                                        <p:tav tm="100000">
                                          <p:val>
                                            <p:strVal val="#ppt_w"/>
                                          </p:val>
                                        </p:tav>
                                      </p:tavLst>
                                    </p:anim>
                                    <p:anim calcmode="lin" valueType="num">
                                      <p:cBhvr>
                                        <p:cTn id="55" dur="500" fill="hold"/>
                                        <p:tgtEl>
                                          <p:spTgt spid="25"/>
                                        </p:tgtEl>
                                        <p:attrNameLst>
                                          <p:attrName>ppt_h</p:attrName>
                                        </p:attrNameLst>
                                      </p:cBhvr>
                                      <p:tavLst>
                                        <p:tav tm="0">
                                          <p:val>
                                            <p:fltVal val="0"/>
                                          </p:val>
                                        </p:tav>
                                        <p:tav tm="100000">
                                          <p:val>
                                            <p:strVal val="#ppt_h"/>
                                          </p:val>
                                        </p:tav>
                                      </p:tavLst>
                                    </p:anim>
                                  </p:childTnLst>
                                </p:cTn>
                              </p:par>
                            </p:childTnLst>
                          </p:cTn>
                        </p:par>
                        <p:par>
                          <p:cTn id="56" fill="hold" nodeType="afterGroup">
                            <p:stCondLst>
                              <p:cond delay="500"/>
                            </p:stCondLst>
                            <p:childTnLst>
                              <p:par>
                                <p:cTn id="57" presetID="22" presetClass="entr" presetSubtype="8" fill="hold" grpId="0" nodeType="after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wipe(left)">
                                      <p:cBhvr>
                                        <p:cTn id="59" dur="12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a:xfrm>
            <a:off x="179512" y="823913"/>
            <a:ext cx="8785225" cy="647700"/>
          </a:xfrm>
        </p:spPr>
        <p:txBody>
          <a:bodyPr/>
          <a:lstStyle/>
          <a:p>
            <a:pPr eaLnBrk="1" hangingPunct="1"/>
            <a:r>
              <a:rPr lang="en-US" altLang="zh-CN" b="1" dirty="0" smtClean="0">
                <a:solidFill>
                  <a:srgbClr val="000000"/>
                </a:solidFill>
                <a:latin typeface="隶书" pitchFamily="49" charset="-122"/>
                <a:ea typeface="隶书" pitchFamily="49" charset="-122"/>
              </a:rPr>
              <a:t>§1.2  </a:t>
            </a:r>
            <a:r>
              <a:rPr lang="zh-CN" altLang="en-US" b="1" dirty="0" smtClean="0">
                <a:solidFill>
                  <a:srgbClr val="000000"/>
                </a:solidFill>
                <a:latin typeface="隶书" pitchFamily="49" charset="-122"/>
                <a:ea typeface="隶书" pitchFamily="49" charset="-122"/>
              </a:rPr>
              <a:t>自动控制理论发展概述 </a:t>
            </a:r>
            <a:endParaRPr lang="zh-CN" altLang="en-US" dirty="0" smtClean="0">
              <a:solidFill>
                <a:srgbClr val="000000"/>
              </a:solidFill>
              <a:latin typeface="隶书" pitchFamily="49" charset="-122"/>
              <a:ea typeface="隶书" pitchFamily="49" charset="-122"/>
            </a:endParaRPr>
          </a:p>
        </p:txBody>
      </p:sp>
      <p:sp>
        <p:nvSpPr>
          <p:cNvPr id="20483" name="Rectangle 3"/>
          <p:cNvSpPr>
            <a:spLocks noGrp="1" noRot="1" noChangeArrowheads="1"/>
          </p:cNvSpPr>
          <p:nvPr>
            <p:ph type="body" idx="1"/>
          </p:nvPr>
        </p:nvSpPr>
        <p:spPr>
          <a:xfrm>
            <a:off x="323850" y="1484313"/>
            <a:ext cx="8540750" cy="4194175"/>
          </a:xfrm>
        </p:spPr>
        <p:txBody>
          <a:bodyPr/>
          <a:lstStyle/>
          <a:p>
            <a:pPr eaLnBrk="1" hangingPunct="1">
              <a:lnSpc>
                <a:spcPct val="80000"/>
              </a:lnSpc>
              <a:spcBef>
                <a:spcPct val="0"/>
              </a:spcBef>
            </a:pPr>
            <a:r>
              <a:rPr kumimoji="1" lang="zh-CN" altLang="en-US" sz="2000" smtClean="0">
                <a:solidFill>
                  <a:srgbClr val="000000"/>
                </a:solidFill>
                <a:latin typeface="隶书" pitchFamily="49" charset="-122"/>
                <a:ea typeface="隶书" pitchFamily="49" charset="-122"/>
              </a:rPr>
              <a:t>经典控制理论     </a:t>
            </a:r>
            <a:r>
              <a:rPr kumimoji="1" lang="en-US" altLang="zh-CN" sz="2000" smtClean="0">
                <a:solidFill>
                  <a:srgbClr val="000000"/>
                </a:solidFill>
                <a:latin typeface="隶书" pitchFamily="49" charset="-122"/>
                <a:ea typeface="隶书" pitchFamily="49" charset="-122"/>
              </a:rPr>
              <a:t>( 19</a:t>
            </a:r>
            <a:r>
              <a:rPr kumimoji="1" lang="zh-CN" altLang="en-US" sz="2000" smtClean="0">
                <a:solidFill>
                  <a:srgbClr val="000000"/>
                </a:solidFill>
                <a:latin typeface="隶书" pitchFamily="49" charset="-122"/>
                <a:ea typeface="隶书" pitchFamily="49" charset="-122"/>
              </a:rPr>
              <a:t>世纪初 </a:t>
            </a:r>
            <a:r>
              <a:rPr kumimoji="1" lang="en-US" altLang="zh-CN" sz="2000" smtClean="0">
                <a:solidFill>
                  <a:srgbClr val="000000"/>
                </a:solidFill>
                <a:latin typeface="隶书" pitchFamily="49" charset="-122"/>
                <a:ea typeface="隶书" pitchFamily="49" charset="-122"/>
              </a:rPr>
              <a:t>)                                                                             </a:t>
            </a:r>
          </a:p>
          <a:p>
            <a:pPr eaLnBrk="1" hangingPunct="1">
              <a:lnSpc>
                <a:spcPct val="80000"/>
              </a:lnSpc>
              <a:spcBef>
                <a:spcPct val="0"/>
              </a:spcBef>
              <a:buFont typeface="Wingdings" pitchFamily="2" charset="2"/>
              <a:buNone/>
            </a:pPr>
            <a:r>
              <a:rPr kumimoji="1" lang="en-US" altLang="zh-CN" sz="2000" smtClean="0">
                <a:solidFill>
                  <a:srgbClr val="000000"/>
                </a:solidFill>
                <a:latin typeface="隶书" pitchFamily="49" charset="-122"/>
                <a:ea typeface="隶书" pitchFamily="49" charset="-122"/>
              </a:rPr>
              <a:t>                                    </a:t>
            </a:r>
            <a:r>
              <a:rPr kumimoji="1" lang="zh-CN" altLang="en-US" sz="2000" smtClean="0">
                <a:solidFill>
                  <a:srgbClr val="000000"/>
                </a:solidFill>
                <a:latin typeface="隶书" pitchFamily="49" charset="-122"/>
                <a:ea typeface="隶书" pitchFamily="49" charset="-122"/>
              </a:rPr>
              <a:t>时域法</a:t>
            </a:r>
          </a:p>
          <a:p>
            <a:pPr eaLnBrk="1" hangingPunct="1">
              <a:lnSpc>
                <a:spcPct val="80000"/>
              </a:lnSpc>
              <a:spcBef>
                <a:spcPct val="0"/>
              </a:spcBef>
              <a:buFont typeface="Wingdings" pitchFamily="2" charset="2"/>
              <a:buNone/>
            </a:pPr>
            <a:r>
              <a:rPr kumimoji="1" lang="zh-CN" altLang="en-US" sz="2000" smtClean="0">
                <a:solidFill>
                  <a:srgbClr val="000000"/>
                </a:solidFill>
                <a:latin typeface="隶书" pitchFamily="49" charset="-122"/>
                <a:ea typeface="隶书" pitchFamily="49" charset="-122"/>
              </a:rPr>
              <a:t>                                    复域法 </a:t>
            </a:r>
            <a:r>
              <a:rPr kumimoji="1" lang="en-US" altLang="zh-CN" sz="2000" smtClean="0">
                <a:solidFill>
                  <a:srgbClr val="000000"/>
                </a:solidFill>
                <a:latin typeface="隶书" pitchFamily="49" charset="-122"/>
                <a:ea typeface="隶书" pitchFamily="49" charset="-122"/>
              </a:rPr>
              <a:t>(</a:t>
            </a:r>
            <a:r>
              <a:rPr kumimoji="1" lang="zh-CN" altLang="en-US" sz="2000" smtClean="0">
                <a:solidFill>
                  <a:srgbClr val="000000"/>
                </a:solidFill>
                <a:latin typeface="隶书" pitchFamily="49" charset="-122"/>
                <a:ea typeface="隶书" pitchFamily="49" charset="-122"/>
              </a:rPr>
              <a:t>根轨迹法</a:t>
            </a:r>
            <a:r>
              <a:rPr kumimoji="1" lang="en-US" altLang="zh-CN" sz="2000" smtClean="0">
                <a:solidFill>
                  <a:srgbClr val="000000"/>
                </a:solidFill>
                <a:latin typeface="隶书" pitchFamily="49" charset="-122"/>
                <a:ea typeface="隶书" pitchFamily="49" charset="-122"/>
              </a:rPr>
              <a:t>)</a:t>
            </a:r>
          </a:p>
          <a:p>
            <a:pPr eaLnBrk="1" hangingPunct="1">
              <a:lnSpc>
                <a:spcPct val="80000"/>
              </a:lnSpc>
              <a:spcBef>
                <a:spcPct val="0"/>
              </a:spcBef>
              <a:buFont typeface="Wingdings" pitchFamily="2" charset="2"/>
              <a:buNone/>
            </a:pPr>
            <a:r>
              <a:rPr kumimoji="1" lang="en-US" altLang="zh-CN" sz="2000" smtClean="0">
                <a:solidFill>
                  <a:srgbClr val="000000"/>
                </a:solidFill>
                <a:latin typeface="隶书" pitchFamily="49" charset="-122"/>
                <a:ea typeface="隶书" pitchFamily="49" charset="-122"/>
              </a:rPr>
              <a:t>                                    </a:t>
            </a:r>
            <a:r>
              <a:rPr kumimoji="1" lang="zh-CN" altLang="en-US" sz="2000" smtClean="0">
                <a:solidFill>
                  <a:srgbClr val="000000"/>
                </a:solidFill>
                <a:latin typeface="隶书" pitchFamily="49" charset="-122"/>
                <a:ea typeface="隶书" pitchFamily="49" charset="-122"/>
              </a:rPr>
              <a:t>频域法            </a:t>
            </a:r>
          </a:p>
          <a:p>
            <a:pPr eaLnBrk="1" hangingPunct="1">
              <a:lnSpc>
                <a:spcPct val="80000"/>
              </a:lnSpc>
              <a:spcBef>
                <a:spcPct val="0"/>
              </a:spcBef>
              <a:buFont typeface="Wingdings" pitchFamily="2" charset="2"/>
              <a:buNone/>
            </a:pPr>
            <a:endParaRPr kumimoji="1" lang="zh-CN" altLang="en-US" sz="2000" smtClean="0">
              <a:solidFill>
                <a:srgbClr val="000000"/>
              </a:solidFill>
              <a:latin typeface="隶书" pitchFamily="49" charset="-122"/>
              <a:ea typeface="隶书" pitchFamily="49" charset="-122"/>
            </a:endParaRPr>
          </a:p>
          <a:p>
            <a:pPr eaLnBrk="1" hangingPunct="1">
              <a:lnSpc>
                <a:spcPct val="80000"/>
              </a:lnSpc>
              <a:spcBef>
                <a:spcPct val="0"/>
              </a:spcBef>
            </a:pPr>
            <a:r>
              <a:rPr kumimoji="1" lang="zh-CN" altLang="en-US" sz="2000" smtClean="0">
                <a:solidFill>
                  <a:srgbClr val="000000"/>
                </a:solidFill>
                <a:latin typeface="隶书" pitchFamily="49" charset="-122"/>
                <a:ea typeface="隶书" pitchFamily="49" charset="-122"/>
              </a:rPr>
              <a:t>现代控制理论    </a:t>
            </a:r>
            <a:r>
              <a:rPr kumimoji="1" lang="en-US" altLang="zh-CN" sz="2000" smtClean="0">
                <a:solidFill>
                  <a:srgbClr val="000000"/>
                </a:solidFill>
                <a:latin typeface="隶书" pitchFamily="49" charset="-122"/>
                <a:ea typeface="隶书" pitchFamily="49" charset="-122"/>
              </a:rPr>
              <a:t>( 20</a:t>
            </a:r>
            <a:r>
              <a:rPr kumimoji="1" lang="zh-CN" altLang="en-US" sz="2000" smtClean="0">
                <a:solidFill>
                  <a:srgbClr val="000000"/>
                </a:solidFill>
                <a:latin typeface="隶书" pitchFamily="49" charset="-122"/>
                <a:ea typeface="隶书" pitchFamily="49" charset="-122"/>
              </a:rPr>
              <a:t>世纪</a:t>
            </a:r>
            <a:r>
              <a:rPr kumimoji="1" lang="en-US" altLang="zh-CN" sz="2000" smtClean="0">
                <a:solidFill>
                  <a:srgbClr val="000000"/>
                </a:solidFill>
                <a:latin typeface="隶书" pitchFamily="49" charset="-122"/>
                <a:ea typeface="隶书" pitchFamily="49" charset="-122"/>
              </a:rPr>
              <a:t>60</a:t>
            </a:r>
            <a:r>
              <a:rPr kumimoji="1" lang="zh-CN" altLang="en-US" sz="2000" smtClean="0">
                <a:solidFill>
                  <a:srgbClr val="000000"/>
                </a:solidFill>
                <a:latin typeface="隶书" pitchFamily="49" charset="-122"/>
                <a:ea typeface="隶书" pitchFamily="49" charset="-122"/>
              </a:rPr>
              <a:t>年代 </a:t>
            </a:r>
            <a:r>
              <a:rPr kumimoji="1" lang="en-US" altLang="zh-CN" sz="2000" smtClean="0">
                <a:solidFill>
                  <a:srgbClr val="000000"/>
                </a:solidFill>
                <a:latin typeface="隶书" pitchFamily="49" charset="-122"/>
                <a:ea typeface="隶书" pitchFamily="49" charset="-122"/>
              </a:rPr>
              <a:t>)</a:t>
            </a:r>
          </a:p>
          <a:p>
            <a:pPr eaLnBrk="1" hangingPunct="1">
              <a:lnSpc>
                <a:spcPct val="80000"/>
              </a:lnSpc>
              <a:spcBef>
                <a:spcPct val="0"/>
              </a:spcBef>
              <a:buFont typeface="Wingdings" pitchFamily="2" charset="2"/>
              <a:buNone/>
            </a:pPr>
            <a:r>
              <a:rPr kumimoji="1" lang="en-US" altLang="zh-CN" sz="2000" smtClean="0">
                <a:solidFill>
                  <a:srgbClr val="000000"/>
                </a:solidFill>
                <a:latin typeface="隶书" pitchFamily="49" charset="-122"/>
                <a:ea typeface="隶书" pitchFamily="49" charset="-122"/>
              </a:rPr>
              <a:t>                       </a:t>
            </a:r>
            <a:r>
              <a:rPr kumimoji="1" lang="zh-CN" altLang="en-US" sz="2000" smtClean="0">
                <a:solidFill>
                  <a:srgbClr val="000000"/>
                </a:solidFill>
                <a:latin typeface="隶书" pitchFamily="49" charset="-122"/>
                <a:ea typeface="隶书" pitchFamily="49" charset="-122"/>
              </a:rPr>
              <a:t>线性系统                自适应控制</a:t>
            </a:r>
          </a:p>
          <a:p>
            <a:pPr eaLnBrk="1" hangingPunct="1">
              <a:lnSpc>
                <a:spcPct val="80000"/>
              </a:lnSpc>
              <a:spcBef>
                <a:spcPct val="0"/>
              </a:spcBef>
              <a:buFont typeface="Wingdings" pitchFamily="2" charset="2"/>
              <a:buNone/>
            </a:pPr>
            <a:r>
              <a:rPr kumimoji="1" lang="zh-CN" altLang="en-US" sz="2000" smtClean="0">
                <a:solidFill>
                  <a:srgbClr val="000000"/>
                </a:solidFill>
                <a:latin typeface="隶书" pitchFamily="49" charset="-122"/>
                <a:ea typeface="隶书" pitchFamily="49" charset="-122"/>
              </a:rPr>
              <a:t>                       最优控制                鲁棒控制</a:t>
            </a:r>
          </a:p>
          <a:p>
            <a:pPr eaLnBrk="1" hangingPunct="1">
              <a:lnSpc>
                <a:spcPct val="80000"/>
              </a:lnSpc>
              <a:spcBef>
                <a:spcPct val="0"/>
              </a:spcBef>
              <a:buFont typeface="Wingdings" pitchFamily="2" charset="2"/>
              <a:buNone/>
            </a:pPr>
            <a:r>
              <a:rPr kumimoji="1" lang="zh-CN" altLang="en-US" sz="2000" smtClean="0">
                <a:solidFill>
                  <a:srgbClr val="000000"/>
                </a:solidFill>
                <a:latin typeface="隶书" pitchFamily="49" charset="-122"/>
                <a:ea typeface="隶书" pitchFamily="49" charset="-122"/>
              </a:rPr>
              <a:t>                       最佳估计                容错控制</a:t>
            </a:r>
          </a:p>
          <a:p>
            <a:pPr eaLnBrk="1" hangingPunct="1">
              <a:lnSpc>
                <a:spcPct val="80000"/>
              </a:lnSpc>
              <a:spcBef>
                <a:spcPct val="0"/>
              </a:spcBef>
              <a:buFont typeface="Wingdings" pitchFamily="2" charset="2"/>
              <a:buNone/>
            </a:pPr>
            <a:r>
              <a:rPr kumimoji="1" lang="zh-CN" altLang="en-US" sz="2000" smtClean="0">
                <a:solidFill>
                  <a:srgbClr val="000000"/>
                </a:solidFill>
                <a:latin typeface="隶书" pitchFamily="49" charset="-122"/>
                <a:ea typeface="隶书" pitchFamily="49" charset="-122"/>
              </a:rPr>
              <a:t>                       系统辨识                集散控制 </a:t>
            </a:r>
          </a:p>
          <a:p>
            <a:pPr eaLnBrk="1" hangingPunct="1">
              <a:lnSpc>
                <a:spcPct val="80000"/>
              </a:lnSpc>
              <a:spcBef>
                <a:spcPct val="0"/>
              </a:spcBef>
              <a:buFont typeface="Wingdings" pitchFamily="2" charset="2"/>
              <a:buNone/>
            </a:pPr>
            <a:r>
              <a:rPr kumimoji="1" lang="zh-CN" altLang="en-US" sz="2000" smtClean="0">
                <a:solidFill>
                  <a:srgbClr val="000000"/>
                </a:solidFill>
                <a:latin typeface="隶书" pitchFamily="49" charset="-122"/>
                <a:ea typeface="隶书" pitchFamily="49" charset="-122"/>
              </a:rPr>
              <a:t>                       大系统复杂系统</a:t>
            </a:r>
          </a:p>
          <a:p>
            <a:pPr eaLnBrk="1" hangingPunct="1">
              <a:lnSpc>
                <a:spcPct val="80000"/>
              </a:lnSpc>
              <a:spcBef>
                <a:spcPct val="0"/>
              </a:spcBef>
            </a:pPr>
            <a:r>
              <a:rPr kumimoji="1" lang="zh-CN" altLang="en-US" sz="2000" smtClean="0">
                <a:solidFill>
                  <a:srgbClr val="000000"/>
                </a:solidFill>
                <a:latin typeface="隶书" pitchFamily="49" charset="-122"/>
                <a:ea typeface="隶书" pitchFamily="49" charset="-122"/>
              </a:rPr>
              <a:t>智能控制理论    </a:t>
            </a:r>
            <a:r>
              <a:rPr kumimoji="1" lang="en-US" altLang="zh-CN" sz="2000" smtClean="0">
                <a:solidFill>
                  <a:srgbClr val="000000"/>
                </a:solidFill>
                <a:latin typeface="隶书" pitchFamily="49" charset="-122"/>
                <a:ea typeface="隶书" pitchFamily="49" charset="-122"/>
              </a:rPr>
              <a:t>( 20</a:t>
            </a:r>
            <a:r>
              <a:rPr kumimoji="1" lang="zh-CN" altLang="en-US" sz="2000" smtClean="0">
                <a:solidFill>
                  <a:srgbClr val="000000"/>
                </a:solidFill>
                <a:latin typeface="隶书" pitchFamily="49" charset="-122"/>
                <a:ea typeface="隶书" pitchFamily="49" charset="-122"/>
              </a:rPr>
              <a:t>世纪</a:t>
            </a:r>
            <a:r>
              <a:rPr kumimoji="1" lang="en-US" altLang="zh-CN" sz="2000" smtClean="0">
                <a:solidFill>
                  <a:srgbClr val="000000"/>
                </a:solidFill>
                <a:latin typeface="隶书" pitchFamily="49" charset="-122"/>
                <a:ea typeface="隶书" pitchFamily="49" charset="-122"/>
              </a:rPr>
              <a:t>70</a:t>
            </a:r>
            <a:r>
              <a:rPr kumimoji="1" lang="zh-CN" altLang="en-US" sz="2000" smtClean="0">
                <a:solidFill>
                  <a:srgbClr val="000000"/>
                </a:solidFill>
                <a:latin typeface="隶书" pitchFamily="49" charset="-122"/>
                <a:ea typeface="隶书" pitchFamily="49" charset="-122"/>
              </a:rPr>
              <a:t>年代 </a:t>
            </a:r>
            <a:r>
              <a:rPr kumimoji="1" lang="en-US" altLang="zh-CN" sz="2000" smtClean="0">
                <a:solidFill>
                  <a:srgbClr val="000000"/>
                </a:solidFill>
                <a:latin typeface="隶书" pitchFamily="49" charset="-122"/>
                <a:ea typeface="隶书" pitchFamily="49" charset="-122"/>
              </a:rPr>
              <a:t>)</a:t>
            </a:r>
          </a:p>
          <a:p>
            <a:pPr eaLnBrk="1" hangingPunct="1">
              <a:lnSpc>
                <a:spcPct val="80000"/>
              </a:lnSpc>
              <a:spcBef>
                <a:spcPct val="0"/>
              </a:spcBef>
              <a:buFont typeface="Wingdings" pitchFamily="2" charset="2"/>
              <a:buNone/>
            </a:pPr>
            <a:r>
              <a:rPr kumimoji="1" lang="en-US" altLang="zh-CN" sz="2000" smtClean="0">
                <a:solidFill>
                  <a:srgbClr val="000000"/>
                </a:solidFill>
                <a:latin typeface="隶书" pitchFamily="49" charset="-122"/>
                <a:ea typeface="隶书" pitchFamily="49" charset="-122"/>
              </a:rPr>
              <a:t>                                    </a:t>
            </a:r>
            <a:r>
              <a:rPr kumimoji="1" lang="zh-CN" altLang="en-US" sz="2000" smtClean="0">
                <a:solidFill>
                  <a:srgbClr val="000000"/>
                </a:solidFill>
                <a:latin typeface="隶书" pitchFamily="49" charset="-122"/>
                <a:ea typeface="隶书" pitchFamily="49" charset="-122"/>
              </a:rPr>
              <a:t>专家系统</a:t>
            </a:r>
          </a:p>
          <a:p>
            <a:pPr eaLnBrk="1" hangingPunct="1">
              <a:lnSpc>
                <a:spcPct val="80000"/>
              </a:lnSpc>
              <a:spcBef>
                <a:spcPct val="0"/>
              </a:spcBef>
              <a:buFont typeface="Wingdings" pitchFamily="2" charset="2"/>
              <a:buNone/>
            </a:pPr>
            <a:r>
              <a:rPr kumimoji="1" lang="zh-CN" altLang="en-US" sz="2000" smtClean="0">
                <a:solidFill>
                  <a:srgbClr val="000000"/>
                </a:solidFill>
                <a:latin typeface="隶书" pitchFamily="49" charset="-122"/>
                <a:ea typeface="隶书" pitchFamily="49" charset="-122"/>
              </a:rPr>
              <a:t>                                    模糊控制</a:t>
            </a:r>
          </a:p>
          <a:p>
            <a:pPr eaLnBrk="1" hangingPunct="1">
              <a:lnSpc>
                <a:spcPct val="80000"/>
              </a:lnSpc>
              <a:spcBef>
                <a:spcPct val="0"/>
              </a:spcBef>
              <a:buFont typeface="Wingdings" pitchFamily="2" charset="2"/>
              <a:buNone/>
            </a:pPr>
            <a:r>
              <a:rPr kumimoji="1" lang="zh-CN" altLang="en-US" sz="2000" smtClean="0">
                <a:solidFill>
                  <a:srgbClr val="000000"/>
                </a:solidFill>
                <a:latin typeface="隶书" pitchFamily="49" charset="-122"/>
                <a:ea typeface="隶书" pitchFamily="49" charset="-122"/>
              </a:rPr>
              <a:t>                                    神经网络</a:t>
            </a:r>
          </a:p>
          <a:p>
            <a:pPr eaLnBrk="1" hangingPunct="1">
              <a:lnSpc>
                <a:spcPct val="80000"/>
              </a:lnSpc>
              <a:spcBef>
                <a:spcPct val="0"/>
              </a:spcBef>
              <a:buFont typeface="Wingdings" pitchFamily="2" charset="2"/>
              <a:buNone/>
            </a:pPr>
            <a:r>
              <a:rPr kumimoji="1" lang="zh-CN" altLang="en-US" sz="2000" smtClean="0">
                <a:solidFill>
                  <a:srgbClr val="000000"/>
                </a:solidFill>
                <a:latin typeface="隶书" pitchFamily="49" charset="-122"/>
                <a:ea typeface="隶书" pitchFamily="49" charset="-122"/>
              </a:rPr>
              <a:t>                                    遗传算法</a:t>
            </a:r>
            <a:endParaRPr kumimoji="1" lang="en-US" altLang="zh-CN" sz="2000" smtClean="0">
              <a:solidFill>
                <a:srgbClr val="000000"/>
              </a:solidFill>
              <a:latin typeface="隶书" pitchFamily="49" charset="-122"/>
              <a:ea typeface="隶书" pitchFamily="49" charset="-122"/>
            </a:endParaRPr>
          </a:p>
          <a:p>
            <a:pPr eaLnBrk="1" hangingPunct="1">
              <a:lnSpc>
                <a:spcPct val="80000"/>
              </a:lnSpc>
              <a:spcBef>
                <a:spcPct val="0"/>
              </a:spcBef>
              <a:buFont typeface="Wingdings" pitchFamily="2" charset="2"/>
              <a:buNone/>
            </a:pPr>
            <a:r>
              <a:rPr kumimoji="1" lang="en-US" altLang="zh-CN" sz="2000" smtClean="0">
                <a:solidFill>
                  <a:srgbClr val="000000"/>
                </a:solidFill>
                <a:latin typeface="隶书" pitchFamily="49" charset="-122"/>
                <a:ea typeface="隶书" pitchFamily="49" charset="-122"/>
              </a:rPr>
              <a:t>                                    </a:t>
            </a:r>
            <a:r>
              <a:rPr kumimoji="1" lang="zh-CN" altLang="en-US" sz="2000" smtClean="0">
                <a:solidFill>
                  <a:srgbClr val="000000"/>
                </a:solidFill>
                <a:latin typeface="隶书" pitchFamily="49" charset="-122"/>
                <a:ea typeface="隶书" pitchFamily="49" charset="-122"/>
              </a:rPr>
              <a:t>多智能体协同控制</a:t>
            </a:r>
            <a:endParaRPr kumimoji="1" lang="en-US" altLang="zh-CN" sz="2000" smtClean="0">
              <a:solidFill>
                <a:srgbClr val="000000"/>
              </a:solidFill>
              <a:latin typeface="隶书" pitchFamily="49" charset="-122"/>
              <a:ea typeface="隶书" pitchFamily="49" charset="-122"/>
            </a:endParaRPr>
          </a:p>
          <a:p>
            <a:pPr eaLnBrk="1" hangingPunct="1">
              <a:lnSpc>
                <a:spcPct val="80000"/>
              </a:lnSpc>
              <a:spcBef>
                <a:spcPct val="0"/>
              </a:spcBef>
              <a:buFont typeface="Wingdings" pitchFamily="2" charset="2"/>
              <a:buNone/>
            </a:pPr>
            <a:endParaRPr kumimoji="1" lang="zh-CN" altLang="en-US" sz="2000" smtClean="0">
              <a:solidFill>
                <a:srgbClr val="000000"/>
              </a:solidFill>
              <a:latin typeface="隶书" pitchFamily="49" charset="-122"/>
              <a:ea typeface="隶书" pitchFamily="49" charset="-122"/>
            </a:endParaRPr>
          </a:p>
          <a:p>
            <a:pPr eaLnBrk="1" hangingPunct="1">
              <a:lnSpc>
                <a:spcPct val="80000"/>
              </a:lnSpc>
            </a:pPr>
            <a:endParaRPr lang="en-US" altLang="zh-CN" sz="2000" smtClean="0">
              <a:solidFill>
                <a:srgbClr val="000000"/>
              </a:solidFill>
              <a:latin typeface="隶书" pitchFamily="49" charset="-122"/>
              <a:ea typeface="隶书" pitchFamily="49" charset="-122"/>
            </a:endParaRPr>
          </a:p>
        </p:txBody>
      </p:sp>
    </p:spTree>
    <p:extLst>
      <p:ext uri="{BB962C8B-B14F-4D97-AF65-F5344CB8AC3E}">
        <p14:creationId xmlns:p14="http://schemas.microsoft.com/office/powerpoint/2010/main" val="3625601934"/>
      </p:ext>
    </p:extLst>
  </p:cSld>
  <p:clrMapOvr>
    <a:masterClrMapping/>
  </p:clrMapOvr>
  <p:transition spd="slow"/>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Rot="1" noChangeArrowheads="1"/>
          </p:cNvSpPr>
          <p:nvPr>
            <p:ph type="body" idx="1"/>
          </p:nvPr>
        </p:nvSpPr>
        <p:spPr>
          <a:xfrm>
            <a:off x="323850" y="1628775"/>
            <a:ext cx="8540750" cy="4194175"/>
          </a:xfrm>
        </p:spPr>
        <p:txBody>
          <a:bodyPr/>
          <a:lstStyle/>
          <a:p>
            <a:pPr eaLnBrk="1" hangingPunct="1">
              <a:lnSpc>
                <a:spcPct val="80000"/>
              </a:lnSpc>
            </a:pPr>
            <a:r>
              <a:rPr lang="zh-CN" altLang="en-US" sz="2800" dirty="0" smtClean="0">
                <a:solidFill>
                  <a:srgbClr val="000000"/>
                </a:solidFill>
                <a:latin typeface="隶书" pitchFamily="49" charset="-122"/>
                <a:ea typeface="隶书" pitchFamily="49" charset="-122"/>
              </a:rPr>
              <a:t>古代（北宋时代 ），水运仪象台 ，按负反馈原理构成的闭环非线性自动控制系统 ；</a:t>
            </a:r>
          </a:p>
          <a:p>
            <a:pPr eaLnBrk="1" hangingPunct="1">
              <a:lnSpc>
                <a:spcPct val="80000"/>
              </a:lnSpc>
            </a:pPr>
            <a:r>
              <a:rPr lang="en-US" altLang="zh-CN" sz="2800" dirty="0" smtClean="0">
                <a:solidFill>
                  <a:srgbClr val="000000"/>
                </a:solidFill>
                <a:latin typeface="隶书" pitchFamily="49" charset="-122"/>
                <a:ea typeface="隶书" pitchFamily="49" charset="-122"/>
              </a:rPr>
              <a:t>1681</a:t>
            </a:r>
            <a:r>
              <a:rPr lang="zh-CN" altLang="en-US" sz="2800" dirty="0" smtClean="0">
                <a:solidFill>
                  <a:srgbClr val="000000"/>
                </a:solidFill>
                <a:latin typeface="隶书" pitchFamily="49" charset="-122"/>
                <a:ea typeface="隶书" pitchFamily="49" charset="-122"/>
              </a:rPr>
              <a:t>年 ，安全调节装置（锅炉压力调节器 ）；</a:t>
            </a:r>
          </a:p>
          <a:p>
            <a:pPr eaLnBrk="1" hangingPunct="1">
              <a:lnSpc>
                <a:spcPct val="80000"/>
              </a:lnSpc>
            </a:pPr>
            <a:r>
              <a:rPr lang="en-US" altLang="zh-CN" sz="2800" dirty="0" smtClean="0">
                <a:solidFill>
                  <a:srgbClr val="000000"/>
                </a:solidFill>
                <a:latin typeface="隶书" pitchFamily="49" charset="-122"/>
                <a:ea typeface="隶书" pitchFamily="49" charset="-122"/>
              </a:rPr>
              <a:t>1765</a:t>
            </a:r>
            <a:r>
              <a:rPr lang="zh-CN" altLang="en-US" sz="2800" dirty="0" smtClean="0">
                <a:solidFill>
                  <a:srgbClr val="000000"/>
                </a:solidFill>
                <a:latin typeface="隶书" pitchFamily="49" charset="-122"/>
                <a:ea typeface="隶书" pitchFamily="49" charset="-122"/>
              </a:rPr>
              <a:t>年 ，蒸汽锅炉水位调节器；</a:t>
            </a:r>
          </a:p>
          <a:p>
            <a:pPr eaLnBrk="1" hangingPunct="1">
              <a:lnSpc>
                <a:spcPct val="80000"/>
              </a:lnSpc>
            </a:pPr>
            <a:r>
              <a:rPr lang="en-US" altLang="zh-CN" sz="2800" dirty="0" smtClean="0">
                <a:solidFill>
                  <a:srgbClr val="000000"/>
                </a:solidFill>
                <a:latin typeface="隶书" pitchFamily="49" charset="-122"/>
                <a:ea typeface="隶书" pitchFamily="49" charset="-122"/>
              </a:rPr>
              <a:t>1788</a:t>
            </a:r>
            <a:r>
              <a:rPr lang="zh-CN" altLang="en-US" sz="2800" dirty="0" smtClean="0">
                <a:solidFill>
                  <a:srgbClr val="000000"/>
                </a:solidFill>
                <a:latin typeface="隶书" pitchFamily="49" charset="-122"/>
                <a:ea typeface="隶书" pitchFamily="49" charset="-122"/>
              </a:rPr>
              <a:t>年 ，蒸汽机上的离心调速器（瓦特）；</a:t>
            </a:r>
          </a:p>
          <a:p>
            <a:pPr eaLnBrk="1" hangingPunct="1">
              <a:lnSpc>
                <a:spcPct val="80000"/>
              </a:lnSpc>
            </a:pPr>
            <a:r>
              <a:rPr lang="en-US" altLang="zh-CN" sz="2800" dirty="0" smtClean="0">
                <a:solidFill>
                  <a:srgbClr val="000000"/>
                </a:solidFill>
                <a:latin typeface="隶书" pitchFamily="49" charset="-122"/>
                <a:ea typeface="隶书" pitchFamily="49" charset="-122"/>
              </a:rPr>
              <a:t>1868</a:t>
            </a:r>
            <a:r>
              <a:rPr lang="zh-CN" altLang="en-US" sz="2800" dirty="0" smtClean="0">
                <a:solidFill>
                  <a:srgbClr val="000000"/>
                </a:solidFill>
                <a:latin typeface="隶书" pitchFamily="49" charset="-122"/>
                <a:ea typeface="隶书" pitchFamily="49" charset="-122"/>
              </a:rPr>
              <a:t>年， </a:t>
            </a:r>
            <a:r>
              <a:rPr lang="en-US" altLang="zh-CN" sz="2800" dirty="0" smtClean="0">
                <a:solidFill>
                  <a:srgbClr val="000000"/>
                </a:solidFill>
                <a:latin typeface="隶书" pitchFamily="49" charset="-122"/>
                <a:ea typeface="隶书" pitchFamily="49" charset="-122"/>
              </a:rPr>
              <a:t>Maxwell </a:t>
            </a:r>
            <a:r>
              <a:rPr lang="zh-CN" altLang="en-US" sz="2800" dirty="0" smtClean="0">
                <a:solidFill>
                  <a:srgbClr val="000000"/>
                </a:solidFill>
                <a:latin typeface="隶书" pitchFamily="49" charset="-122"/>
                <a:ea typeface="隶书" pitchFamily="49" charset="-122"/>
              </a:rPr>
              <a:t>，对调速系统线性常微分方程的建立和分析，解释了瓦特速度控制系统中出现的不稳定问题。</a:t>
            </a:r>
          </a:p>
          <a:p>
            <a:pPr eaLnBrk="1" hangingPunct="1">
              <a:lnSpc>
                <a:spcPct val="80000"/>
              </a:lnSpc>
            </a:pPr>
            <a:endParaRPr lang="zh-CN" altLang="en-US" sz="2800" dirty="0" smtClean="0">
              <a:solidFill>
                <a:srgbClr val="000000"/>
              </a:solidFill>
              <a:latin typeface="隶书" pitchFamily="49" charset="-122"/>
              <a:ea typeface="隶书" pitchFamily="49" charset="-122"/>
            </a:endParaRPr>
          </a:p>
          <a:p>
            <a:pPr eaLnBrk="1" hangingPunct="1">
              <a:lnSpc>
                <a:spcPct val="80000"/>
              </a:lnSpc>
            </a:pPr>
            <a:endParaRPr lang="zh-CN" altLang="en-US" sz="2800" dirty="0" smtClean="0">
              <a:solidFill>
                <a:srgbClr val="000000"/>
              </a:solidFill>
              <a:latin typeface="隶书" pitchFamily="49" charset="-122"/>
              <a:ea typeface="隶书" pitchFamily="49" charset="-122"/>
            </a:endParaRPr>
          </a:p>
        </p:txBody>
      </p:sp>
      <p:pic>
        <p:nvPicPr>
          <p:cNvPr id="21507" name="Picture 4"/>
          <p:cNvPicPr>
            <a:picLocks noChangeAspect="1" noChangeArrowheads="1"/>
          </p:cNvPicPr>
          <p:nvPr/>
        </p:nvPicPr>
        <p:blipFill>
          <a:blip r:embed="rId2">
            <a:extLst>
              <a:ext uri="{28A0092B-C50C-407E-A947-70E740481C1C}">
                <a14:useLocalDpi xmlns:a14="http://schemas.microsoft.com/office/drawing/2010/main" val="0"/>
              </a:ext>
            </a:extLst>
          </a:blip>
          <a:srcRect l="31500" t="42319" r="36348" b="20116"/>
          <a:stretch>
            <a:fillRect/>
          </a:stretch>
        </p:blipFill>
        <p:spPr bwMode="auto">
          <a:xfrm>
            <a:off x="4932363" y="4365625"/>
            <a:ext cx="3775075" cy="2481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508" name="Rectangle 2"/>
          <p:cNvSpPr txBox="1">
            <a:spLocks noRot="1" noChangeArrowheads="1"/>
          </p:cNvSpPr>
          <p:nvPr/>
        </p:nvSpPr>
        <p:spPr bwMode="auto">
          <a:xfrm>
            <a:off x="288925" y="476250"/>
            <a:ext cx="854075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4400">
                <a:solidFill>
                  <a:schemeClr val="tx2"/>
                </a:solidFill>
                <a:latin typeface="隶书" pitchFamily="49" charset="-122"/>
                <a:ea typeface="隶书" pitchFamily="49" charset="-122"/>
              </a:rPr>
              <a:t>经典控制理论</a:t>
            </a:r>
          </a:p>
        </p:txBody>
      </p:sp>
    </p:spTree>
    <p:extLst>
      <p:ext uri="{BB962C8B-B14F-4D97-AF65-F5344CB8AC3E}">
        <p14:creationId xmlns:p14="http://schemas.microsoft.com/office/powerpoint/2010/main" val="803127508"/>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 calcmode="lin" valueType="num">
                                      <p:cBhvr additive="base">
                                        <p:cTn id="7" dur="500" fill="hold"/>
                                        <p:tgtEl>
                                          <p:spTgt spid="153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3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363">
                                            <p:txEl>
                                              <p:pRg st="1" end="1"/>
                                            </p:txEl>
                                          </p:spTgt>
                                        </p:tgtEl>
                                        <p:attrNameLst>
                                          <p:attrName>style.visibility</p:attrName>
                                        </p:attrNameLst>
                                      </p:cBhvr>
                                      <p:to>
                                        <p:strVal val="visible"/>
                                      </p:to>
                                    </p:set>
                                    <p:anim calcmode="lin" valueType="num">
                                      <p:cBhvr additive="base">
                                        <p:cTn id="13" dur="500" fill="hold"/>
                                        <p:tgtEl>
                                          <p:spTgt spid="1536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3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363">
                                            <p:txEl>
                                              <p:pRg st="2" end="2"/>
                                            </p:txEl>
                                          </p:spTgt>
                                        </p:tgtEl>
                                        <p:attrNameLst>
                                          <p:attrName>style.visibility</p:attrName>
                                        </p:attrNameLst>
                                      </p:cBhvr>
                                      <p:to>
                                        <p:strVal val="visible"/>
                                      </p:to>
                                    </p:set>
                                    <p:anim calcmode="lin" valueType="num">
                                      <p:cBhvr additive="base">
                                        <p:cTn id="19" dur="500" fill="hold"/>
                                        <p:tgtEl>
                                          <p:spTgt spid="1536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3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363">
                                            <p:txEl>
                                              <p:pRg st="3" end="3"/>
                                            </p:txEl>
                                          </p:spTgt>
                                        </p:tgtEl>
                                        <p:attrNameLst>
                                          <p:attrName>style.visibility</p:attrName>
                                        </p:attrNameLst>
                                      </p:cBhvr>
                                      <p:to>
                                        <p:strVal val="visible"/>
                                      </p:to>
                                    </p:set>
                                    <p:anim calcmode="lin" valueType="num">
                                      <p:cBhvr additive="base">
                                        <p:cTn id="25" dur="500" fill="hold"/>
                                        <p:tgtEl>
                                          <p:spTgt spid="1536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36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363">
                                            <p:txEl>
                                              <p:pRg st="4" end="4"/>
                                            </p:txEl>
                                          </p:spTgt>
                                        </p:tgtEl>
                                        <p:attrNameLst>
                                          <p:attrName>style.visibility</p:attrName>
                                        </p:attrNameLst>
                                      </p:cBhvr>
                                      <p:to>
                                        <p:strVal val="visible"/>
                                      </p:to>
                                    </p:set>
                                    <p:anim calcmode="lin" valueType="num">
                                      <p:cBhvr additive="base">
                                        <p:cTn id="31" dur="500" fill="hold"/>
                                        <p:tgtEl>
                                          <p:spTgt spid="1536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36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0" y="1524000"/>
            <a:ext cx="9144000" cy="5334000"/>
          </a:xfrm>
          <a:prstGeom prst="rect">
            <a:avLst/>
          </a:prstGeom>
          <a:noFill/>
          <a:ln>
            <a:noFill/>
          </a:ln>
          <a:effectLst>
            <a:outerShdw dist="45791" dir="2021404" algn="ctr" rotWithShape="0">
              <a:schemeClr val="bg2">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kumimoji="1" lang="zh-CN" altLang="zh-CN" sz="9600" b="1">
              <a:solidFill>
                <a:srgbClr val="FFFF00"/>
              </a:solidFill>
              <a:latin typeface="Times New Roman" pitchFamily="18" charset="0"/>
              <a:ea typeface="华文新魏" pitchFamily="2" charset="-122"/>
            </a:endParaRPr>
          </a:p>
        </p:txBody>
      </p:sp>
      <p:sp>
        <p:nvSpPr>
          <p:cNvPr id="22531" name="Rectangle 3"/>
          <p:cNvSpPr>
            <a:spLocks noGrp="1" noChangeArrowheads="1"/>
          </p:cNvSpPr>
          <p:nvPr>
            <p:ph type="title"/>
          </p:nvPr>
        </p:nvSpPr>
        <p:spPr>
          <a:xfrm>
            <a:off x="90488" y="1524000"/>
            <a:ext cx="8963025" cy="533400"/>
          </a:xfrm>
        </p:spPr>
        <p:txBody>
          <a:bodyPr/>
          <a:lstStyle/>
          <a:p>
            <a:pPr eaLnBrk="1" hangingPunct="1"/>
            <a:r>
              <a:rPr lang="zh-CN" altLang="en-US" sz="3600" smtClean="0">
                <a:solidFill>
                  <a:srgbClr val="000000"/>
                </a:solidFill>
                <a:ea typeface="黑体" pitchFamily="2" charset="-122"/>
              </a:rPr>
              <a:t>调速器工作原理图</a:t>
            </a:r>
          </a:p>
        </p:txBody>
      </p:sp>
      <p:graphicFrame>
        <p:nvGraphicFramePr>
          <p:cNvPr id="22532" name="Object 4"/>
          <p:cNvGraphicFramePr>
            <a:graphicFrameLocks noChangeAspect="1"/>
          </p:cNvGraphicFramePr>
          <p:nvPr/>
        </p:nvGraphicFramePr>
        <p:xfrm>
          <a:off x="1600200" y="2708275"/>
          <a:ext cx="5943600" cy="3968750"/>
        </p:xfrm>
        <a:graphic>
          <a:graphicData uri="http://schemas.openxmlformats.org/presentationml/2006/ole">
            <mc:AlternateContent xmlns:mc="http://schemas.openxmlformats.org/markup-compatibility/2006">
              <mc:Choice xmlns:v="urn:schemas-microsoft-com:vml" Requires="v">
                <p:oleObj spid="_x0000_s389171" name="BMP 图像" r:id="rId3" imgW="5361905" imgH="3580952" progId="Paint.Picture">
                  <p:embed/>
                </p:oleObj>
              </mc:Choice>
              <mc:Fallback>
                <p:oleObj name="BMP 图像" r:id="rId3" imgW="5361905" imgH="3580952"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2708275"/>
                        <a:ext cx="5943600" cy="3968750"/>
                      </a:xfrm>
                      <a:prstGeom prst="rect">
                        <a:avLst/>
                      </a:prstGeom>
                      <a:noFill/>
                      <a:ln>
                        <a:noFill/>
                      </a:ln>
                      <a:effectLst/>
                      <a:extLst>
                        <a:ext uri="{909E8E84-426E-40DD-AFC4-6F175D3DCCD1}">
                          <a14:hiddenFill xmlns:a14="http://schemas.microsoft.com/office/drawing/2010/main">
                            <a:gradFill rotWithShape="0">
                              <a:gsLst>
                                <a:gs pos="0">
                                  <a:srgbClr val="CCFFFF"/>
                                </a:gs>
                                <a:gs pos="50000">
                                  <a:srgbClr val="F0FFFF"/>
                                </a:gs>
                                <a:gs pos="100000">
                                  <a:srgbClr val="CCFFFF"/>
                                </a:gs>
                              </a:gsLst>
                              <a:lin ang="2700000" scaled="1"/>
                            </a:gradFill>
                          </a14:hiddenFill>
                        </a:ext>
                        <a:ext uri="{91240B29-F687-4F45-9708-019B960494DF}">
                          <a14:hiddenLine xmlns:a14="http://schemas.microsoft.com/office/drawing/2010/main" w="9525">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533" name="Rectangle 2"/>
          <p:cNvSpPr txBox="1">
            <a:spLocks noRot="1" noChangeArrowheads="1"/>
          </p:cNvSpPr>
          <p:nvPr/>
        </p:nvSpPr>
        <p:spPr bwMode="auto">
          <a:xfrm>
            <a:off x="288925" y="476250"/>
            <a:ext cx="854075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4400">
                <a:solidFill>
                  <a:schemeClr val="tx2"/>
                </a:solidFill>
                <a:latin typeface="隶书" pitchFamily="49" charset="-122"/>
                <a:ea typeface="隶书" pitchFamily="49" charset="-122"/>
              </a:rPr>
              <a:t>经典控制理论</a:t>
            </a:r>
          </a:p>
        </p:txBody>
      </p:sp>
    </p:spTree>
    <p:extLst>
      <p:ext uri="{BB962C8B-B14F-4D97-AF65-F5344CB8AC3E}">
        <p14:creationId xmlns:p14="http://schemas.microsoft.com/office/powerpoint/2010/main" val="942810525"/>
      </p:ext>
    </p:extLst>
  </p:cSld>
  <p:clrMapOvr>
    <a:masterClrMapping/>
  </p:clrMapOvr>
  <p:transition spd="slow"/>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p:cNvSpPr>
            <a:spLocks noGrp="1" noRot="1" noChangeArrowheads="1"/>
          </p:cNvSpPr>
          <p:nvPr>
            <p:ph type="body" idx="1"/>
          </p:nvPr>
        </p:nvSpPr>
        <p:spPr>
          <a:xfrm>
            <a:off x="301625" y="1412875"/>
            <a:ext cx="8540750" cy="4686300"/>
          </a:xfrm>
        </p:spPr>
        <p:txBody>
          <a:bodyPr/>
          <a:lstStyle/>
          <a:p>
            <a:pPr eaLnBrk="1" hangingPunct="1">
              <a:lnSpc>
                <a:spcPct val="80000"/>
              </a:lnSpc>
            </a:pPr>
            <a:r>
              <a:rPr lang="en-US" altLang="zh-CN" sz="2800" dirty="0" smtClean="0">
                <a:solidFill>
                  <a:srgbClr val="000000"/>
                </a:solidFill>
                <a:latin typeface="隶书" pitchFamily="49" charset="-122"/>
                <a:ea typeface="隶书" pitchFamily="49" charset="-122"/>
              </a:rPr>
              <a:t>1877</a:t>
            </a:r>
            <a:r>
              <a:rPr lang="zh-CN" altLang="en-US" sz="2800" dirty="0" smtClean="0">
                <a:solidFill>
                  <a:srgbClr val="000000"/>
                </a:solidFill>
                <a:latin typeface="隶书" pitchFamily="49" charset="-122"/>
                <a:ea typeface="隶书" pitchFamily="49" charset="-122"/>
              </a:rPr>
              <a:t>年 ：系统稳定性</a:t>
            </a:r>
            <a:r>
              <a:rPr lang="en-US" altLang="zh-CN" sz="2800" dirty="0" smtClean="0">
                <a:solidFill>
                  <a:srgbClr val="000000"/>
                </a:solidFill>
                <a:latin typeface="隶书" pitchFamily="49" charset="-122"/>
                <a:ea typeface="隶书" pitchFamily="49" charset="-122"/>
              </a:rPr>
              <a:t>--</a:t>
            </a:r>
            <a:r>
              <a:rPr lang="zh-CN" altLang="en-US" sz="2800" dirty="0" smtClean="0">
                <a:solidFill>
                  <a:srgbClr val="000000"/>
                </a:solidFill>
                <a:latin typeface="隶书" pitchFamily="49" charset="-122"/>
                <a:ea typeface="隶书" pitchFamily="49" charset="-122"/>
              </a:rPr>
              <a:t>劳斯判据</a:t>
            </a:r>
            <a:endParaRPr lang="en-US" altLang="zh-CN" sz="2800" dirty="0" smtClean="0">
              <a:solidFill>
                <a:srgbClr val="000000"/>
              </a:solidFill>
              <a:latin typeface="隶书" pitchFamily="49" charset="-122"/>
              <a:ea typeface="隶书" pitchFamily="49" charset="-122"/>
            </a:endParaRPr>
          </a:p>
          <a:p>
            <a:pPr eaLnBrk="1" hangingPunct="1">
              <a:lnSpc>
                <a:spcPct val="80000"/>
              </a:lnSpc>
            </a:pPr>
            <a:r>
              <a:rPr lang="en-US" altLang="zh-CN" sz="2800" dirty="0" smtClean="0">
                <a:solidFill>
                  <a:srgbClr val="000000"/>
                </a:solidFill>
                <a:latin typeface="隶书" pitchFamily="49" charset="-122"/>
                <a:ea typeface="隶书" pitchFamily="49" charset="-122"/>
              </a:rPr>
              <a:t>1895</a:t>
            </a:r>
            <a:r>
              <a:rPr lang="zh-CN" altLang="en-US" sz="2800" dirty="0" smtClean="0">
                <a:solidFill>
                  <a:srgbClr val="000000"/>
                </a:solidFill>
                <a:latin typeface="隶书" pitchFamily="49" charset="-122"/>
                <a:ea typeface="隶书" pitchFamily="49" charset="-122"/>
              </a:rPr>
              <a:t>年 ：系统稳定性</a:t>
            </a:r>
            <a:r>
              <a:rPr lang="en-US" altLang="zh-CN" sz="2800" dirty="0" smtClean="0">
                <a:solidFill>
                  <a:srgbClr val="000000"/>
                </a:solidFill>
                <a:latin typeface="隶书" pitchFamily="49" charset="-122"/>
                <a:ea typeface="隶书" pitchFamily="49" charset="-122"/>
              </a:rPr>
              <a:t>--</a:t>
            </a:r>
            <a:r>
              <a:rPr lang="zh-CN" altLang="en-US" sz="2800" dirty="0" smtClean="0">
                <a:solidFill>
                  <a:srgbClr val="000000"/>
                </a:solidFill>
                <a:latin typeface="隶书" pitchFamily="49" charset="-122"/>
                <a:ea typeface="隶书" pitchFamily="49" charset="-122"/>
              </a:rPr>
              <a:t>古尔维茨判据      </a:t>
            </a:r>
            <a:endParaRPr lang="en-US" altLang="zh-CN" sz="2800" dirty="0" smtClean="0">
              <a:solidFill>
                <a:srgbClr val="000000"/>
              </a:solidFill>
              <a:latin typeface="隶书" pitchFamily="49" charset="-122"/>
              <a:ea typeface="隶书" pitchFamily="49" charset="-122"/>
            </a:endParaRPr>
          </a:p>
          <a:p>
            <a:pPr eaLnBrk="1" hangingPunct="1">
              <a:lnSpc>
                <a:spcPct val="80000"/>
              </a:lnSpc>
            </a:pPr>
            <a:r>
              <a:rPr lang="en-US" altLang="zh-CN" sz="2800" dirty="0" smtClean="0">
                <a:solidFill>
                  <a:srgbClr val="000000"/>
                </a:solidFill>
                <a:latin typeface="隶书" pitchFamily="49" charset="-122"/>
                <a:ea typeface="隶书" pitchFamily="49" charset="-122"/>
              </a:rPr>
              <a:t>1892</a:t>
            </a:r>
            <a:r>
              <a:rPr lang="zh-CN" altLang="en-US" sz="2800" dirty="0" smtClean="0">
                <a:solidFill>
                  <a:srgbClr val="000000"/>
                </a:solidFill>
                <a:latin typeface="隶书" pitchFamily="49" charset="-122"/>
                <a:ea typeface="隶书" pitchFamily="49" charset="-122"/>
              </a:rPr>
              <a:t>年 ：系统稳定性</a:t>
            </a:r>
            <a:r>
              <a:rPr lang="en-US" altLang="zh-CN" sz="2800" dirty="0" smtClean="0">
                <a:solidFill>
                  <a:srgbClr val="000000"/>
                </a:solidFill>
                <a:latin typeface="隶书" pitchFamily="49" charset="-122"/>
                <a:ea typeface="隶书" pitchFamily="49" charset="-122"/>
              </a:rPr>
              <a:t>--</a:t>
            </a:r>
            <a:r>
              <a:rPr lang="zh-CN" altLang="en-US" sz="2800" dirty="0" smtClean="0">
                <a:solidFill>
                  <a:srgbClr val="000000"/>
                </a:solidFill>
                <a:latin typeface="隶书" pitchFamily="49" charset="-122"/>
                <a:ea typeface="隶书" pitchFamily="49" charset="-122"/>
              </a:rPr>
              <a:t>李雅普诺夫方法</a:t>
            </a:r>
          </a:p>
          <a:p>
            <a:pPr eaLnBrk="1" hangingPunct="1">
              <a:lnSpc>
                <a:spcPct val="80000"/>
              </a:lnSpc>
            </a:pPr>
            <a:endParaRPr lang="en-US" altLang="zh-CN" sz="2800" dirty="0" smtClean="0">
              <a:solidFill>
                <a:srgbClr val="000000"/>
              </a:solidFill>
              <a:latin typeface="隶书" pitchFamily="49" charset="-122"/>
              <a:ea typeface="隶书" pitchFamily="49" charset="-122"/>
            </a:endParaRPr>
          </a:p>
          <a:p>
            <a:pPr eaLnBrk="1" hangingPunct="1">
              <a:lnSpc>
                <a:spcPct val="80000"/>
              </a:lnSpc>
            </a:pPr>
            <a:r>
              <a:rPr lang="en-US" altLang="zh-CN" sz="2800" dirty="0" smtClean="0">
                <a:solidFill>
                  <a:srgbClr val="000000"/>
                </a:solidFill>
                <a:latin typeface="隶书" pitchFamily="49" charset="-122"/>
                <a:ea typeface="隶书" pitchFamily="49" charset="-122"/>
              </a:rPr>
              <a:t>    </a:t>
            </a:r>
            <a:r>
              <a:rPr lang="zh-CN" altLang="en-US" sz="2800" dirty="0" smtClean="0">
                <a:solidFill>
                  <a:srgbClr val="000000"/>
                </a:solidFill>
                <a:latin typeface="隶书" pitchFamily="49" charset="-122"/>
                <a:ea typeface="隶书" pitchFamily="49" charset="-122"/>
              </a:rPr>
              <a:t>直接根据代数方程（或系统方程）的系数判别系统稳定性的准则。</a:t>
            </a:r>
            <a:endParaRPr lang="en-US" altLang="zh-CN" sz="2800" dirty="0" smtClean="0">
              <a:solidFill>
                <a:srgbClr val="000000"/>
              </a:solidFill>
              <a:latin typeface="隶书" pitchFamily="49" charset="-122"/>
              <a:ea typeface="隶书" pitchFamily="49" charset="-122"/>
            </a:endParaRPr>
          </a:p>
          <a:p>
            <a:pPr eaLnBrk="1" hangingPunct="1">
              <a:lnSpc>
                <a:spcPct val="80000"/>
              </a:lnSpc>
            </a:pPr>
            <a:r>
              <a:rPr lang="zh-CN" altLang="en-US" sz="2800" dirty="0" smtClean="0">
                <a:solidFill>
                  <a:srgbClr val="D903C0"/>
                </a:solidFill>
                <a:latin typeface="隶书" pitchFamily="49" charset="-122"/>
                <a:ea typeface="隶书" pitchFamily="49" charset="-122"/>
              </a:rPr>
              <a:t>时域分析法</a:t>
            </a:r>
          </a:p>
          <a:p>
            <a:pPr eaLnBrk="1" hangingPunct="1">
              <a:lnSpc>
                <a:spcPct val="80000"/>
              </a:lnSpc>
            </a:pPr>
            <a:endParaRPr lang="zh-CN" altLang="en-US" sz="2800" dirty="0" smtClean="0">
              <a:solidFill>
                <a:srgbClr val="D903C0"/>
              </a:solidFill>
              <a:latin typeface="隶书" pitchFamily="49" charset="-122"/>
              <a:ea typeface="隶书" pitchFamily="49" charset="-122"/>
            </a:endParaRPr>
          </a:p>
        </p:txBody>
      </p:sp>
      <p:pic>
        <p:nvPicPr>
          <p:cNvPr id="23555" name="Picture 3"/>
          <p:cNvPicPr>
            <a:picLocks noChangeAspect="1" noChangeArrowheads="1"/>
          </p:cNvPicPr>
          <p:nvPr/>
        </p:nvPicPr>
        <p:blipFill>
          <a:blip r:embed="rId2">
            <a:extLst>
              <a:ext uri="{28A0092B-C50C-407E-A947-70E740481C1C}">
                <a14:useLocalDpi xmlns:a14="http://schemas.microsoft.com/office/drawing/2010/main" val="0"/>
              </a:ext>
            </a:extLst>
          </a:blip>
          <a:srcRect l="26935" t="30841" r="24413" b="28812"/>
          <a:stretch>
            <a:fillRect/>
          </a:stretch>
        </p:blipFill>
        <p:spPr bwMode="auto">
          <a:xfrm>
            <a:off x="2771775" y="4005263"/>
            <a:ext cx="5932488" cy="2767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556" name="Rectangle 2"/>
          <p:cNvSpPr txBox="1">
            <a:spLocks noRot="1" noChangeArrowheads="1"/>
          </p:cNvSpPr>
          <p:nvPr/>
        </p:nvSpPr>
        <p:spPr bwMode="auto">
          <a:xfrm>
            <a:off x="288925" y="476250"/>
            <a:ext cx="8540750"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4400">
                <a:solidFill>
                  <a:schemeClr val="tx2"/>
                </a:solidFill>
                <a:latin typeface="隶书" pitchFamily="49" charset="-122"/>
                <a:ea typeface="隶书" pitchFamily="49" charset="-122"/>
              </a:rPr>
              <a:t>经典控制理论</a:t>
            </a:r>
          </a:p>
        </p:txBody>
      </p:sp>
    </p:spTree>
    <p:extLst>
      <p:ext uri="{BB962C8B-B14F-4D97-AF65-F5344CB8AC3E}">
        <p14:creationId xmlns:p14="http://schemas.microsoft.com/office/powerpoint/2010/main" val="284773608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55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554">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554">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55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p:cNvSpPr>
            <a:spLocks noGrp="1" noRot="1" noChangeArrowheads="1"/>
          </p:cNvSpPr>
          <p:nvPr>
            <p:ph type="body" idx="1"/>
          </p:nvPr>
        </p:nvSpPr>
        <p:spPr>
          <a:xfrm>
            <a:off x="300038" y="1556792"/>
            <a:ext cx="8540750" cy="5046662"/>
          </a:xfrm>
        </p:spPr>
        <p:txBody>
          <a:bodyPr/>
          <a:lstStyle/>
          <a:p>
            <a:pPr eaLnBrk="1" hangingPunct="1">
              <a:lnSpc>
                <a:spcPct val="80000"/>
              </a:lnSpc>
            </a:pPr>
            <a:r>
              <a:rPr lang="en-US" altLang="zh-CN" sz="2800" dirty="0" smtClean="0">
                <a:solidFill>
                  <a:srgbClr val="000000"/>
                </a:solidFill>
                <a:latin typeface="隶书" pitchFamily="49" charset="-122"/>
                <a:ea typeface="隶书" pitchFamily="49" charset="-122"/>
              </a:rPr>
              <a:t>1932</a:t>
            </a:r>
            <a:r>
              <a:rPr lang="zh-CN" altLang="en-US" sz="2800" dirty="0" smtClean="0">
                <a:solidFill>
                  <a:srgbClr val="000000"/>
                </a:solidFill>
                <a:latin typeface="隶书" pitchFamily="49" charset="-122"/>
                <a:ea typeface="隶书" pitchFamily="49" charset="-122"/>
              </a:rPr>
              <a:t>年， </a:t>
            </a:r>
            <a:r>
              <a:rPr lang="en-US" altLang="zh-CN" sz="2800" dirty="0" err="1" smtClean="0">
                <a:solidFill>
                  <a:srgbClr val="000000"/>
                </a:solidFill>
                <a:latin typeface="隶书" pitchFamily="49" charset="-122"/>
                <a:ea typeface="隶书" pitchFamily="49" charset="-122"/>
              </a:rPr>
              <a:t>Nyquist</a:t>
            </a:r>
            <a:r>
              <a:rPr lang="zh-CN" altLang="en-US" sz="2800" dirty="0" smtClean="0">
                <a:solidFill>
                  <a:srgbClr val="000000"/>
                </a:solidFill>
                <a:latin typeface="隶书" pitchFamily="49" charset="-122"/>
                <a:ea typeface="隶书" pitchFamily="49" charset="-122"/>
              </a:rPr>
              <a:t>在研究长距离电话线信号传输中出现的失真问题，运用</a:t>
            </a:r>
            <a:r>
              <a:rPr lang="zh-CN" altLang="en-US" sz="2800" dirty="0" smtClean="0">
                <a:solidFill>
                  <a:srgbClr val="FF0000"/>
                </a:solidFill>
                <a:latin typeface="隶书" pitchFamily="49" charset="-122"/>
                <a:ea typeface="隶书" pitchFamily="49" charset="-122"/>
              </a:rPr>
              <a:t>复变函数</a:t>
            </a:r>
            <a:r>
              <a:rPr lang="zh-CN" altLang="en-US" sz="2800" dirty="0" smtClean="0">
                <a:solidFill>
                  <a:srgbClr val="000000"/>
                </a:solidFill>
                <a:latin typeface="隶书" pitchFamily="49" charset="-122"/>
                <a:ea typeface="隶书" pitchFamily="49" charset="-122"/>
              </a:rPr>
              <a:t>理论建立了以频率特性为基础的稳定性判据，奠定了频率响应法的基础。</a:t>
            </a:r>
            <a:endParaRPr lang="en-US" altLang="zh-CN" sz="2800" dirty="0" smtClean="0">
              <a:solidFill>
                <a:srgbClr val="000000"/>
              </a:solidFill>
              <a:latin typeface="隶书" pitchFamily="49" charset="-122"/>
              <a:ea typeface="隶书" pitchFamily="49" charset="-122"/>
            </a:endParaRPr>
          </a:p>
          <a:p>
            <a:pPr eaLnBrk="1" hangingPunct="1">
              <a:lnSpc>
                <a:spcPct val="80000"/>
              </a:lnSpc>
            </a:pPr>
            <a:r>
              <a:rPr lang="zh-CN" altLang="en-US" sz="2800" dirty="0" smtClean="0">
                <a:solidFill>
                  <a:srgbClr val="000000"/>
                </a:solidFill>
                <a:latin typeface="隶书" pitchFamily="49" charset="-122"/>
                <a:ea typeface="隶书" pitchFamily="49" charset="-122"/>
              </a:rPr>
              <a:t>伯德（</a:t>
            </a:r>
            <a:r>
              <a:rPr lang="en-US" altLang="zh-CN" sz="2800" dirty="0" smtClean="0">
                <a:solidFill>
                  <a:srgbClr val="000000"/>
                </a:solidFill>
                <a:latin typeface="隶书" pitchFamily="49" charset="-122"/>
                <a:ea typeface="隶书" pitchFamily="49" charset="-122"/>
              </a:rPr>
              <a:t>H</a:t>
            </a:r>
            <a:r>
              <a:rPr lang="zh-CN" altLang="en-US" sz="2800" dirty="0" smtClean="0">
                <a:solidFill>
                  <a:srgbClr val="000000"/>
                </a:solidFill>
                <a:latin typeface="隶书" pitchFamily="49" charset="-122"/>
                <a:ea typeface="隶书" pitchFamily="49" charset="-122"/>
              </a:rPr>
              <a:t>．</a:t>
            </a:r>
            <a:r>
              <a:rPr lang="en-US" altLang="zh-CN" sz="2800" dirty="0" smtClean="0">
                <a:solidFill>
                  <a:srgbClr val="000000"/>
                </a:solidFill>
                <a:latin typeface="隶书" pitchFamily="49" charset="-122"/>
                <a:ea typeface="隶书" pitchFamily="49" charset="-122"/>
              </a:rPr>
              <a:t>W</a:t>
            </a:r>
            <a:r>
              <a:rPr lang="zh-CN" altLang="en-US" sz="2800" dirty="0" smtClean="0">
                <a:solidFill>
                  <a:srgbClr val="000000"/>
                </a:solidFill>
                <a:latin typeface="隶书" pitchFamily="49" charset="-122"/>
                <a:ea typeface="隶书" pitchFamily="49" charset="-122"/>
              </a:rPr>
              <a:t>．</a:t>
            </a:r>
            <a:r>
              <a:rPr lang="en-US" altLang="zh-CN" sz="2800" dirty="0" smtClean="0">
                <a:solidFill>
                  <a:srgbClr val="000000"/>
                </a:solidFill>
                <a:latin typeface="隶书" pitchFamily="49" charset="-122"/>
                <a:ea typeface="隶书" pitchFamily="49" charset="-122"/>
              </a:rPr>
              <a:t>Bode</a:t>
            </a:r>
            <a:r>
              <a:rPr lang="zh-CN" altLang="en-US" sz="2800" dirty="0" smtClean="0">
                <a:solidFill>
                  <a:srgbClr val="000000"/>
                </a:solidFill>
                <a:latin typeface="隶书" pitchFamily="49" charset="-122"/>
                <a:ea typeface="隶书" pitchFamily="49" charset="-122"/>
              </a:rPr>
              <a:t>）和尼柯尔斯</a:t>
            </a:r>
            <a:r>
              <a:rPr lang="en-US" altLang="zh-CN" sz="2800" dirty="0" smtClean="0">
                <a:solidFill>
                  <a:srgbClr val="000000"/>
                </a:solidFill>
                <a:latin typeface="隶书" pitchFamily="49" charset="-122"/>
                <a:ea typeface="隶书" pitchFamily="49" charset="-122"/>
              </a:rPr>
              <a:t>(N</a:t>
            </a:r>
            <a:r>
              <a:rPr lang="zh-CN" altLang="en-US" sz="2800" dirty="0" smtClean="0">
                <a:solidFill>
                  <a:srgbClr val="000000"/>
                </a:solidFill>
                <a:latin typeface="隶书" pitchFamily="49" charset="-122"/>
                <a:ea typeface="隶书" pitchFamily="49" charset="-122"/>
              </a:rPr>
              <a:t>．</a:t>
            </a:r>
            <a:r>
              <a:rPr lang="en-US" altLang="zh-CN" sz="2800" dirty="0" smtClean="0">
                <a:solidFill>
                  <a:srgbClr val="000000"/>
                </a:solidFill>
                <a:latin typeface="隶书" pitchFamily="49" charset="-122"/>
                <a:ea typeface="隶书" pitchFamily="49" charset="-122"/>
              </a:rPr>
              <a:t>B</a:t>
            </a:r>
            <a:r>
              <a:rPr lang="zh-CN" altLang="en-US" sz="2800" dirty="0" smtClean="0">
                <a:solidFill>
                  <a:srgbClr val="000000"/>
                </a:solidFill>
                <a:latin typeface="隶书" pitchFamily="49" charset="-122"/>
                <a:ea typeface="隶书" pitchFamily="49" charset="-122"/>
              </a:rPr>
              <a:t>．</a:t>
            </a:r>
            <a:r>
              <a:rPr lang="en-US" altLang="zh-CN" sz="2800" dirty="0" smtClean="0">
                <a:solidFill>
                  <a:srgbClr val="000000"/>
                </a:solidFill>
                <a:latin typeface="隶书" pitchFamily="49" charset="-122"/>
                <a:ea typeface="隶书" pitchFamily="49" charset="-122"/>
              </a:rPr>
              <a:t>Nichols)</a:t>
            </a:r>
            <a:r>
              <a:rPr lang="zh-CN" altLang="en-US" sz="2800" dirty="0" smtClean="0">
                <a:solidFill>
                  <a:srgbClr val="000000"/>
                </a:solidFill>
                <a:latin typeface="隶书" pitchFamily="49" charset="-122"/>
                <a:ea typeface="隶书" pitchFamily="49" charset="-122"/>
              </a:rPr>
              <a:t>在</a:t>
            </a:r>
            <a:r>
              <a:rPr lang="en-US" altLang="zh-CN" sz="2800" dirty="0" smtClean="0">
                <a:solidFill>
                  <a:srgbClr val="000000"/>
                </a:solidFill>
                <a:latin typeface="隶书" pitchFamily="49" charset="-122"/>
                <a:ea typeface="隶书" pitchFamily="49" charset="-122"/>
              </a:rPr>
              <a:t>20</a:t>
            </a:r>
            <a:r>
              <a:rPr lang="zh-CN" altLang="en-US" sz="2800" dirty="0" smtClean="0">
                <a:solidFill>
                  <a:srgbClr val="000000"/>
                </a:solidFill>
                <a:latin typeface="隶书" pitchFamily="49" charset="-122"/>
                <a:ea typeface="隶书" pitchFamily="49" charset="-122"/>
              </a:rPr>
              <a:t>世纪</a:t>
            </a:r>
            <a:r>
              <a:rPr lang="en-US" altLang="zh-CN" sz="2800" dirty="0" smtClean="0">
                <a:solidFill>
                  <a:srgbClr val="000000"/>
                </a:solidFill>
                <a:latin typeface="隶书" pitchFamily="49" charset="-122"/>
                <a:ea typeface="隶书" pitchFamily="49" charset="-122"/>
              </a:rPr>
              <a:t>30</a:t>
            </a:r>
            <a:r>
              <a:rPr lang="zh-CN" altLang="en-US" sz="2800" dirty="0" smtClean="0">
                <a:solidFill>
                  <a:srgbClr val="000000"/>
                </a:solidFill>
                <a:latin typeface="隶书" pitchFamily="49" charset="-122"/>
                <a:ea typeface="隶书" pitchFamily="49" charset="-122"/>
              </a:rPr>
              <a:t>年代末和</a:t>
            </a:r>
            <a:r>
              <a:rPr lang="en-US" altLang="zh-CN" sz="2800" dirty="0" smtClean="0">
                <a:solidFill>
                  <a:srgbClr val="000000"/>
                </a:solidFill>
                <a:latin typeface="隶书" pitchFamily="49" charset="-122"/>
                <a:ea typeface="隶书" pitchFamily="49" charset="-122"/>
              </a:rPr>
              <a:t>40</a:t>
            </a:r>
            <a:r>
              <a:rPr lang="zh-CN" altLang="en-US" sz="2800" dirty="0" smtClean="0">
                <a:solidFill>
                  <a:srgbClr val="000000"/>
                </a:solidFill>
                <a:latin typeface="隶书" pitchFamily="49" charset="-122"/>
                <a:ea typeface="隶书" pitchFamily="49" charset="-122"/>
              </a:rPr>
              <a:t>年代初进一步将频率响应法加以发展。 </a:t>
            </a:r>
          </a:p>
          <a:p>
            <a:pPr eaLnBrk="1" hangingPunct="1">
              <a:lnSpc>
                <a:spcPct val="80000"/>
              </a:lnSpc>
            </a:pPr>
            <a:endParaRPr lang="zh-CN" altLang="en-US" sz="2800" dirty="0" smtClean="0">
              <a:solidFill>
                <a:srgbClr val="000000"/>
              </a:solidFill>
              <a:latin typeface="隶书" pitchFamily="49" charset="-122"/>
              <a:ea typeface="隶书" pitchFamily="49" charset="-122"/>
            </a:endParaRPr>
          </a:p>
          <a:p>
            <a:pPr eaLnBrk="1" hangingPunct="1">
              <a:lnSpc>
                <a:spcPct val="80000"/>
              </a:lnSpc>
            </a:pPr>
            <a:r>
              <a:rPr lang="zh-CN" altLang="en-US" sz="2800" dirty="0" smtClean="0">
                <a:solidFill>
                  <a:srgbClr val="D903C0"/>
                </a:solidFill>
                <a:latin typeface="隶书" pitchFamily="49" charset="-122"/>
                <a:ea typeface="隶书" pitchFamily="49" charset="-122"/>
              </a:rPr>
              <a:t>频域分析法</a:t>
            </a:r>
          </a:p>
        </p:txBody>
      </p:sp>
      <p:pic>
        <p:nvPicPr>
          <p:cNvPr id="24579" name="Picture 2"/>
          <p:cNvPicPr>
            <a:picLocks noChangeAspect="1" noChangeArrowheads="1"/>
          </p:cNvPicPr>
          <p:nvPr/>
        </p:nvPicPr>
        <p:blipFill>
          <a:blip r:embed="rId2">
            <a:extLst>
              <a:ext uri="{28A0092B-C50C-407E-A947-70E740481C1C}">
                <a14:useLocalDpi xmlns:a14="http://schemas.microsoft.com/office/drawing/2010/main" val="0"/>
              </a:ext>
            </a:extLst>
          </a:blip>
          <a:srcRect l="25696" t="33971" r="26044" b="26608"/>
          <a:stretch>
            <a:fillRect/>
          </a:stretch>
        </p:blipFill>
        <p:spPr bwMode="auto">
          <a:xfrm>
            <a:off x="2987675" y="3677815"/>
            <a:ext cx="5884863" cy="2703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580" name="Rectangle 2"/>
          <p:cNvSpPr txBox="1">
            <a:spLocks noRot="1" noChangeArrowheads="1"/>
          </p:cNvSpPr>
          <p:nvPr/>
        </p:nvSpPr>
        <p:spPr bwMode="auto">
          <a:xfrm>
            <a:off x="300038" y="476672"/>
            <a:ext cx="854075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4400" dirty="0">
                <a:solidFill>
                  <a:schemeClr val="tx2"/>
                </a:solidFill>
                <a:latin typeface="隶书" pitchFamily="49" charset="-122"/>
                <a:ea typeface="隶书" pitchFamily="49" charset="-122"/>
              </a:rPr>
              <a:t>经典控制理论</a:t>
            </a:r>
          </a:p>
        </p:txBody>
      </p:sp>
    </p:spTree>
    <p:extLst>
      <p:ext uri="{BB962C8B-B14F-4D97-AF65-F5344CB8AC3E}">
        <p14:creationId xmlns:p14="http://schemas.microsoft.com/office/powerpoint/2010/main" val="396419365"/>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55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55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Rot="1" noChangeArrowheads="1"/>
          </p:cNvSpPr>
          <p:nvPr>
            <p:ph type="body" idx="1"/>
          </p:nvPr>
        </p:nvSpPr>
        <p:spPr/>
        <p:txBody>
          <a:bodyPr/>
          <a:lstStyle/>
          <a:p>
            <a:pPr eaLnBrk="1" hangingPunct="1"/>
            <a:r>
              <a:rPr lang="en-US" altLang="zh-CN" smtClean="0">
                <a:solidFill>
                  <a:srgbClr val="000000"/>
                </a:solidFill>
                <a:latin typeface="隶书" pitchFamily="49" charset="-122"/>
                <a:ea typeface="隶书" pitchFamily="49" charset="-122"/>
              </a:rPr>
              <a:t>1948</a:t>
            </a:r>
            <a:r>
              <a:rPr lang="zh-CN" altLang="en-US" smtClean="0">
                <a:solidFill>
                  <a:srgbClr val="000000"/>
                </a:solidFill>
                <a:latin typeface="隶书" pitchFamily="49" charset="-122"/>
                <a:ea typeface="隶书" pitchFamily="49" charset="-122"/>
              </a:rPr>
              <a:t>年，美国科学家伊万斯（</a:t>
            </a:r>
            <a:r>
              <a:rPr lang="en-US" altLang="zh-CN" smtClean="0">
                <a:solidFill>
                  <a:srgbClr val="000000"/>
                </a:solidFill>
                <a:latin typeface="隶书" pitchFamily="49" charset="-122"/>
                <a:ea typeface="隶书" pitchFamily="49" charset="-122"/>
              </a:rPr>
              <a:t>W</a:t>
            </a:r>
            <a:r>
              <a:rPr lang="zh-CN" altLang="en-US" smtClean="0">
                <a:solidFill>
                  <a:srgbClr val="000000"/>
                </a:solidFill>
                <a:latin typeface="隶书" pitchFamily="49" charset="-122"/>
                <a:ea typeface="隶书" pitchFamily="49" charset="-122"/>
              </a:rPr>
              <a:t>．</a:t>
            </a:r>
            <a:r>
              <a:rPr lang="en-US" altLang="zh-CN" smtClean="0">
                <a:solidFill>
                  <a:srgbClr val="000000"/>
                </a:solidFill>
                <a:latin typeface="隶书" pitchFamily="49" charset="-122"/>
                <a:ea typeface="隶书" pitchFamily="49" charset="-122"/>
              </a:rPr>
              <a:t>R</a:t>
            </a:r>
            <a:r>
              <a:rPr lang="zh-CN" altLang="en-US" smtClean="0">
                <a:solidFill>
                  <a:srgbClr val="000000"/>
                </a:solidFill>
                <a:latin typeface="隶书" pitchFamily="49" charset="-122"/>
                <a:ea typeface="隶书" pitchFamily="49" charset="-122"/>
              </a:rPr>
              <a:t>．</a:t>
            </a:r>
            <a:r>
              <a:rPr lang="en-US" altLang="zh-CN" smtClean="0">
                <a:solidFill>
                  <a:srgbClr val="000000"/>
                </a:solidFill>
                <a:latin typeface="隶书" pitchFamily="49" charset="-122"/>
                <a:ea typeface="隶书" pitchFamily="49" charset="-122"/>
              </a:rPr>
              <a:t>Evans</a:t>
            </a:r>
            <a:r>
              <a:rPr lang="zh-CN" altLang="en-US" smtClean="0">
                <a:solidFill>
                  <a:srgbClr val="000000"/>
                </a:solidFill>
                <a:latin typeface="隶书" pitchFamily="49" charset="-122"/>
                <a:ea typeface="隶书" pitchFamily="49" charset="-122"/>
              </a:rPr>
              <a:t>）创立了根轨迹分析方法</a:t>
            </a:r>
            <a:r>
              <a:rPr lang="en-US" altLang="zh-CN" smtClean="0">
                <a:solidFill>
                  <a:srgbClr val="000000"/>
                </a:solidFill>
                <a:ea typeface="隶书" pitchFamily="49" charset="-122"/>
              </a:rPr>
              <a:t>—</a:t>
            </a:r>
            <a:r>
              <a:rPr lang="zh-CN" altLang="en-US" smtClean="0">
                <a:solidFill>
                  <a:srgbClr val="000000"/>
                </a:solidFill>
                <a:latin typeface="隶书" pitchFamily="49" charset="-122"/>
                <a:ea typeface="隶书" pitchFamily="49" charset="-122"/>
              </a:rPr>
              <a:t>一种图解方法。</a:t>
            </a:r>
          </a:p>
          <a:p>
            <a:pPr eaLnBrk="1" hangingPunct="1"/>
            <a:endParaRPr lang="zh-CN" altLang="en-US" smtClean="0">
              <a:solidFill>
                <a:srgbClr val="000000"/>
              </a:solidFill>
              <a:latin typeface="隶书" pitchFamily="49" charset="-122"/>
              <a:ea typeface="隶书" pitchFamily="49" charset="-122"/>
            </a:endParaRPr>
          </a:p>
          <a:p>
            <a:pPr eaLnBrk="1" hangingPunct="1"/>
            <a:r>
              <a:rPr lang="zh-CN" altLang="en-US" smtClean="0">
                <a:solidFill>
                  <a:srgbClr val="D903C0"/>
                </a:solidFill>
                <a:latin typeface="隶书" pitchFamily="49" charset="-122"/>
                <a:ea typeface="隶书" pitchFamily="49" charset="-122"/>
              </a:rPr>
              <a:t>根轨迹分析方法</a:t>
            </a:r>
          </a:p>
        </p:txBody>
      </p:sp>
      <p:pic>
        <p:nvPicPr>
          <p:cNvPr id="25603" name="Picture 4"/>
          <p:cNvPicPr>
            <a:picLocks noChangeAspect="1" noChangeArrowheads="1"/>
          </p:cNvPicPr>
          <p:nvPr/>
        </p:nvPicPr>
        <p:blipFill>
          <a:blip r:embed="rId2">
            <a:extLst>
              <a:ext uri="{28A0092B-C50C-407E-A947-70E740481C1C}">
                <a14:useLocalDpi xmlns:a14="http://schemas.microsoft.com/office/drawing/2010/main" val="0"/>
              </a:ext>
            </a:extLst>
          </a:blip>
          <a:srcRect l="31371" t="33624" r="52718" b="26724"/>
          <a:stretch>
            <a:fillRect/>
          </a:stretch>
        </p:blipFill>
        <p:spPr bwMode="auto">
          <a:xfrm>
            <a:off x="6227763" y="2924175"/>
            <a:ext cx="1939925" cy="2719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604" name="Rectangle 2"/>
          <p:cNvSpPr txBox="1">
            <a:spLocks noRot="1" noChangeArrowheads="1"/>
          </p:cNvSpPr>
          <p:nvPr/>
        </p:nvSpPr>
        <p:spPr bwMode="auto">
          <a:xfrm>
            <a:off x="288925" y="476250"/>
            <a:ext cx="854075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4400">
                <a:solidFill>
                  <a:schemeClr val="tx2"/>
                </a:solidFill>
                <a:latin typeface="隶书" pitchFamily="49" charset="-122"/>
                <a:ea typeface="隶书" pitchFamily="49" charset="-122"/>
              </a:rPr>
              <a:t>经典控制理论</a:t>
            </a:r>
          </a:p>
        </p:txBody>
      </p:sp>
    </p:spTree>
    <p:extLst>
      <p:ext uri="{BB962C8B-B14F-4D97-AF65-F5344CB8AC3E}">
        <p14:creationId xmlns:p14="http://schemas.microsoft.com/office/powerpoint/2010/main" val="402699115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57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Rot="1" noChangeArrowheads="1"/>
          </p:cNvSpPr>
          <p:nvPr>
            <p:ph type="body" idx="1"/>
          </p:nvPr>
        </p:nvSpPr>
        <p:spPr>
          <a:xfrm>
            <a:off x="467544" y="1772816"/>
            <a:ext cx="8540750" cy="2663874"/>
          </a:xfrm>
        </p:spPr>
        <p:txBody>
          <a:bodyPr/>
          <a:lstStyle/>
          <a:p>
            <a:pPr eaLnBrk="1" hangingPunct="1"/>
            <a:r>
              <a:rPr lang="zh-CN" altLang="en-US" dirty="0" smtClean="0">
                <a:solidFill>
                  <a:srgbClr val="000000"/>
                </a:solidFill>
                <a:latin typeface="隶书" pitchFamily="49" charset="-122"/>
                <a:ea typeface="隶书" pitchFamily="49" charset="-122"/>
              </a:rPr>
              <a:t>维纳是控制论的创始人，被称为控制论之父。</a:t>
            </a:r>
            <a:endParaRPr lang="en-US" altLang="zh-CN" dirty="0" smtClean="0">
              <a:solidFill>
                <a:srgbClr val="000000"/>
              </a:solidFill>
              <a:latin typeface="隶书" pitchFamily="49" charset="-122"/>
              <a:ea typeface="隶书" pitchFamily="49" charset="-122"/>
            </a:endParaRPr>
          </a:p>
          <a:p>
            <a:pPr eaLnBrk="1" hangingPunct="1"/>
            <a:r>
              <a:rPr lang="en-US" altLang="zh-CN" dirty="0" smtClean="0">
                <a:solidFill>
                  <a:srgbClr val="000000"/>
                </a:solidFill>
                <a:latin typeface="隶书" pitchFamily="49" charset="-122"/>
                <a:ea typeface="隶书" pitchFamily="49" charset="-122"/>
              </a:rPr>
              <a:t>1948</a:t>
            </a:r>
            <a:r>
              <a:rPr lang="zh-CN" altLang="en-US" dirty="0" smtClean="0">
                <a:solidFill>
                  <a:srgbClr val="000000"/>
                </a:solidFill>
                <a:latin typeface="隶书" pitchFamily="49" charset="-122"/>
                <a:ea typeface="隶书" pitchFamily="49" charset="-122"/>
              </a:rPr>
              <a:t>年，维纳发表</a:t>
            </a:r>
            <a:r>
              <a:rPr lang="en-US" altLang="zh-CN" dirty="0" smtClean="0">
                <a:solidFill>
                  <a:srgbClr val="000000"/>
                </a:solidFill>
                <a:latin typeface="隶书" pitchFamily="49" charset="-122"/>
                <a:ea typeface="隶书" pitchFamily="49" charset="-122"/>
              </a:rPr>
              <a:t>《</a:t>
            </a:r>
            <a:r>
              <a:rPr lang="zh-CN" altLang="en-US" dirty="0" smtClean="0">
                <a:solidFill>
                  <a:srgbClr val="000000"/>
                </a:solidFill>
                <a:latin typeface="隶书" pitchFamily="49" charset="-122"/>
                <a:ea typeface="隶书" pitchFamily="49" charset="-122"/>
              </a:rPr>
              <a:t>控制论</a:t>
            </a:r>
            <a:r>
              <a:rPr lang="en-US" altLang="zh-CN" dirty="0" smtClean="0">
                <a:solidFill>
                  <a:srgbClr val="000000"/>
                </a:solidFill>
                <a:latin typeface="隶书" pitchFamily="49" charset="-122"/>
                <a:ea typeface="隶书" pitchFamily="49" charset="-122"/>
              </a:rPr>
              <a:t>》</a:t>
            </a:r>
            <a:r>
              <a:rPr lang="zh-CN" altLang="en-US" dirty="0" smtClean="0">
                <a:solidFill>
                  <a:srgbClr val="000000"/>
                </a:solidFill>
                <a:latin typeface="隶书" pitchFamily="49" charset="-122"/>
                <a:ea typeface="隶书" pitchFamily="49" charset="-122"/>
              </a:rPr>
              <a:t>，宣告了这门新兴学科的诞生。书中论述了控制理论的一般方法，推广了反馈的概念，为控制理论这门学科奠定了基础。</a:t>
            </a:r>
            <a:endParaRPr lang="en-US" altLang="zh-CN" dirty="0" smtClean="0">
              <a:solidFill>
                <a:srgbClr val="000000"/>
              </a:solidFill>
              <a:latin typeface="隶书" pitchFamily="49" charset="-122"/>
              <a:ea typeface="隶书" pitchFamily="49" charset="-122"/>
            </a:endParaRPr>
          </a:p>
        </p:txBody>
      </p:sp>
      <p:pic>
        <p:nvPicPr>
          <p:cNvPr id="26627" name="Picture 2"/>
          <p:cNvPicPr>
            <a:picLocks noChangeAspect="1" noChangeArrowheads="1"/>
          </p:cNvPicPr>
          <p:nvPr/>
        </p:nvPicPr>
        <p:blipFill>
          <a:blip r:embed="rId2">
            <a:extLst>
              <a:ext uri="{28A0092B-C50C-407E-A947-70E740481C1C}">
                <a14:useLocalDpi xmlns:a14="http://schemas.microsoft.com/office/drawing/2010/main" val="0"/>
              </a:ext>
            </a:extLst>
          </a:blip>
          <a:srcRect l="53021" t="32927" r="32436" b="26144"/>
          <a:stretch>
            <a:fillRect/>
          </a:stretch>
        </p:blipFill>
        <p:spPr bwMode="auto">
          <a:xfrm>
            <a:off x="7019925" y="4005263"/>
            <a:ext cx="1773238" cy="280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628" name="Rectangle 2"/>
          <p:cNvSpPr txBox="1">
            <a:spLocks noRot="1" noChangeArrowheads="1"/>
          </p:cNvSpPr>
          <p:nvPr/>
        </p:nvSpPr>
        <p:spPr bwMode="auto">
          <a:xfrm>
            <a:off x="288925" y="476250"/>
            <a:ext cx="854075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4400">
                <a:solidFill>
                  <a:schemeClr val="tx2"/>
                </a:solidFill>
                <a:latin typeface="隶书" pitchFamily="49" charset="-122"/>
                <a:ea typeface="隶书" pitchFamily="49" charset="-122"/>
              </a:rPr>
              <a:t>经典控制理论</a:t>
            </a:r>
          </a:p>
        </p:txBody>
      </p:sp>
      <p:sp>
        <p:nvSpPr>
          <p:cNvPr id="2" name="矩形 1"/>
          <p:cNvSpPr/>
          <p:nvPr/>
        </p:nvSpPr>
        <p:spPr>
          <a:xfrm>
            <a:off x="755576" y="4352460"/>
            <a:ext cx="6048672" cy="1661993"/>
          </a:xfrm>
          <a:prstGeom prst="rect">
            <a:avLst/>
          </a:prstGeom>
        </p:spPr>
        <p:txBody>
          <a:bodyPr wrap="square">
            <a:spAutoFit/>
          </a:bodyPr>
          <a:lstStyle/>
          <a:p>
            <a:pPr eaLnBrk="1" hangingPunct="1"/>
            <a:r>
              <a:rPr lang="zh-CN" altLang="en-US">
                <a:solidFill>
                  <a:srgbClr val="000000"/>
                </a:solidFill>
                <a:latin typeface="隶书" pitchFamily="49" charset="-122"/>
                <a:ea typeface="隶书" pitchFamily="49" charset="-122"/>
              </a:rPr>
              <a:t>维纳是</a:t>
            </a:r>
            <a:r>
              <a:rPr lang="zh-CN" altLang="en-US" dirty="0">
                <a:solidFill>
                  <a:srgbClr val="000000"/>
                </a:solidFill>
                <a:latin typeface="隶书" pitchFamily="49" charset="-122"/>
                <a:ea typeface="隶书" pitchFamily="49" charset="-122"/>
              </a:rPr>
              <a:t>随机过程和噪声过程的先驱，又提出了“控制论”。</a:t>
            </a:r>
          </a:p>
        </p:txBody>
      </p:sp>
    </p:spTree>
    <p:extLst>
      <p:ext uri="{BB962C8B-B14F-4D97-AF65-F5344CB8AC3E}">
        <p14:creationId xmlns:p14="http://schemas.microsoft.com/office/powerpoint/2010/main" val="308075666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57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Rot="1" noChangeArrowheads="1"/>
          </p:cNvSpPr>
          <p:nvPr>
            <p:ph type="body" idx="1"/>
          </p:nvPr>
        </p:nvSpPr>
        <p:spPr>
          <a:xfrm>
            <a:off x="277813" y="1773238"/>
            <a:ext cx="8540750" cy="4194175"/>
          </a:xfrm>
        </p:spPr>
        <p:txBody>
          <a:bodyPr/>
          <a:lstStyle/>
          <a:p>
            <a:pPr eaLnBrk="1" hangingPunct="1"/>
            <a:r>
              <a:rPr lang="zh-CN" altLang="en-US" smtClean="0">
                <a:solidFill>
                  <a:srgbClr val="000000"/>
                </a:solidFill>
                <a:latin typeface="隶书" pitchFamily="49" charset="-122"/>
                <a:ea typeface="隶书" pitchFamily="49" charset="-122"/>
              </a:rPr>
              <a:t>我国著名科学家钱学森将控制理论应用于工程实践，于</a:t>
            </a:r>
            <a:r>
              <a:rPr lang="en-US" altLang="zh-CN" smtClean="0">
                <a:solidFill>
                  <a:srgbClr val="000000"/>
                </a:solidFill>
                <a:latin typeface="隶书" pitchFamily="49" charset="-122"/>
                <a:ea typeface="隶书" pitchFamily="49" charset="-122"/>
              </a:rPr>
              <a:t>1954</a:t>
            </a:r>
            <a:r>
              <a:rPr lang="zh-CN" altLang="en-US" smtClean="0">
                <a:solidFill>
                  <a:srgbClr val="000000"/>
                </a:solidFill>
                <a:latin typeface="隶书" pitchFamily="49" charset="-122"/>
                <a:ea typeface="隶书" pitchFamily="49" charset="-122"/>
              </a:rPr>
              <a:t>年出版了</a:t>
            </a:r>
            <a:r>
              <a:rPr lang="en-US" altLang="zh-CN" smtClean="0">
                <a:solidFill>
                  <a:srgbClr val="000000"/>
                </a:solidFill>
                <a:latin typeface="隶书" pitchFamily="49" charset="-122"/>
                <a:ea typeface="隶书" pitchFamily="49" charset="-122"/>
              </a:rPr>
              <a:t>《</a:t>
            </a:r>
            <a:r>
              <a:rPr lang="zh-CN" altLang="en-US" smtClean="0">
                <a:solidFill>
                  <a:srgbClr val="000000"/>
                </a:solidFill>
                <a:latin typeface="隶书" pitchFamily="49" charset="-122"/>
                <a:ea typeface="隶书" pitchFamily="49" charset="-122"/>
              </a:rPr>
              <a:t>工程控制论</a:t>
            </a:r>
            <a:r>
              <a:rPr lang="en-US" altLang="zh-CN" smtClean="0">
                <a:solidFill>
                  <a:srgbClr val="000000"/>
                </a:solidFill>
                <a:latin typeface="隶书" pitchFamily="49" charset="-122"/>
                <a:ea typeface="隶书" pitchFamily="49" charset="-122"/>
              </a:rPr>
              <a:t>》</a:t>
            </a:r>
            <a:r>
              <a:rPr lang="zh-CN" altLang="en-US" smtClean="0">
                <a:solidFill>
                  <a:srgbClr val="000000"/>
                </a:solidFill>
                <a:latin typeface="隶书" pitchFamily="49" charset="-122"/>
                <a:ea typeface="隶书" pitchFamily="49" charset="-122"/>
              </a:rPr>
              <a:t>。</a:t>
            </a:r>
          </a:p>
        </p:txBody>
      </p:sp>
      <p:sp>
        <p:nvSpPr>
          <p:cNvPr id="27651" name="Rectangle 2"/>
          <p:cNvSpPr txBox="1">
            <a:spLocks noRot="1" noChangeArrowheads="1"/>
          </p:cNvSpPr>
          <p:nvPr/>
        </p:nvSpPr>
        <p:spPr bwMode="auto">
          <a:xfrm>
            <a:off x="288925" y="476250"/>
            <a:ext cx="854075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4400">
                <a:solidFill>
                  <a:schemeClr val="tx2"/>
                </a:solidFill>
                <a:latin typeface="隶书" pitchFamily="49" charset="-122"/>
                <a:ea typeface="隶书" pitchFamily="49" charset="-122"/>
              </a:rPr>
              <a:t>经典控制理论</a:t>
            </a:r>
          </a:p>
        </p:txBody>
      </p:sp>
      <p:grpSp>
        <p:nvGrpSpPr>
          <p:cNvPr id="27652" name="组合 2"/>
          <p:cNvGrpSpPr>
            <a:grpSpLocks/>
          </p:cNvGrpSpPr>
          <p:nvPr/>
        </p:nvGrpSpPr>
        <p:grpSpPr bwMode="auto">
          <a:xfrm>
            <a:off x="6443663" y="3141663"/>
            <a:ext cx="2232025" cy="2924175"/>
            <a:chOff x="6228184" y="2924944"/>
            <a:chExt cx="2232248" cy="2924674"/>
          </a:xfrm>
        </p:grpSpPr>
        <p:pic>
          <p:nvPicPr>
            <p:cNvPr id="27654" name="Picture 2"/>
            <p:cNvPicPr>
              <a:picLocks noChangeAspect="1" noChangeArrowheads="1"/>
            </p:cNvPicPr>
            <p:nvPr/>
          </p:nvPicPr>
          <p:blipFill>
            <a:blip r:embed="rId2">
              <a:extLst>
                <a:ext uri="{28A0092B-C50C-407E-A947-70E740481C1C}">
                  <a14:useLocalDpi xmlns:a14="http://schemas.microsoft.com/office/drawing/2010/main" val="0"/>
                </a:ext>
              </a:extLst>
            </a:blip>
            <a:srcRect l="76958" t="51595" r="18152" b="34724"/>
            <a:stretch>
              <a:fillRect/>
            </a:stretch>
          </p:blipFill>
          <p:spPr bwMode="auto">
            <a:xfrm>
              <a:off x="6588224" y="2924944"/>
              <a:ext cx="1380852" cy="2172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655" name="矩形 1"/>
            <p:cNvSpPr>
              <a:spLocks noChangeArrowheads="1"/>
            </p:cNvSpPr>
            <p:nvPr/>
          </p:nvSpPr>
          <p:spPr bwMode="auto">
            <a:xfrm>
              <a:off x="6228184" y="5110954"/>
              <a:ext cx="223224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400">
                  <a:solidFill>
                    <a:srgbClr val="000000"/>
                  </a:solidFill>
                </a:rPr>
                <a:t>钱学森</a:t>
              </a:r>
              <a:endParaRPr lang="en-US" altLang="zh-CN" sz="1400">
                <a:solidFill>
                  <a:srgbClr val="000000"/>
                </a:solidFill>
              </a:endParaRPr>
            </a:p>
            <a:p>
              <a:pPr algn="ctr"/>
              <a:r>
                <a:rPr lang="zh-CN" altLang="en-US" sz="1400">
                  <a:solidFill>
                    <a:srgbClr val="000000"/>
                  </a:solidFill>
                </a:rPr>
                <a:t>（</a:t>
              </a:r>
              <a:r>
                <a:rPr lang="en-US" altLang="zh-CN" sz="1400">
                  <a:solidFill>
                    <a:srgbClr val="000000"/>
                  </a:solidFill>
                </a:rPr>
                <a:t>1911</a:t>
              </a:r>
              <a:r>
                <a:rPr lang="zh-CN" altLang="en-US" sz="1400">
                  <a:solidFill>
                    <a:srgbClr val="000000"/>
                  </a:solidFill>
                </a:rPr>
                <a:t>年</a:t>
              </a:r>
              <a:r>
                <a:rPr lang="en-US" altLang="zh-CN" sz="1400">
                  <a:solidFill>
                    <a:srgbClr val="000000"/>
                  </a:solidFill>
                </a:rPr>
                <a:t>12</a:t>
              </a:r>
              <a:r>
                <a:rPr lang="zh-CN" altLang="en-US" sz="1400">
                  <a:solidFill>
                    <a:srgbClr val="000000"/>
                  </a:solidFill>
                </a:rPr>
                <a:t>月</a:t>
              </a:r>
              <a:r>
                <a:rPr lang="en-US" altLang="zh-CN" sz="1400">
                  <a:solidFill>
                    <a:srgbClr val="000000"/>
                  </a:solidFill>
                </a:rPr>
                <a:t>11</a:t>
              </a:r>
              <a:r>
                <a:rPr lang="zh-CN" altLang="en-US" sz="1400">
                  <a:solidFill>
                    <a:srgbClr val="000000"/>
                  </a:solidFill>
                </a:rPr>
                <a:t>日</a:t>
              </a:r>
              <a:endParaRPr lang="en-US" altLang="zh-CN" sz="1400">
                <a:solidFill>
                  <a:srgbClr val="000000"/>
                </a:solidFill>
              </a:endParaRPr>
            </a:p>
            <a:p>
              <a:pPr algn="ctr"/>
              <a:r>
                <a:rPr lang="zh-CN" altLang="en-US" sz="1400">
                  <a:solidFill>
                    <a:srgbClr val="000000"/>
                  </a:solidFill>
                </a:rPr>
                <a:t>－</a:t>
              </a:r>
              <a:r>
                <a:rPr lang="en-US" altLang="zh-CN" sz="1400">
                  <a:solidFill>
                    <a:srgbClr val="000000"/>
                  </a:solidFill>
                </a:rPr>
                <a:t>2009</a:t>
              </a:r>
              <a:r>
                <a:rPr lang="zh-CN" altLang="en-US" sz="1400">
                  <a:solidFill>
                    <a:srgbClr val="000000"/>
                  </a:solidFill>
                </a:rPr>
                <a:t>年</a:t>
              </a:r>
              <a:r>
                <a:rPr lang="en-US" altLang="zh-CN" sz="1400">
                  <a:solidFill>
                    <a:srgbClr val="000000"/>
                  </a:solidFill>
                </a:rPr>
                <a:t>10</a:t>
              </a:r>
              <a:r>
                <a:rPr lang="zh-CN" altLang="en-US" sz="1400">
                  <a:solidFill>
                    <a:srgbClr val="000000"/>
                  </a:solidFill>
                </a:rPr>
                <a:t>月</a:t>
              </a:r>
              <a:r>
                <a:rPr lang="en-US" altLang="zh-CN" sz="1400">
                  <a:solidFill>
                    <a:srgbClr val="000000"/>
                  </a:solidFill>
                </a:rPr>
                <a:t>31</a:t>
              </a:r>
              <a:r>
                <a:rPr lang="zh-CN" altLang="en-US" sz="1400">
                  <a:solidFill>
                    <a:srgbClr val="000000"/>
                  </a:solidFill>
                </a:rPr>
                <a:t>日）</a:t>
              </a:r>
            </a:p>
          </p:txBody>
        </p:sp>
      </p:grpSp>
    </p:spTree>
    <p:extLst>
      <p:ext uri="{BB962C8B-B14F-4D97-AF65-F5344CB8AC3E}">
        <p14:creationId xmlns:p14="http://schemas.microsoft.com/office/powerpoint/2010/main" val="350212629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Rot="1" noChangeArrowheads="1"/>
          </p:cNvSpPr>
          <p:nvPr>
            <p:ph type="body" idx="1"/>
          </p:nvPr>
        </p:nvSpPr>
        <p:spPr>
          <a:xfrm>
            <a:off x="323850" y="1418927"/>
            <a:ext cx="8540750" cy="4194175"/>
          </a:xfrm>
        </p:spPr>
        <p:txBody>
          <a:bodyPr/>
          <a:lstStyle/>
          <a:p>
            <a:pPr eaLnBrk="1" hangingPunct="1"/>
            <a:r>
              <a:rPr lang="zh-CN" altLang="en-US" dirty="0" smtClean="0">
                <a:solidFill>
                  <a:srgbClr val="002060"/>
                </a:solidFill>
                <a:latin typeface="隶书" pitchFamily="49" charset="-122"/>
                <a:ea typeface="隶书" pitchFamily="49" charset="-122"/>
              </a:rPr>
              <a:t>经典控制理论由上述的三种方法组成：时域、频域和根轨迹</a:t>
            </a:r>
            <a:r>
              <a:rPr lang="en-US" altLang="zh-CN" dirty="0" smtClean="0">
                <a:solidFill>
                  <a:srgbClr val="002060"/>
                </a:solidFill>
                <a:latin typeface="隶书" pitchFamily="49" charset="-122"/>
                <a:ea typeface="隶书" pitchFamily="49" charset="-122"/>
              </a:rPr>
              <a:t>(</a:t>
            </a:r>
            <a:r>
              <a:rPr lang="zh-CN" altLang="en-US" dirty="0" smtClean="0">
                <a:solidFill>
                  <a:srgbClr val="002060"/>
                </a:solidFill>
                <a:latin typeface="隶书" pitchFamily="49" charset="-122"/>
                <a:ea typeface="隶书" pitchFamily="49" charset="-122"/>
              </a:rPr>
              <a:t>复域</a:t>
            </a:r>
            <a:r>
              <a:rPr lang="en-US" altLang="zh-CN" dirty="0" smtClean="0">
                <a:solidFill>
                  <a:srgbClr val="002060"/>
                </a:solidFill>
                <a:latin typeface="隶书" pitchFamily="49" charset="-122"/>
                <a:ea typeface="隶书" pitchFamily="49" charset="-122"/>
              </a:rPr>
              <a:t>)</a:t>
            </a:r>
            <a:r>
              <a:rPr lang="zh-CN" altLang="en-US" dirty="0" smtClean="0">
                <a:solidFill>
                  <a:srgbClr val="002060"/>
                </a:solidFill>
                <a:latin typeface="隶书" pitchFamily="49" charset="-122"/>
                <a:ea typeface="隶书" pitchFamily="49" charset="-122"/>
              </a:rPr>
              <a:t>方法</a:t>
            </a:r>
          </a:p>
          <a:p>
            <a:pPr eaLnBrk="1" hangingPunct="1"/>
            <a:r>
              <a:rPr lang="zh-CN" altLang="en-US" dirty="0" smtClean="0">
                <a:solidFill>
                  <a:srgbClr val="002060"/>
                </a:solidFill>
                <a:latin typeface="隶书" pitchFamily="49" charset="-122"/>
                <a:ea typeface="隶书" pitchFamily="49" charset="-122"/>
              </a:rPr>
              <a:t>缺点：研究的对象基本上是以线性定常系统为主的单输入单输出系统，还不能解决如时变参数问题，多变量、强耦合等复杂的控制问题。</a:t>
            </a:r>
            <a:r>
              <a:rPr lang="zh-CN" altLang="en-US" dirty="0" smtClean="0">
                <a:latin typeface="隶书" pitchFamily="49" charset="-122"/>
                <a:ea typeface="隶书" pitchFamily="49" charset="-122"/>
              </a:rPr>
              <a:t> </a:t>
            </a:r>
          </a:p>
        </p:txBody>
      </p:sp>
      <p:pic>
        <p:nvPicPr>
          <p:cNvPr id="28675" name="Picture 5" descr="u=3292645781,205219012&amp;gp=-3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8538" y="4320877"/>
            <a:ext cx="2592387"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6"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5963" y="4227215"/>
            <a:ext cx="2808287" cy="237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7" name="Rectangle 2"/>
          <p:cNvSpPr txBox="1">
            <a:spLocks noRot="1" noChangeArrowheads="1"/>
          </p:cNvSpPr>
          <p:nvPr/>
        </p:nvSpPr>
        <p:spPr bwMode="auto">
          <a:xfrm>
            <a:off x="276225" y="555327"/>
            <a:ext cx="854075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4400">
                <a:solidFill>
                  <a:schemeClr val="tx2"/>
                </a:solidFill>
                <a:latin typeface="隶书" pitchFamily="49" charset="-122"/>
                <a:ea typeface="隶书" pitchFamily="49" charset="-122"/>
              </a:rPr>
              <a:t>经典控制理论</a:t>
            </a:r>
          </a:p>
        </p:txBody>
      </p:sp>
    </p:spTree>
    <p:extLst>
      <p:ext uri="{BB962C8B-B14F-4D97-AF65-F5344CB8AC3E}">
        <p14:creationId xmlns:p14="http://schemas.microsoft.com/office/powerpoint/2010/main" val="2446567358"/>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60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rrowheads="1"/>
          </p:cNvSpPr>
          <p:nvPr>
            <p:ph type="title"/>
          </p:nvPr>
        </p:nvSpPr>
        <p:spPr/>
        <p:txBody>
          <a:bodyPr/>
          <a:lstStyle/>
          <a:p>
            <a:pPr algn="l"/>
            <a:r>
              <a:rPr lang="zh-CN" altLang="en-US" sz="2800" smtClean="0">
                <a:ea typeface="黑体" pitchFamily="2" charset="-122"/>
              </a:rPr>
              <a:t>飞机</a:t>
            </a:r>
            <a:r>
              <a:rPr lang="en-US" altLang="zh-CN" sz="2800" smtClean="0">
                <a:ea typeface="黑体" pitchFamily="2" charset="-122"/>
              </a:rPr>
              <a:t>-</a:t>
            </a:r>
            <a:r>
              <a:rPr lang="zh-CN" altLang="en-US" sz="2800" smtClean="0">
                <a:ea typeface="黑体" pitchFamily="2" charset="-122"/>
              </a:rPr>
              <a:t>自动驾驶仪系统 </a:t>
            </a:r>
          </a:p>
        </p:txBody>
      </p:sp>
      <p:sp>
        <p:nvSpPr>
          <p:cNvPr id="29699" name="Rectangle 3"/>
          <p:cNvSpPr>
            <a:spLocks noGrp="1" noRot="1" noChangeArrowheads="1"/>
          </p:cNvSpPr>
          <p:nvPr>
            <p:ph type="body" idx="1"/>
          </p:nvPr>
        </p:nvSpPr>
        <p:spPr/>
        <p:txBody>
          <a:bodyPr/>
          <a:lstStyle/>
          <a:p>
            <a:endParaRPr lang="zh-CN" altLang="zh-CN" smtClean="0"/>
          </a:p>
        </p:txBody>
      </p:sp>
      <p:sp>
        <p:nvSpPr>
          <p:cNvPr id="29700" name="Rectangle 9"/>
          <p:cNvSpPr>
            <a:spLocks noChangeArrowheads="1"/>
          </p:cNvSpPr>
          <p:nvPr/>
        </p:nvSpPr>
        <p:spPr bwMode="auto">
          <a:xfrm>
            <a:off x="0" y="2809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pic>
        <p:nvPicPr>
          <p:cNvPr id="29701" name="Picture 4" descr="aptch"/>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1916113"/>
            <a:ext cx="5473700" cy="440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058027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rrowheads="1"/>
          </p:cNvSpPr>
          <p:nvPr>
            <p:ph type="title"/>
          </p:nvPr>
        </p:nvSpPr>
        <p:spPr/>
        <p:txBody>
          <a:bodyPr/>
          <a:lstStyle/>
          <a:p>
            <a:pPr eaLnBrk="1" hangingPunct="1"/>
            <a:r>
              <a:rPr lang="zh-CN" altLang="en-US" smtClean="0">
                <a:latin typeface="隶书" pitchFamily="49" charset="-122"/>
                <a:ea typeface="隶书" pitchFamily="49" charset="-122"/>
              </a:rPr>
              <a:t>现代控制理论</a:t>
            </a:r>
          </a:p>
        </p:txBody>
      </p:sp>
      <p:sp>
        <p:nvSpPr>
          <p:cNvPr id="20483" name="Rectangle 3"/>
          <p:cNvSpPr>
            <a:spLocks noGrp="1" noRot="1" noChangeArrowheads="1"/>
          </p:cNvSpPr>
          <p:nvPr>
            <p:ph type="body" idx="1"/>
          </p:nvPr>
        </p:nvSpPr>
        <p:spPr>
          <a:xfrm>
            <a:off x="251520" y="1772816"/>
            <a:ext cx="8736013" cy="4194175"/>
          </a:xfrm>
        </p:spPr>
        <p:txBody>
          <a:bodyPr/>
          <a:lstStyle/>
          <a:p>
            <a:pPr eaLnBrk="1" hangingPunct="1">
              <a:lnSpc>
                <a:spcPct val="90000"/>
              </a:lnSpc>
            </a:pPr>
            <a:r>
              <a:rPr lang="en-US" altLang="zh-CN" sz="2800" dirty="0" smtClean="0">
                <a:solidFill>
                  <a:srgbClr val="000000"/>
                </a:solidFill>
                <a:latin typeface="隶书" pitchFamily="49" charset="-122"/>
                <a:ea typeface="隶书" pitchFamily="49" charset="-122"/>
              </a:rPr>
              <a:t>20</a:t>
            </a:r>
            <a:r>
              <a:rPr lang="zh-CN" altLang="en-US" sz="2800" dirty="0" smtClean="0">
                <a:solidFill>
                  <a:srgbClr val="000000"/>
                </a:solidFill>
                <a:latin typeface="隶书" pitchFamily="49" charset="-122"/>
                <a:ea typeface="隶书" pitchFamily="49" charset="-122"/>
              </a:rPr>
              <a:t>世纪</a:t>
            </a:r>
            <a:r>
              <a:rPr lang="en-US" altLang="zh-CN" sz="2800" dirty="0" smtClean="0">
                <a:solidFill>
                  <a:srgbClr val="000000"/>
                </a:solidFill>
                <a:latin typeface="隶书" pitchFamily="49" charset="-122"/>
                <a:ea typeface="隶书" pitchFamily="49" charset="-122"/>
              </a:rPr>
              <a:t>50</a:t>
            </a:r>
            <a:r>
              <a:rPr lang="zh-CN" altLang="en-US" sz="2800" dirty="0" smtClean="0">
                <a:solidFill>
                  <a:srgbClr val="000000"/>
                </a:solidFill>
                <a:latin typeface="隶书" pitchFamily="49" charset="-122"/>
                <a:ea typeface="隶书" pitchFamily="49" charset="-122"/>
              </a:rPr>
              <a:t>年代中期，空间技术的发展迫切要求解决更复杂的多变量系统、非线性系统的最优控制问题</a:t>
            </a:r>
            <a:r>
              <a:rPr lang="en-US" altLang="zh-CN" sz="2800" dirty="0" smtClean="0">
                <a:solidFill>
                  <a:srgbClr val="000000"/>
                </a:solidFill>
                <a:latin typeface="隶书" pitchFamily="49" charset="-122"/>
                <a:ea typeface="隶书" pitchFamily="49" charset="-122"/>
              </a:rPr>
              <a:t>(</a:t>
            </a:r>
            <a:r>
              <a:rPr lang="zh-CN" altLang="en-US" sz="2800" dirty="0" smtClean="0">
                <a:solidFill>
                  <a:srgbClr val="000000"/>
                </a:solidFill>
                <a:latin typeface="隶书" pitchFamily="49" charset="-122"/>
                <a:ea typeface="隶书" pitchFamily="49" charset="-122"/>
              </a:rPr>
              <a:t>例如火箭和宇航器的导航、跟踪和着陆过程中的高精度，低消耗控制</a:t>
            </a:r>
            <a:r>
              <a:rPr lang="en-US" altLang="zh-CN" sz="2800" dirty="0" smtClean="0">
                <a:solidFill>
                  <a:srgbClr val="000000"/>
                </a:solidFill>
                <a:latin typeface="隶书" pitchFamily="49" charset="-122"/>
                <a:ea typeface="隶书" pitchFamily="49" charset="-122"/>
              </a:rPr>
              <a:t>)</a:t>
            </a:r>
            <a:r>
              <a:rPr lang="zh-CN" altLang="en-US" sz="2800" dirty="0" smtClean="0">
                <a:solidFill>
                  <a:srgbClr val="000000"/>
                </a:solidFill>
                <a:latin typeface="隶书" pitchFamily="49" charset="-122"/>
                <a:ea typeface="隶书" pitchFamily="49" charset="-122"/>
              </a:rPr>
              <a:t>。</a:t>
            </a:r>
          </a:p>
          <a:p>
            <a:pPr eaLnBrk="1" hangingPunct="1">
              <a:lnSpc>
                <a:spcPct val="90000"/>
              </a:lnSpc>
            </a:pPr>
            <a:r>
              <a:rPr lang="zh-CN" altLang="en-US" sz="2800" dirty="0" smtClean="0">
                <a:solidFill>
                  <a:srgbClr val="000000"/>
                </a:solidFill>
                <a:latin typeface="隶书" pitchFamily="49" charset="-122"/>
                <a:ea typeface="隶书" pitchFamily="49" charset="-122"/>
              </a:rPr>
              <a:t>状态空间描述成为主要的模型形式。 </a:t>
            </a:r>
          </a:p>
          <a:p>
            <a:pPr eaLnBrk="1" hangingPunct="1">
              <a:lnSpc>
                <a:spcPct val="90000"/>
              </a:lnSpc>
            </a:pPr>
            <a:r>
              <a:rPr lang="en-US" altLang="zh-CN" sz="2800" dirty="0" err="1" smtClean="0">
                <a:solidFill>
                  <a:srgbClr val="000000"/>
                </a:solidFill>
                <a:latin typeface="隶书" pitchFamily="49" charset="-122"/>
                <a:ea typeface="隶书" pitchFamily="49" charset="-122"/>
              </a:rPr>
              <a:t>Lyapunov</a:t>
            </a:r>
            <a:r>
              <a:rPr lang="en-US" altLang="zh-CN" sz="2800" dirty="0" smtClean="0">
                <a:solidFill>
                  <a:srgbClr val="000000"/>
                </a:solidFill>
                <a:latin typeface="隶书" pitchFamily="49" charset="-122"/>
                <a:ea typeface="隶书" pitchFamily="49" charset="-122"/>
              </a:rPr>
              <a:t> 1892</a:t>
            </a:r>
            <a:r>
              <a:rPr lang="zh-CN" altLang="en-US" sz="2800" dirty="0" smtClean="0">
                <a:solidFill>
                  <a:srgbClr val="000000"/>
                </a:solidFill>
                <a:latin typeface="隶书" pitchFamily="49" charset="-122"/>
                <a:ea typeface="隶书" pitchFamily="49" charset="-122"/>
              </a:rPr>
              <a:t>年创立的稳定性理论 </a:t>
            </a:r>
          </a:p>
          <a:p>
            <a:pPr eaLnBrk="1" hangingPunct="1">
              <a:lnSpc>
                <a:spcPct val="90000"/>
              </a:lnSpc>
            </a:pPr>
            <a:r>
              <a:rPr lang="en-US" altLang="zh-CN" sz="2800" dirty="0" err="1" smtClean="0">
                <a:solidFill>
                  <a:srgbClr val="000000"/>
                </a:solidFill>
                <a:latin typeface="隶书" pitchFamily="49" charset="-122"/>
                <a:ea typeface="隶书" pitchFamily="49" charset="-122"/>
              </a:rPr>
              <a:t>Pontryagin</a:t>
            </a:r>
            <a:r>
              <a:rPr lang="zh-CN" altLang="en-US" sz="2800" dirty="0" smtClean="0">
                <a:solidFill>
                  <a:srgbClr val="000000"/>
                </a:solidFill>
                <a:latin typeface="隶书" pitchFamily="49" charset="-122"/>
                <a:ea typeface="隶书" pitchFamily="49" charset="-122"/>
              </a:rPr>
              <a:t>提出极大值原理 </a:t>
            </a:r>
          </a:p>
          <a:p>
            <a:pPr eaLnBrk="1" hangingPunct="1">
              <a:lnSpc>
                <a:spcPct val="90000"/>
              </a:lnSpc>
            </a:pPr>
            <a:r>
              <a:rPr lang="en-US" altLang="zh-CN" sz="2800" dirty="0" smtClean="0">
                <a:solidFill>
                  <a:srgbClr val="000000"/>
                </a:solidFill>
                <a:latin typeface="隶书" pitchFamily="49" charset="-122"/>
                <a:ea typeface="隶书" pitchFamily="49" charset="-122"/>
              </a:rPr>
              <a:t>Bellman</a:t>
            </a:r>
            <a:r>
              <a:rPr lang="zh-CN" altLang="en-US" sz="2800" dirty="0" smtClean="0">
                <a:solidFill>
                  <a:srgbClr val="000000"/>
                </a:solidFill>
                <a:latin typeface="隶书" pitchFamily="49" charset="-122"/>
                <a:ea typeface="隶书" pitchFamily="49" charset="-122"/>
              </a:rPr>
              <a:t>创立了动态规划 </a:t>
            </a:r>
          </a:p>
          <a:p>
            <a:pPr eaLnBrk="1" hangingPunct="1">
              <a:lnSpc>
                <a:spcPct val="90000"/>
              </a:lnSpc>
            </a:pPr>
            <a:r>
              <a:rPr lang="en-US" altLang="zh-CN" sz="2800" dirty="0" err="1" smtClean="0">
                <a:solidFill>
                  <a:srgbClr val="000000"/>
                </a:solidFill>
                <a:latin typeface="隶书" pitchFamily="49" charset="-122"/>
                <a:ea typeface="隶书" pitchFamily="49" charset="-122"/>
              </a:rPr>
              <a:t>Kalman</a:t>
            </a:r>
            <a:r>
              <a:rPr lang="zh-CN" altLang="en-US" sz="2800" dirty="0" smtClean="0">
                <a:solidFill>
                  <a:srgbClr val="000000"/>
                </a:solidFill>
                <a:latin typeface="隶书" pitchFamily="49" charset="-122"/>
                <a:ea typeface="隶书" pitchFamily="49" charset="-122"/>
              </a:rPr>
              <a:t>提出了著名的卡尔曼滤波器</a:t>
            </a:r>
            <a:endParaRPr lang="en-US" altLang="zh-CN" sz="2800" dirty="0" smtClean="0">
              <a:solidFill>
                <a:srgbClr val="000000"/>
              </a:solidFill>
              <a:latin typeface="隶书" pitchFamily="49" charset="-122"/>
              <a:ea typeface="隶书" pitchFamily="49" charset="-122"/>
            </a:endParaRPr>
          </a:p>
          <a:p>
            <a:pPr eaLnBrk="1" hangingPunct="1">
              <a:lnSpc>
                <a:spcPct val="90000"/>
              </a:lnSpc>
            </a:pPr>
            <a:r>
              <a:rPr lang="en-US" altLang="zh-CN" sz="2800" dirty="0" err="1" smtClean="0">
                <a:solidFill>
                  <a:srgbClr val="000000"/>
                </a:solidFill>
                <a:latin typeface="隶书" pitchFamily="49" charset="-122"/>
                <a:ea typeface="隶书" pitchFamily="49" charset="-122"/>
              </a:rPr>
              <a:t>Astrom</a:t>
            </a:r>
            <a:r>
              <a:rPr lang="zh-CN" altLang="en-US" sz="2800" dirty="0" smtClean="0">
                <a:solidFill>
                  <a:srgbClr val="000000"/>
                </a:solidFill>
                <a:latin typeface="隶书" pitchFamily="49" charset="-122"/>
                <a:ea typeface="隶书" pitchFamily="49" charset="-122"/>
              </a:rPr>
              <a:t>给出了最小二乘的递推算法、自校正调节器 </a:t>
            </a:r>
          </a:p>
          <a:p>
            <a:pPr eaLnBrk="1" hangingPunct="1">
              <a:lnSpc>
                <a:spcPct val="90000"/>
              </a:lnSpc>
            </a:pPr>
            <a:r>
              <a:rPr lang="zh-CN" altLang="en-US" sz="2800" dirty="0" smtClean="0">
                <a:solidFill>
                  <a:srgbClr val="000000"/>
                </a:solidFill>
                <a:latin typeface="隶书" pitchFamily="49" charset="-122"/>
                <a:ea typeface="隶书" pitchFamily="49" charset="-122"/>
              </a:rPr>
              <a:t> </a:t>
            </a:r>
          </a:p>
        </p:txBody>
      </p:sp>
    </p:spTree>
    <p:extLst>
      <p:ext uri="{BB962C8B-B14F-4D97-AF65-F5344CB8AC3E}">
        <p14:creationId xmlns:p14="http://schemas.microsoft.com/office/powerpoint/2010/main" val="412786859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483">
                                            <p:txEl>
                                              <p:pRg st="1" end="1"/>
                                            </p:txEl>
                                          </p:spTgt>
                                        </p:tgtEl>
                                        <p:attrNameLst>
                                          <p:attrName>style.visibility</p:attrName>
                                        </p:attrNameLst>
                                      </p:cBhvr>
                                      <p:to>
                                        <p:strVal val="visible"/>
                                      </p:to>
                                    </p:set>
                                    <p:anim calcmode="lin" valueType="num">
                                      <p:cBhvr additive="base">
                                        <p:cTn id="13"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4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483">
                                            <p:txEl>
                                              <p:pRg st="2" end="2"/>
                                            </p:txEl>
                                          </p:spTgt>
                                        </p:tgtEl>
                                        <p:attrNameLst>
                                          <p:attrName>style.visibility</p:attrName>
                                        </p:attrNameLst>
                                      </p:cBhvr>
                                      <p:to>
                                        <p:strVal val="visible"/>
                                      </p:to>
                                    </p:set>
                                    <p:anim calcmode="lin" valueType="num">
                                      <p:cBhvr additive="base">
                                        <p:cTn id="19" dur="5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048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0483">
                                            <p:txEl>
                                              <p:pRg st="3" end="3"/>
                                            </p:txEl>
                                          </p:spTgt>
                                        </p:tgtEl>
                                        <p:attrNameLst>
                                          <p:attrName>style.visibility</p:attrName>
                                        </p:attrNameLst>
                                      </p:cBhvr>
                                      <p:to>
                                        <p:strVal val="visible"/>
                                      </p:to>
                                    </p:set>
                                    <p:anim calcmode="lin" valueType="num">
                                      <p:cBhvr additive="base">
                                        <p:cTn id="23" dur="5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048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0483">
                                            <p:txEl>
                                              <p:pRg st="4" end="4"/>
                                            </p:txEl>
                                          </p:spTgt>
                                        </p:tgtEl>
                                        <p:attrNameLst>
                                          <p:attrName>style.visibility</p:attrName>
                                        </p:attrNameLst>
                                      </p:cBhvr>
                                      <p:to>
                                        <p:strVal val="visible"/>
                                      </p:to>
                                    </p:set>
                                    <p:anim calcmode="lin" valueType="num">
                                      <p:cBhvr additive="base">
                                        <p:cTn id="27" dur="500" fill="hold"/>
                                        <p:tgtEl>
                                          <p:spTgt spid="2048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048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0483">
                                            <p:txEl>
                                              <p:pRg st="5" end="5"/>
                                            </p:txEl>
                                          </p:spTgt>
                                        </p:tgtEl>
                                        <p:attrNameLst>
                                          <p:attrName>style.visibility</p:attrName>
                                        </p:attrNameLst>
                                      </p:cBhvr>
                                      <p:to>
                                        <p:strVal val="visible"/>
                                      </p:to>
                                    </p:set>
                                    <p:anim calcmode="lin" valueType="num">
                                      <p:cBhvr additive="base">
                                        <p:cTn id="31" dur="500" fill="hold"/>
                                        <p:tgtEl>
                                          <p:spTgt spid="2048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048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0483">
                                            <p:txEl>
                                              <p:pRg st="6" end="6"/>
                                            </p:txEl>
                                          </p:spTgt>
                                        </p:tgtEl>
                                        <p:attrNameLst>
                                          <p:attrName>style.visibility</p:attrName>
                                        </p:attrNameLst>
                                      </p:cBhvr>
                                      <p:to>
                                        <p:strVal val="visible"/>
                                      </p:to>
                                    </p:set>
                                    <p:anim calcmode="lin" valueType="num">
                                      <p:cBhvr additive="base">
                                        <p:cTn id="35" dur="500" fill="hold"/>
                                        <p:tgtEl>
                                          <p:spTgt spid="2048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048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0483">
                                            <p:txEl>
                                              <p:pRg st="7" end="7"/>
                                            </p:txEl>
                                          </p:spTgt>
                                        </p:tgtEl>
                                        <p:attrNameLst>
                                          <p:attrName>style.visibility</p:attrName>
                                        </p:attrNameLst>
                                      </p:cBhvr>
                                      <p:to>
                                        <p:strVal val="visible"/>
                                      </p:to>
                                    </p:set>
                                    <p:anim calcmode="lin" valueType="num">
                                      <p:cBhvr additive="base">
                                        <p:cTn id="39" dur="500" fill="hold"/>
                                        <p:tgtEl>
                                          <p:spTgt spid="2048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048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rrowheads="1"/>
          </p:cNvSpPr>
          <p:nvPr>
            <p:ph type="title"/>
          </p:nvPr>
        </p:nvSpPr>
        <p:spPr>
          <a:xfrm>
            <a:off x="301625" y="609600"/>
            <a:ext cx="8540750" cy="731838"/>
          </a:xfrm>
        </p:spPr>
        <p:txBody>
          <a:bodyPr/>
          <a:lstStyle/>
          <a:p>
            <a:pPr eaLnBrk="1" hangingPunct="1"/>
            <a:r>
              <a:rPr lang="zh-CN" altLang="en-US" smtClean="0">
                <a:latin typeface="隶书" pitchFamily="49" charset="-122"/>
                <a:ea typeface="隶书" pitchFamily="49" charset="-122"/>
              </a:rPr>
              <a:t>现代控制理论</a:t>
            </a:r>
          </a:p>
        </p:txBody>
      </p:sp>
      <p:sp>
        <p:nvSpPr>
          <p:cNvPr id="20483" name="Rectangle 3"/>
          <p:cNvSpPr>
            <a:spLocks noGrp="1" noRot="1" noChangeArrowheads="1"/>
          </p:cNvSpPr>
          <p:nvPr>
            <p:ph type="body" idx="1"/>
          </p:nvPr>
        </p:nvSpPr>
        <p:spPr>
          <a:xfrm>
            <a:off x="323850" y="1268413"/>
            <a:ext cx="8540750" cy="4194175"/>
          </a:xfrm>
        </p:spPr>
        <p:txBody>
          <a:bodyPr/>
          <a:lstStyle/>
          <a:p>
            <a:pPr eaLnBrk="1" hangingPunct="1">
              <a:lnSpc>
                <a:spcPct val="90000"/>
              </a:lnSpc>
            </a:pPr>
            <a:r>
              <a:rPr lang="en-US" altLang="zh-CN" sz="2800" smtClean="0">
                <a:solidFill>
                  <a:srgbClr val="000000"/>
                </a:solidFill>
                <a:latin typeface="隶书" pitchFamily="49" charset="-122"/>
                <a:ea typeface="隶书" pitchFamily="49" charset="-122"/>
              </a:rPr>
              <a:t>Lyapunov 1892</a:t>
            </a:r>
            <a:r>
              <a:rPr lang="zh-CN" altLang="en-US" sz="2800" smtClean="0">
                <a:solidFill>
                  <a:srgbClr val="000000"/>
                </a:solidFill>
                <a:latin typeface="隶书" pitchFamily="49" charset="-122"/>
                <a:ea typeface="隶书" pitchFamily="49" charset="-122"/>
              </a:rPr>
              <a:t>年创立的稳定性理论 </a:t>
            </a:r>
          </a:p>
          <a:p>
            <a:pPr eaLnBrk="1" hangingPunct="1">
              <a:lnSpc>
                <a:spcPct val="90000"/>
              </a:lnSpc>
            </a:pPr>
            <a:r>
              <a:rPr lang="en-US" altLang="zh-CN" sz="2800" smtClean="0">
                <a:solidFill>
                  <a:srgbClr val="000000"/>
                </a:solidFill>
                <a:latin typeface="隶书" pitchFamily="49" charset="-122"/>
                <a:ea typeface="隶书" pitchFamily="49" charset="-122"/>
              </a:rPr>
              <a:t>Pontryagin</a:t>
            </a:r>
            <a:r>
              <a:rPr lang="zh-CN" altLang="en-US" sz="2800" smtClean="0">
                <a:solidFill>
                  <a:srgbClr val="000000"/>
                </a:solidFill>
                <a:latin typeface="隶书" pitchFamily="49" charset="-122"/>
                <a:ea typeface="隶书" pitchFamily="49" charset="-122"/>
              </a:rPr>
              <a:t>提出极大值原理 </a:t>
            </a:r>
          </a:p>
          <a:p>
            <a:pPr eaLnBrk="1" hangingPunct="1">
              <a:lnSpc>
                <a:spcPct val="90000"/>
              </a:lnSpc>
            </a:pPr>
            <a:r>
              <a:rPr lang="en-US" altLang="zh-CN" sz="2800" smtClean="0">
                <a:solidFill>
                  <a:srgbClr val="000000"/>
                </a:solidFill>
                <a:latin typeface="隶书" pitchFamily="49" charset="-122"/>
                <a:ea typeface="隶书" pitchFamily="49" charset="-122"/>
              </a:rPr>
              <a:t>Bellman</a:t>
            </a:r>
            <a:r>
              <a:rPr lang="zh-CN" altLang="en-US" sz="2800" smtClean="0">
                <a:solidFill>
                  <a:srgbClr val="000000"/>
                </a:solidFill>
                <a:latin typeface="隶书" pitchFamily="49" charset="-122"/>
                <a:ea typeface="隶书" pitchFamily="49" charset="-122"/>
              </a:rPr>
              <a:t>创立了动态规划 </a:t>
            </a:r>
          </a:p>
          <a:p>
            <a:pPr eaLnBrk="1" hangingPunct="1">
              <a:lnSpc>
                <a:spcPct val="90000"/>
              </a:lnSpc>
            </a:pPr>
            <a:r>
              <a:rPr lang="en-US" altLang="zh-CN" sz="2800" smtClean="0">
                <a:solidFill>
                  <a:srgbClr val="000000"/>
                </a:solidFill>
                <a:latin typeface="隶书" pitchFamily="49" charset="-122"/>
                <a:ea typeface="隶书" pitchFamily="49" charset="-122"/>
              </a:rPr>
              <a:t>Kalman</a:t>
            </a:r>
            <a:r>
              <a:rPr lang="zh-CN" altLang="en-US" sz="2800" smtClean="0">
                <a:solidFill>
                  <a:srgbClr val="000000"/>
                </a:solidFill>
                <a:latin typeface="隶书" pitchFamily="49" charset="-122"/>
                <a:ea typeface="隶书" pitchFamily="49" charset="-122"/>
              </a:rPr>
              <a:t>提出了著名的卡尔曼滤波器</a:t>
            </a:r>
            <a:endParaRPr lang="en-US" altLang="zh-CN" sz="2800" smtClean="0">
              <a:solidFill>
                <a:srgbClr val="000000"/>
              </a:solidFill>
              <a:latin typeface="隶书" pitchFamily="49" charset="-122"/>
              <a:ea typeface="隶书" pitchFamily="49" charset="-122"/>
            </a:endParaRPr>
          </a:p>
          <a:p>
            <a:pPr eaLnBrk="1" hangingPunct="1">
              <a:lnSpc>
                <a:spcPct val="90000"/>
              </a:lnSpc>
            </a:pPr>
            <a:r>
              <a:rPr lang="en-US" altLang="zh-CN" sz="2800" smtClean="0">
                <a:solidFill>
                  <a:srgbClr val="000000"/>
                </a:solidFill>
                <a:latin typeface="隶书" pitchFamily="49" charset="-122"/>
                <a:ea typeface="隶书" pitchFamily="49" charset="-122"/>
              </a:rPr>
              <a:t>Astrom</a:t>
            </a:r>
            <a:r>
              <a:rPr lang="zh-CN" altLang="en-US" sz="2800" smtClean="0">
                <a:solidFill>
                  <a:srgbClr val="000000"/>
                </a:solidFill>
                <a:latin typeface="隶书" pitchFamily="49" charset="-122"/>
                <a:ea typeface="隶书" pitchFamily="49" charset="-122"/>
              </a:rPr>
              <a:t>给出了最小二乘的递推算法、自校正调节器 </a:t>
            </a:r>
          </a:p>
        </p:txBody>
      </p:sp>
      <p:pic>
        <p:nvPicPr>
          <p:cNvPr id="31748" name="Picture 4"/>
          <p:cNvPicPr>
            <a:picLocks noChangeAspect="1" noChangeArrowheads="1"/>
          </p:cNvPicPr>
          <p:nvPr/>
        </p:nvPicPr>
        <p:blipFill>
          <a:blip r:embed="rId2">
            <a:extLst>
              <a:ext uri="{28A0092B-C50C-407E-A947-70E740481C1C}">
                <a14:useLocalDpi xmlns:a14="http://schemas.microsoft.com/office/drawing/2010/main" val="0"/>
              </a:ext>
            </a:extLst>
          </a:blip>
          <a:srcRect l="22108" t="41971" r="21870" b="21275"/>
          <a:stretch>
            <a:fillRect/>
          </a:stretch>
        </p:blipFill>
        <p:spPr bwMode="auto">
          <a:xfrm>
            <a:off x="1331913" y="3789363"/>
            <a:ext cx="6829425" cy="252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5912784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483">
                                            <p:txEl>
                                              <p:pRg st="1" end="1"/>
                                            </p:txEl>
                                          </p:spTgt>
                                        </p:tgtEl>
                                        <p:attrNameLst>
                                          <p:attrName>style.visibility</p:attrName>
                                        </p:attrNameLst>
                                      </p:cBhvr>
                                      <p:to>
                                        <p:strVal val="visible"/>
                                      </p:to>
                                    </p:set>
                                    <p:anim calcmode="lin" valueType="num">
                                      <p:cBhvr additive="base">
                                        <p:cTn id="13"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4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483">
                                            <p:txEl>
                                              <p:pRg st="2" end="2"/>
                                            </p:txEl>
                                          </p:spTgt>
                                        </p:tgtEl>
                                        <p:attrNameLst>
                                          <p:attrName>style.visibility</p:attrName>
                                        </p:attrNameLst>
                                      </p:cBhvr>
                                      <p:to>
                                        <p:strVal val="visible"/>
                                      </p:to>
                                    </p:set>
                                    <p:anim calcmode="lin" valueType="num">
                                      <p:cBhvr additive="base">
                                        <p:cTn id="19" dur="5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048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0483">
                                            <p:txEl>
                                              <p:pRg st="3" end="3"/>
                                            </p:txEl>
                                          </p:spTgt>
                                        </p:tgtEl>
                                        <p:attrNameLst>
                                          <p:attrName>style.visibility</p:attrName>
                                        </p:attrNameLst>
                                      </p:cBhvr>
                                      <p:to>
                                        <p:strVal val="visible"/>
                                      </p:to>
                                    </p:set>
                                    <p:anim calcmode="lin" valueType="num">
                                      <p:cBhvr additive="base">
                                        <p:cTn id="25" dur="5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048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0483">
                                            <p:txEl>
                                              <p:pRg st="4" end="4"/>
                                            </p:txEl>
                                          </p:spTgt>
                                        </p:tgtEl>
                                        <p:attrNameLst>
                                          <p:attrName>style.visibility</p:attrName>
                                        </p:attrNameLst>
                                      </p:cBhvr>
                                      <p:to>
                                        <p:strVal val="visible"/>
                                      </p:to>
                                    </p:set>
                                    <p:anim calcmode="lin" valueType="num">
                                      <p:cBhvr additive="base">
                                        <p:cTn id="31" dur="500" fill="hold"/>
                                        <p:tgtEl>
                                          <p:spTgt spid="2048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048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rrowheads="1"/>
          </p:cNvSpPr>
          <p:nvPr>
            <p:ph type="title"/>
          </p:nvPr>
        </p:nvSpPr>
        <p:spPr/>
        <p:txBody>
          <a:bodyPr/>
          <a:lstStyle/>
          <a:p>
            <a:pPr eaLnBrk="1" hangingPunct="1"/>
            <a:r>
              <a:rPr lang="zh-CN" altLang="en-US" smtClean="0">
                <a:latin typeface="隶书" pitchFamily="49" charset="-122"/>
                <a:ea typeface="隶书" pitchFamily="49" charset="-122"/>
              </a:rPr>
              <a:t>现代控制理论</a:t>
            </a:r>
          </a:p>
        </p:txBody>
      </p:sp>
      <p:sp>
        <p:nvSpPr>
          <p:cNvPr id="20483" name="Rectangle 3"/>
          <p:cNvSpPr>
            <a:spLocks noGrp="1" noRot="1" noChangeArrowheads="1"/>
          </p:cNvSpPr>
          <p:nvPr>
            <p:ph type="body" idx="1"/>
          </p:nvPr>
        </p:nvSpPr>
        <p:spPr>
          <a:xfrm>
            <a:off x="323850" y="1484313"/>
            <a:ext cx="8540750" cy="4194175"/>
          </a:xfrm>
        </p:spPr>
        <p:txBody>
          <a:bodyPr/>
          <a:lstStyle/>
          <a:p>
            <a:pPr eaLnBrk="1" hangingPunct="1">
              <a:lnSpc>
                <a:spcPct val="90000"/>
              </a:lnSpc>
            </a:pPr>
            <a:r>
              <a:rPr lang="zh-CN" altLang="en-US" dirty="0" smtClean="0">
                <a:solidFill>
                  <a:srgbClr val="002060"/>
                </a:solidFill>
                <a:latin typeface="隶书" pitchFamily="49" charset="-122"/>
                <a:ea typeface="隶书" pitchFamily="49" charset="-122"/>
              </a:rPr>
              <a:t>现代控制理论：以状态方程为基础、用以研究多变量系统的分析设计方法，包括线性系统理论、最优控制理论、最优滤波理论、鲁棒控制理论及系统辨识理论等。</a:t>
            </a:r>
          </a:p>
        </p:txBody>
      </p:sp>
      <p:pic>
        <p:nvPicPr>
          <p:cNvPr id="32772" name="Picture 4"/>
          <p:cNvPicPr>
            <a:picLocks noChangeAspect="1" noChangeArrowheads="1"/>
          </p:cNvPicPr>
          <p:nvPr/>
        </p:nvPicPr>
        <p:blipFill>
          <a:blip r:embed="rId2">
            <a:extLst>
              <a:ext uri="{28A0092B-C50C-407E-A947-70E740481C1C}">
                <a14:useLocalDpi xmlns:a14="http://schemas.microsoft.com/office/drawing/2010/main" val="0"/>
              </a:ext>
            </a:extLst>
          </a:blip>
          <a:srcRect l="22108" t="41971" r="21870" b="21275"/>
          <a:stretch>
            <a:fillRect/>
          </a:stretch>
        </p:blipFill>
        <p:spPr bwMode="auto">
          <a:xfrm>
            <a:off x="1547813" y="3716338"/>
            <a:ext cx="6829425" cy="252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709580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rrowheads="1"/>
          </p:cNvSpPr>
          <p:nvPr>
            <p:ph type="title"/>
          </p:nvPr>
        </p:nvSpPr>
        <p:spPr/>
        <p:txBody>
          <a:bodyPr/>
          <a:lstStyle/>
          <a:p>
            <a:pPr eaLnBrk="1" hangingPunct="1"/>
            <a:r>
              <a:rPr lang="zh-CN" altLang="en-US" smtClean="0">
                <a:latin typeface="隶书" pitchFamily="49" charset="-122"/>
                <a:ea typeface="隶书" pitchFamily="49" charset="-122"/>
              </a:rPr>
              <a:t>智能控制理论</a:t>
            </a:r>
          </a:p>
        </p:txBody>
      </p:sp>
      <p:sp>
        <p:nvSpPr>
          <p:cNvPr id="33795" name="Rectangle 3"/>
          <p:cNvSpPr>
            <a:spLocks noGrp="1" noRot="1" noChangeArrowheads="1"/>
          </p:cNvSpPr>
          <p:nvPr>
            <p:ph type="body" idx="1"/>
          </p:nvPr>
        </p:nvSpPr>
        <p:spPr/>
        <p:txBody>
          <a:bodyPr/>
          <a:lstStyle/>
          <a:p>
            <a:pPr eaLnBrk="1" hangingPunct="1">
              <a:spcBef>
                <a:spcPct val="0"/>
              </a:spcBef>
            </a:pPr>
            <a:r>
              <a:rPr kumimoji="1" lang="en-US" altLang="zh-CN" smtClean="0">
                <a:solidFill>
                  <a:srgbClr val="000000"/>
                </a:solidFill>
                <a:latin typeface="隶书" pitchFamily="49" charset="-122"/>
                <a:ea typeface="隶书" pitchFamily="49" charset="-122"/>
              </a:rPr>
              <a:t>( 20</a:t>
            </a:r>
            <a:r>
              <a:rPr kumimoji="1" lang="zh-CN" altLang="en-US" smtClean="0">
                <a:solidFill>
                  <a:srgbClr val="000000"/>
                </a:solidFill>
                <a:latin typeface="隶书" pitchFamily="49" charset="-122"/>
                <a:ea typeface="隶书" pitchFamily="49" charset="-122"/>
              </a:rPr>
              <a:t>世纪</a:t>
            </a:r>
            <a:r>
              <a:rPr kumimoji="1" lang="en-US" altLang="zh-CN" smtClean="0">
                <a:solidFill>
                  <a:srgbClr val="000000"/>
                </a:solidFill>
                <a:latin typeface="隶书" pitchFamily="49" charset="-122"/>
                <a:ea typeface="隶书" pitchFamily="49" charset="-122"/>
              </a:rPr>
              <a:t>70</a:t>
            </a:r>
            <a:r>
              <a:rPr kumimoji="1" lang="zh-CN" altLang="en-US" smtClean="0">
                <a:solidFill>
                  <a:srgbClr val="000000"/>
                </a:solidFill>
                <a:latin typeface="隶书" pitchFamily="49" charset="-122"/>
                <a:ea typeface="隶书" pitchFamily="49" charset="-122"/>
              </a:rPr>
              <a:t>年代 </a:t>
            </a:r>
            <a:r>
              <a:rPr kumimoji="1" lang="en-US" altLang="zh-CN" smtClean="0">
                <a:solidFill>
                  <a:srgbClr val="000000"/>
                </a:solidFill>
                <a:latin typeface="隶书" pitchFamily="49" charset="-122"/>
                <a:ea typeface="隶书" pitchFamily="49" charset="-122"/>
              </a:rPr>
              <a:t>)</a:t>
            </a:r>
          </a:p>
          <a:p>
            <a:pPr eaLnBrk="1" hangingPunct="1">
              <a:spcBef>
                <a:spcPct val="0"/>
              </a:spcBef>
              <a:buFont typeface="Wingdings" pitchFamily="2" charset="2"/>
              <a:buNone/>
            </a:pPr>
            <a:r>
              <a:rPr kumimoji="1" lang="en-US" altLang="zh-CN" smtClean="0">
                <a:solidFill>
                  <a:srgbClr val="000000"/>
                </a:solidFill>
                <a:latin typeface="隶书" pitchFamily="49" charset="-122"/>
                <a:ea typeface="隶书" pitchFamily="49" charset="-122"/>
              </a:rPr>
              <a:t>      	</a:t>
            </a:r>
            <a:r>
              <a:rPr kumimoji="1" lang="zh-CN" altLang="en-US" smtClean="0">
                <a:solidFill>
                  <a:srgbClr val="000000"/>
                </a:solidFill>
                <a:latin typeface="隶书" pitchFamily="49" charset="-122"/>
                <a:ea typeface="隶书" pitchFamily="49" charset="-122"/>
              </a:rPr>
              <a:t>专家系统</a:t>
            </a:r>
          </a:p>
          <a:p>
            <a:pPr eaLnBrk="1" hangingPunct="1">
              <a:spcBef>
                <a:spcPct val="0"/>
              </a:spcBef>
              <a:buFont typeface="Wingdings" pitchFamily="2" charset="2"/>
              <a:buNone/>
            </a:pPr>
            <a:r>
              <a:rPr kumimoji="1" lang="zh-CN" altLang="en-US" smtClean="0">
                <a:solidFill>
                  <a:srgbClr val="000000"/>
                </a:solidFill>
                <a:latin typeface="隶书" pitchFamily="49" charset="-122"/>
                <a:ea typeface="隶书" pitchFamily="49" charset="-122"/>
              </a:rPr>
              <a:t>      	模糊控制</a:t>
            </a:r>
          </a:p>
          <a:p>
            <a:pPr eaLnBrk="1" hangingPunct="1">
              <a:spcBef>
                <a:spcPct val="0"/>
              </a:spcBef>
              <a:buFont typeface="Wingdings" pitchFamily="2" charset="2"/>
              <a:buNone/>
            </a:pPr>
            <a:r>
              <a:rPr kumimoji="1" lang="zh-CN" altLang="en-US" smtClean="0">
                <a:solidFill>
                  <a:srgbClr val="000000"/>
                </a:solidFill>
                <a:latin typeface="隶书" pitchFamily="49" charset="-122"/>
                <a:ea typeface="隶书" pitchFamily="49" charset="-122"/>
              </a:rPr>
              <a:t>      	神经网络</a:t>
            </a:r>
          </a:p>
          <a:p>
            <a:pPr eaLnBrk="1" hangingPunct="1">
              <a:spcBef>
                <a:spcPct val="0"/>
              </a:spcBef>
              <a:buFont typeface="Wingdings" pitchFamily="2" charset="2"/>
              <a:buNone/>
            </a:pPr>
            <a:r>
              <a:rPr kumimoji="1" lang="zh-CN" altLang="en-US" smtClean="0">
                <a:solidFill>
                  <a:srgbClr val="000000"/>
                </a:solidFill>
                <a:latin typeface="隶书" pitchFamily="49" charset="-122"/>
                <a:ea typeface="隶书" pitchFamily="49" charset="-122"/>
              </a:rPr>
              <a:t>      	遗传算法</a:t>
            </a:r>
            <a:endParaRPr kumimoji="1" lang="en-US" altLang="zh-CN" smtClean="0">
              <a:solidFill>
                <a:srgbClr val="000000"/>
              </a:solidFill>
              <a:latin typeface="隶书" pitchFamily="49" charset="-122"/>
              <a:ea typeface="隶书" pitchFamily="49" charset="-122"/>
            </a:endParaRPr>
          </a:p>
          <a:p>
            <a:pPr eaLnBrk="1" hangingPunct="1">
              <a:spcBef>
                <a:spcPct val="0"/>
              </a:spcBef>
              <a:buFont typeface="Wingdings" pitchFamily="2" charset="2"/>
              <a:buNone/>
            </a:pPr>
            <a:r>
              <a:rPr kumimoji="1" lang="zh-CN" altLang="en-US" smtClean="0">
                <a:solidFill>
                  <a:srgbClr val="000000"/>
                </a:solidFill>
                <a:latin typeface="隶书" pitchFamily="49" charset="-122"/>
                <a:ea typeface="隶书" pitchFamily="49" charset="-122"/>
              </a:rPr>
              <a:t>         多智能体协同控制</a:t>
            </a:r>
          </a:p>
        </p:txBody>
      </p:sp>
    </p:spTree>
    <p:extLst>
      <p:ext uri="{BB962C8B-B14F-4D97-AF65-F5344CB8AC3E}">
        <p14:creationId xmlns:p14="http://schemas.microsoft.com/office/powerpoint/2010/main" val="3912807994"/>
      </p:ext>
    </p:extLst>
  </p:cSld>
  <p:clrMapOvr>
    <a:masterClrMapping/>
  </p:clrMapOvr>
  <p:transition spd="slow"/>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矩形 4"/>
          <p:cNvSpPr>
            <a:spLocks noChangeArrowheads="1"/>
          </p:cNvSpPr>
          <p:nvPr/>
        </p:nvSpPr>
        <p:spPr bwMode="auto">
          <a:xfrm>
            <a:off x="771525" y="3900488"/>
            <a:ext cx="1568450"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200">
                <a:ea typeface="黑体" pitchFamily="2" charset="-122"/>
              </a:rPr>
              <a:t>      费根鲍姆，</a:t>
            </a:r>
            <a:endParaRPr lang="en-US" altLang="zh-CN" sz="1200">
              <a:ea typeface="黑体" pitchFamily="2" charset="-122"/>
            </a:endParaRPr>
          </a:p>
          <a:p>
            <a:r>
              <a:rPr lang="en-US" altLang="zh-CN" sz="1200">
                <a:ea typeface="黑体" pitchFamily="2" charset="-122"/>
              </a:rPr>
              <a:t> E. A. Feigenbaum</a:t>
            </a:r>
          </a:p>
          <a:p>
            <a:r>
              <a:rPr lang="en-US" altLang="zh-CN" sz="1200">
                <a:ea typeface="黑体" pitchFamily="2" charset="-122"/>
              </a:rPr>
              <a:t>        (1936</a:t>
            </a:r>
            <a:r>
              <a:rPr lang="zh-CN" altLang="en-US" sz="1200">
                <a:ea typeface="黑体" pitchFamily="2" charset="-122"/>
              </a:rPr>
              <a:t>～</a:t>
            </a:r>
            <a:endParaRPr lang="en-US" altLang="zh-CN" sz="1200">
              <a:ea typeface="黑体" pitchFamily="2" charset="-122"/>
            </a:endParaRPr>
          </a:p>
        </p:txBody>
      </p:sp>
      <p:sp>
        <p:nvSpPr>
          <p:cNvPr id="74759" name="矩形 4"/>
          <p:cNvSpPr>
            <a:spLocks noChangeArrowheads="1"/>
          </p:cNvSpPr>
          <p:nvPr/>
        </p:nvSpPr>
        <p:spPr bwMode="auto">
          <a:xfrm>
            <a:off x="586499" y="4653136"/>
            <a:ext cx="22367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rgbClr val="000000"/>
                </a:solidFill>
                <a:latin typeface="黑体" pitchFamily="2" charset="-122"/>
                <a:ea typeface="黑体" pitchFamily="2" charset="-122"/>
              </a:rPr>
              <a:t>1968</a:t>
            </a:r>
            <a:r>
              <a:rPr lang="zh-CN" altLang="en-US" sz="2000" dirty="0">
                <a:solidFill>
                  <a:srgbClr val="000000"/>
                </a:solidFill>
                <a:latin typeface="黑体" pitchFamily="2" charset="-122"/>
                <a:ea typeface="黑体" pitchFamily="2" charset="-122"/>
              </a:rPr>
              <a:t>，专家系统：</a:t>
            </a:r>
          </a:p>
        </p:txBody>
      </p:sp>
      <p:pic>
        <p:nvPicPr>
          <p:cNvPr id="74762"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813" y="1627188"/>
            <a:ext cx="1714500" cy="2243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矩形 4"/>
          <p:cNvSpPr>
            <a:spLocks noChangeArrowheads="1"/>
          </p:cNvSpPr>
          <p:nvPr/>
        </p:nvSpPr>
        <p:spPr bwMode="auto">
          <a:xfrm>
            <a:off x="2803525" y="4583113"/>
            <a:ext cx="55721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000000"/>
                </a:solidFill>
                <a:latin typeface="黑体" pitchFamily="2" charset="-122"/>
                <a:ea typeface="黑体" pitchFamily="2" charset="-122"/>
              </a:rPr>
              <a:t>在某些特定领域内，应用大量专家知识和推理</a:t>
            </a:r>
            <a:endParaRPr lang="en-US" altLang="zh-CN" sz="2000">
              <a:solidFill>
                <a:srgbClr val="000000"/>
              </a:solidFill>
              <a:latin typeface="黑体" pitchFamily="2" charset="-122"/>
              <a:ea typeface="黑体" pitchFamily="2" charset="-122"/>
            </a:endParaRPr>
          </a:p>
          <a:p>
            <a:r>
              <a:rPr lang="zh-CN" altLang="en-US" sz="2000">
                <a:solidFill>
                  <a:srgbClr val="000000"/>
                </a:solidFill>
                <a:latin typeface="黑体" pitchFamily="2" charset="-122"/>
                <a:ea typeface="黑体" pitchFamily="2" charset="-122"/>
              </a:rPr>
              <a:t>方法求解复杂问题的一种人工智能计算机程序。</a:t>
            </a:r>
          </a:p>
        </p:txBody>
      </p:sp>
      <p:sp>
        <p:nvSpPr>
          <p:cNvPr id="34822" name="Rectangle 2"/>
          <p:cNvSpPr txBox="1">
            <a:spLocks noRot="1" noChangeArrowheads="1"/>
          </p:cNvSpPr>
          <p:nvPr/>
        </p:nvSpPr>
        <p:spPr bwMode="auto">
          <a:xfrm>
            <a:off x="301625" y="609600"/>
            <a:ext cx="854075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4400">
                <a:solidFill>
                  <a:schemeClr val="tx2"/>
                </a:solidFill>
                <a:latin typeface="隶书" pitchFamily="49" charset="-122"/>
                <a:ea typeface="隶书" pitchFamily="49" charset="-122"/>
              </a:rPr>
              <a:t>智能控制理论</a:t>
            </a:r>
          </a:p>
        </p:txBody>
      </p:sp>
    </p:spTree>
    <p:extLst>
      <p:ext uri="{BB962C8B-B14F-4D97-AF65-F5344CB8AC3E}">
        <p14:creationId xmlns:p14="http://schemas.microsoft.com/office/powerpoint/2010/main" val="313062019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4762"/>
                                        </p:tgtEl>
                                        <p:attrNameLst>
                                          <p:attrName>style.visibility</p:attrName>
                                        </p:attrNameLst>
                                      </p:cBhvr>
                                      <p:to>
                                        <p:strVal val="visible"/>
                                      </p:to>
                                    </p:set>
                                    <p:animEffect transition="in" filter="fade">
                                      <p:cBhvr>
                                        <p:cTn id="7" dur="500"/>
                                        <p:tgtEl>
                                          <p:spTgt spid="74762"/>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4756"/>
                                        </p:tgtEl>
                                        <p:attrNameLst>
                                          <p:attrName>style.visibility</p:attrName>
                                        </p:attrNameLst>
                                      </p:cBhvr>
                                      <p:to>
                                        <p:strVal val="visible"/>
                                      </p:to>
                                    </p:set>
                                    <p:animEffect transition="in" filter="wipe(up)">
                                      <p:cBhvr>
                                        <p:cTn id="11" dur="500"/>
                                        <p:tgtEl>
                                          <p:spTgt spid="74756"/>
                                        </p:tgtEl>
                                      </p:cBhvr>
                                    </p:animEffect>
                                  </p:childTnLst>
                                </p:cTn>
                              </p:par>
                            </p:childTnLst>
                          </p:cTn>
                        </p:par>
                        <p:par>
                          <p:cTn id="12" fill="hold" nodeType="afterGroup">
                            <p:stCondLst>
                              <p:cond delay="1000"/>
                            </p:stCondLst>
                            <p:childTnLst>
                              <p:par>
                                <p:cTn id="13" presetID="22" presetClass="entr" presetSubtype="8" fill="hold" grpId="0" nodeType="afterEffect">
                                  <p:stCondLst>
                                    <p:cond delay="500"/>
                                  </p:stCondLst>
                                  <p:childTnLst>
                                    <p:set>
                                      <p:cBhvr>
                                        <p:cTn id="14" dur="1" fill="hold">
                                          <p:stCondLst>
                                            <p:cond delay="0"/>
                                          </p:stCondLst>
                                        </p:cTn>
                                        <p:tgtEl>
                                          <p:spTgt spid="74759"/>
                                        </p:tgtEl>
                                        <p:attrNameLst>
                                          <p:attrName>style.visibility</p:attrName>
                                        </p:attrNameLst>
                                      </p:cBhvr>
                                      <p:to>
                                        <p:strVal val="visible"/>
                                      </p:to>
                                    </p:set>
                                    <p:animEffect transition="in" filter="wipe(left)">
                                      <p:cBhvr>
                                        <p:cTn id="15" dur="1000"/>
                                        <p:tgtEl>
                                          <p:spTgt spid="7475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down)">
                                      <p:cBhvr>
                                        <p:cTn id="2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6" grpId="0"/>
      <p:bldP spid="74759" grpId="0"/>
      <p:bldP spid="1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矩形 4"/>
          <p:cNvSpPr>
            <a:spLocks noChangeArrowheads="1"/>
          </p:cNvSpPr>
          <p:nvPr/>
        </p:nvSpPr>
        <p:spPr bwMode="auto">
          <a:xfrm>
            <a:off x="771525" y="3900488"/>
            <a:ext cx="1568450"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200">
                <a:solidFill>
                  <a:srgbClr val="000000"/>
                </a:solidFill>
                <a:ea typeface="黑体" pitchFamily="2" charset="-122"/>
              </a:rPr>
              <a:t>      费根鲍姆，</a:t>
            </a:r>
            <a:endParaRPr lang="en-US" altLang="zh-CN" sz="1200">
              <a:solidFill>
                <a:srgbClr val="000000"/>
              </a:solidFill>
              <a:ea typeface="黑体" pitchFamily="2" charset="-122"/>
            </a:endParaRPr>
          </a:p>
          <a:p>
            <a:r>
              <a:rPr lang="en-US" altLang="zh-CN" sz="1200">
                <a:solidFill>
                  <a:srgbClr val="000000"/>
                </a:solidFill>
                <a:ea typeface="黑体" pitchFamily="2" charset="-122"/>
              </a:rPr>
              <a:t> E. A. Feigenbaum</a:t>
            </a:r>
          </a:p>
          <a:p>
            <a:r>
              <a:rPr lang="en-US" altLang="zh-CN" sz="1200">
                <a:solidFill>
                  <a:srgbClr val="000000"/>
                </a:solidFill>
                <a:ea typeface="黑体" pitchFamily="2" charset="-122"/>
              </a:rPr>
              <a:t>        (1936</a:t>
            </a:r>
            <a:r>
              <a:rPr lang="zh-CN" altLang="en-US" sz="1200">
                <a:solidFill>
                  <a:srgbClr val="000000"/>
                </a:solidFill>
                <a:ea typeface="黑体" pitchFamily="2" charset="-122"/>
              </a:rPr>
              <a:t>～</a:t>
            </a:r>
            <a:endParaRPr lang="en-US" altLang="zh-CN" sz="1200">
              <a:solidFill>
                <a:srgbClr val="000000"/>
              </a:solidFill>
              <a:ea typeface="黑体" pitchFamily="2" charset="-122"/>
            </a:endParaRPr>
          </a:p>
        </p:txBody>
      </p:sp>
      <p:sp>
        <p:nvSpPr>
          <p:cNvPr id="74757" name="矩形 8"/>
          <p:cNvSpPr>
            <a:spLocks noChangeArrowheads="1"/>
          </p:cNvSpPr>
          <p:nvPr/>
        </p:nvSpPr>
        <p:spPr bwMode="auto">
          <a:xfrm>
            <a:off x="2730500" y="3902075"/>
            <a:ext cx="1912938"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200">
                <a:solidFill>
                  <a:srgbClr val="000000"/>
                </a:solidFill>
                <a:ea typeface="黑体" pitchFamily="2" charset="-122"/>
              </a:rPr>
              <a:t>扎德</a:t>
            </a:r>
            <a:r>
              <a:rPr lang="en-US" altLang="zh-CN" sz="1200">
                <a:solidFill>
                  <a:srgbClr val="000000"/>
                </a:solidFill>
                <a:ea typeface="黑体" pitchFamily="2" charset="-122"/>
              </a:rPr>
              <a:t>,</a:t>
            </a:r>
            <a:r>
              <a:rPr lang="zh-CN" altLang="en-US" sz="1200">
                <a:solidFill>
                  <a:srgbClr val="000000"/>
                </a:solidFill>
                <a:ea typeface="黑体" pitchFamily="2" charset="-122"/>
              </a:rPr>
              <a:t>美国自动控制专家</a:t>
            </a:r>
            <a:endParaRPr lang="en-US" altLang="zh-CN" sz="1200">
              <a:solidFill>
                <a:srgbClr val="000000"/>
              </a:solidFill>
              <a:ea typeface="黑体" pitchFamily="2" charset="-122"/>
            </a:endParaRPr>
          </a:p>
          <a:p>
            <a:r>
              <a:rPr lang="en-US" altLang="zh-CN" sz="1200">
                <a:solidFill>
                  <a:srgbClr val="000000"/>
                </a:solidFill>
                <a:ea typeface="黑体" pitchFamily="2" charset="-122"/>
              </a:rPr>
              <a:t>         Zadeh</a:t>
            </a:r>
            <a:r>
              <a:rPr lang="zh-CN" altLang="en-US" sz="1200">
                <a:solidFill>
                  <a:srgbClr val="000000"/>
                </a:solidFill>
                <a:ea typeface="黑体" pitchFamily="2" charset="-122"/>
              </a:rPr>
              <a:t>，</a:t>
            </a:r>
            <a:r>
              <a:rPr lang="en-US" altLang="zh-CN" sz="1200">
                <a:solidFill>
                  <a:srgbClr val="000000"/>
                </a:solidFill>
                <a:ea typeface="黑体" pitchFamily="2" charset="-122"/>
              </a:rPr>
              <a:t>L.A.</a:t>
            </a:r>
          </a:p>
          <a:p>
            <a:r>
              <a:rPr lang="en-US" altLang="zh-CN" sz="1200">
                <a:solidFill>
                  <a:srgbClr val="000000"/>
                </a:solidFill>
                <a:ea typeface="黑体" pitchFamily="2" charset="-122"/>
              </a:rPr>
              <a:t>       (1921.2</a:t>
            </a:r>
            <a:r>
              <a:rPr lang="zh-CN" altLang="en-US" sz="1200">
                <a:solidFill>
                  <a:srgbClr val="000000"/>
                </a:solidFill>
                <a:ea typeface="黑体" pitchFamily="2" charset="-122"/>
              </a:rPr>
              <a:t>～</a:t>
            </a:r>
            <a:r>
              <a:rPr lang="en-US" altLang="zh-CN" sz="1200">
                <a:solidFill>
                  <a:srgbClr val="000000"/>
                </a:solidFill>
                <a:ea typeface="黑体" pitchFamily="2" charset="-122"/>
              </a:rPr>
              <a:t>2017.9</a:t>
            </a:r>
            <a:r>
              <a:rPr lang="zh-CN" altLang="en-US" sz="1200">
                <a:solidFill>
                  <a:srgbClr val="000000"/>
                </a:solidFill>
                <a:ea typeface="黑体" pitchFamily="2" charset="-122"/>
              </a:rPr>
              <a:t>）</a:t>
            </a:r>
          </a:p>
        </p:txBody>
      </p:sp>
      <p:sp>
        <p:nvSpPr>
          <p:cNvPr id="35844" name="矩形 4"/>
          <p:cNvSpPr>
            <a:spLocks noChangeArrowheads="1"/>
          </p:cNvSpPr>
          <p:nvPr/>
        </p:nvSpPr>
        <p:spPr bwMode="auto">
          <a:xfrm>
            <a:off x="554038" y="4581525"/>
            <a:ext cx="22367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rgbClr val="000000"/>
                </a:solidFill>
                <a:latin typeface="黑体" pitchFamily="2" charset="-122"/>
                <a:ea typeface="黑体" pitchFamily="2" charset="-122"/>
              </a:rPr>
              <a:t>1968</a:t>
            </a:r>
            <a:r>
              <a:rPr lang="zh-CN" altLang="en-US" sz="2000">
                <a:solidFill>
                  <a:srgbClr val="000000"/>
                </a:solidFill>
                <a:latin typeface="黑体" pitchFamily="2" charset="-122"/>
                <a:ea typeface="黑体" pitchFamily="2" charset="-122"/>
              </a:rPr>
              <a:t>，专家系统：</a:t>
            </a:r>
          </a:p>
        </p:txBody>
      </p:sp>
      <p:sp>
        <p:nvSpPr>
          <p:cNvPr id="74760" name="矩形 4"/>
          <p:cNvSpPr>
            <a:spLocks noChangeArrowheads="1"/>
          </p:cNvSpPr>
          <p:nvPr/>
        </p:nvSpPr>
        <p:spPr bwMode="auto">
          <a:xfrm>
            <a:off x="539750" y="4979988"/>
            <a:ext cx="22367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rgbClr val="000000"/>
                </a:solidFill>
                <a:latin typeface="黑体" pitchFamily="2" charset="-122"/>
                <a:ea typeface="黑体" pitchFamily="2" charset="-122"/>
              </a:rPr>
              <a:t>1965</a:t>
            </a:r>
            <a:r>
              <a:rPr lang="zh-CN" altLang="en-US" sz="2000">
                <a:solidFill>
                  <a:srgbClr val="000000"/>
                </a:solidFill>
                <a:latin typeface="黑体" pitchFamily="2" charset="-122"/>
                <a:ea typeface="黑体" pitchFamily="2" charset="-122"/>
              </a:rPr>
              <a:t>，模糊控制：</a:t>
            </a:r>
          </a:p>
        </p:txBody>
      </p:sp>
      <p:pic>
        <p:nvPicPr>
          <p:cNvPr id="35846"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813" y="1627188"/>
            <a:ext cx="1714500" cy="2243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4763"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4788" y="1643063"/>
            <a:ext cx="1728787" cy="2200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648"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6538" y="1668463"/>
            <a:ext cx="1658937" cy="2125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矩形 4"/>
          <p:cNvSpPr>
            <a:spLocks noChangeArrowheads="1"/>
          </p:cNvSpPr>
          <p:nvPr/>
        </p:nvSpPr>
        <p:spPr bwMode="auto">
          <a:xfrm>
            <a:off x="2820988" y="4953000"/>
            <a:ext cx="49307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000000"/>
                </a:solidFill>
                <a:latin typeface="黑体" pitchFamily="2" charset="-122"/>
                <a:ea typeface="黑体" pitchFamily="2" charset="-122"/>
              </a:rPr>
              <a:t>以模糊集合论、模糊语言变量和模糊逻辑</a:t>
            </a:r>
            <a:endParaRPr lang="en-US" altLang="zh-CN" sz="2000">
              <a:solidFill>
                <a:srgbClr val="000000"/>
              </a:solidFill>
              <a:latin typeface="黑体" pitchFamily="2" charset="-122"/>
              <a:ea typeface="黑体" pitchFamily="2" charset="-122"/>
            </a:endParaRPr>
          </a:p>
          <a:p>
            <a:r>
              <a:rPr lang="zh-CN" altLang="en-US" sz="2000">
                <a:solidFill>
                  <a:srgbClr val="000000"/>
                </a:solidFill>
                <a:latin typeface="黑体" pitchFamily="2" charset="-122"/>
                <a:ea typeface="黑体" pitchFamily="2" charset="-122"/>
              </a:rPr>
              <a:t>推理为基础的一种计算机数字控制技术。</a:t>
            </a:r>
          </a:p>
        </p:txBody>
      </p:sp>
      <p:sp>
        <p:nvSpPr>
          <p:cNvPr id="35850" name="Rectangle 2"/>
          <p:cNvSpPr txBox="1">
            <a:spLocks noRot="1" noChangeArrowheads="1"/>
          </p:cNvSpPr>
          <p:nvPr/>
        </p:nvSpPr>
        <p:spPr bwMode="auto">
          <a:xfrm>
            <a:off x="301625" y="609600"/>
            <a:ext cx="854075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4400">
                <a:solidFill>
                  <a:schemeClr val="tx2"/>
                </a:solidFill>
                <a:latin typeface="隶书" pitchFamily="49" charset="-122"/>
                <a:ea typeface="隶书" pitchFamily="49" charset="-122"/>
              </a:rPr>
              <a:t>智能控制理论</a:t>
            </a:r>
          </a:p>
        </p:txBody>
      </p:sp>
    </p:spTree>
    <p:extLst>
      <p:ext uri="{BB962C8B-B14F-4D97-AF65-F5344CB8AC3E}">
        <p14:creationId xmlns:p14="http://schemas.microsoft.com/office/powerpoint/2010/main" val="40728610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4763"/>
                                        </p:tgtEl>
                                        <p:attrNameLst>
                                          <p:attrName>style.visibility</p:attrName>
                                        </p:attrNameLst>
                                      </p:cBhvr>
                                      <p:to>
                                        <p:strVal val="visible"/>
                                      </p:to>
                                    </p:set>
                                    <p:animEffect transition="in" filter="fade">
                                      <p:cBhvr>
                                        <p:cTn id="7" dur="500"/>
                                        <p:tgtEl>
                                          <p:spTgt spid="74763"/>
                                        </p:tgtEl>
                                      </p:cBhvr>
                                    </p:animEffect>
                                  </p:childTnLst>
                                </p:cTn>
                              </p:par>
                              <p:par>
                                <p:cTn id="8" presetID="10" presetClass="entr" presetSubtype="0" fill="hold" nodeType="withEffect">
                                  <p:stCondLst>
                                    <p:cond delay="0"/>
                                  </p:stCondLst>
                                  <p:childTnLst>
                                    <p:set>
                                      <p:cBhvr>
                                        <p:cTn id="9" dur="1" fill="hold">
                                          <p:stCondLst>
                                            <p:cond delay="0"/>
                                          </p:stCondLst>
                                        </p:cTn>
                                        <p:tgtEl>
                                          <p:spTgt spid="69648"/>
                                        </p:tgtEl>
                                        <p:attrNameLst>
                                          <p:attrName>style.visibility</p:attrName>
                                        </p:attrNameLst>
                                      </p:cBhvr>
                                      <p:to>
                                        <p:strVal val="visible"/>
                                      </p:to>
                                    </p:set>
                                    <p:animEffect transition="in" filter="fade">
                                      <p:cBhvr>
                                        <p:cTn id="10" dur="500"/>
                                        <p:tgtEl>
                                          <p:spTgt spid="69648"/>
                                        </p:tgtEl>
                                      </p:cBhvr>
                                    </p:animEffect>
                                  </p:childTnLst>
                                </p:cTn>
                              </p:par>
                            </p:childTnLst>
                          </p:cTn>
                        </p:par>
                        <p:par>
                          <p:cTn id="11" fill="hold" nodeType="afterGroup">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74757"/>
                                        </p:tgtEl>
                                        <p:attrNameLst>
                                          <p:attrName>style.visibility</p:attrName>
                                        </p:attrNameLst>
                                      </p:cBhvr>
                                      <p:to>
                                        <p:strVal val="visible"/>
                                      </p:to>
                                    </p:set>
                                    <p:animEffect transition="in" filter="wipe(up)">
                                      <p:cBhvr>
                                        <p:cTn id="14" dur="500"/>
                                        <p:tgtEl>
                                          <p:spTgt spid="74757"/>
                                        </p:tgtEl>
                                      </p:cBhvr>
                                    </p:animEffect>
                                  </p:childTnLst>
                                </p:cTn>
                              </p:par>
                            </p:childTnLst>
                          </p:cTn>
                        </p:par>
                        <p:par>
                          <p:cTn id="15" fill="hold" nodeType="afterGroup">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74760"/>
                                        </p:tgtEl>
                                        <p:attrNameLst>
                                          <p:attrName>style.visibility</p:attrName>
                                        </p:attrNameLst>
                                      </p:cBhvr>
                                      <p:to>
                                        <p:strVal val="visible"/>
                                      </p:to>
                                    </p:set>
                                    <p:animEffect transition="in" filter="wipe(left)">
                                      <p:cBhvr>
                                        <p:cTn id="18" dur="1000"/>
                                        <p:tgtEl>
                                          <p:spTgt spid="74760"/>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wipe(up)">
                                      <p:cBhvr>
                                        <p:cTn id="21"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7" grpId="0"/>
      <p:bldP spid="74760" grpId="0"/>
      <p:bldP spid="1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矩形 4"/>
          <p:cNvSpPr>
            <a:spLocks noChangeArrowheads="1"/>
          </p:cNvSpPr>
          <p:nvPr/>
        </p:nvSpPr>
        <p:spPr bwMode="auto">
          <a:xfrm>
            <a:off x="771525" y="3900488"/>
            <a:ext cx="1568450"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200">
                <a:solidFill>
                  <a:srgbClr val="000000"/>
                </a:solidFill>
                <a:ea typeface="黑体" pitchFamily="2" charset="-122"/>
              </a:rPr>
              <a:t>      费根鲍姆，</a:t>
            </a:r>
            <a:endParaRPr lang="en-US" altLang="zh-CN" sz="1200">
              <a:solidFill>
                <a:srgbClr val="000000"/>
              </a:solidFill>
              <a:ea typeface="黑体" pitchFamily="2" charset="-122"/>
            </a:endParaRPr>
          </a:p>
          <a:p>
            <a:r>
              <a:rPr lang="en-US" altLang="zh-CN" sz="1200">
                <a:solidFill>
                  <a:srgbClr val="000000"/>
                </a:solidFill>
                <a:ea typeface="黑体" pitchFamily="2" charset="-122"/>
              </a:rPr>
              <a:t> E. A. Feigenbaum</a:t>
            </a:r>
          </a:p>
          <a:p>
            <a:r>
              <a:rPr lang="en-US" altLang="zh-CN" sz="1200">
                <a:solidFill>
                  <a:srgbClr val="000000"/>
                </a:solidFill>
                <a:ea typeface="黑体" pitchFamily="2" charset="-122"/>
              </a:rPr>
              <a:t>        (1936</a:t>
            </a:r>
            <a:r>
              <a:rPr lang="zh-CN" altLang="en-US" sz="1200">
                <a:solidFill>
                  <a:srgbClr val="000000"/>
                </a:solidFill>
                <a:ea typeface="黑体" pitchFamily="2" charset="-122"/>
              </a:rPr>
              <a:t>～</a:t>
            </a:r>
            <a:endParaRPr lang="en-US" altLang="zh-CN" sz="1200">
              <a:solidFill>
                <a:srgbClr val="000000"/>
              </a:solidFill>
              <a:ea typeface="黑体" pitchFamily="2" charset="-122"/>
            </a:endParaRPr>
          </a:p>
        </p:txBody>
      </p:sp>
      <p:sp>
        <p:nvSpPr>
          <p:cNvPr id="36867" name="矩形 8"/>
          <p:cNvSpPr>
            <a:spLocks noChangeArrowheads="1"/>
          </p:cNvSpPr>
          <p:nvPr/>
        </p:nvSpPr>
        <p:spPr bwMode="auto">
          <a:xfrm>
            <a:off x="2730500" y="3902075"/>
            <a:ext cx="1912938"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200">
                <a:solidFill>
                  <a:srgbClr val="000000"/>
                </a:solidFill>
                <a:ea typeface="黑体" pitchFamily="2" charset="-122"/>
              </a:rPr>
              <a:t>扎德</a:t>
            </a:r>
            <a:r>
              <a:rPr lang="en-US" altLang="zh-CN" sz="1200">
                <a:solidFill>
                  <a:srgbClr val="000000"/>
                </a:solidFill>
                <a:ea typeface="黑体" pitchFamily="2" charset="-122"/>
              </a:rPr>
              <a:t>,</a:t>
            </a:r>
            <a:r>
              <a:rPr lang="zh-CN" altLang="en-US" sz="1200">
                <a:solidFill>
                  <a:srgbClr val="000000"/>
                </a:solidFill>
                <a:ea typeface="黑体" pitchFamily="2" charset="-122"/>
              </a:rPr>
              <a:t>美国自动控制专家</a:t>
            </a:r>
            <a:endParaRPr lang="en-US" altLang="zh-CN" sz="1200">
              <a:solidFill>
                <a:srgbClr val="000000"/>
              </a:solidFill>
              <a:ea typeface="黑体" pitchFamily="2" charset="-122"/>
            </a:endParaRPr>
          </a:p>
          <a:p>
            <a:r>
              <a:rPr lang="en-US" altLang="zh-CN" sz="1200">
                <a:solidFill>
                  <a:srgbClr val="000000"/>
                </a:solidFill>
                <a:ea typeface="黑体" pitchFamily="2" charset="-122"/>
              </a:rPr>
              <a:t>         Zadeh</a:t>
            </a:r>
            <a:r>
              <a:rPr lang="zh-CN" altLang="en-US" sz="1200">
                <a:solidFill>
                  <a:srgbClr val="000000"/>
                </a:solidFill>
                <a:ea typeface="黑体" pitchFamily="2" charset="-122"/>
              </a:rPr>
              <a:t>，</a:t>
            </a:r>
            <a:r>
              <a:rPr lang="en-US" altLang="zh-CN" sz="1200">
                <a:solidFill>
                  <a:srgbClr val="000000"/>
                </a:solidFill>
                <a:ea typeface="黑体" pitchFamily="2" charset="-122"/>
              </a:rPr>
              <a:t>L.A.</a:t>
            </a:r>
          </a:p>
          <a:p>
            <a:r>
              <a:rPr lang="en-US" altLang="zh-CN" sz="1200">
                <a:solidFill>
                  <a:srgbClr val="000000"/>
                </a:solidFill>
                <a:ea typeface="黑体" pitchFamily="2" charset="-122"/>
              </a:rPr>
              <a:t>       (1921.2</a:t>
            </a:r>
            <a:r>
              <a:rPr lang="zh-CN" altLang="en-US" sz="1200">
                <a:solidFill>
                  <a:srgbClr val="000000"/>
                </a:solidFill>
                <a:ea typeface="黑体" pitchFamily="2" charset="-122"/>
              </a:rPr>
              <a:t>～</a:t>
            </a:r>
            <a:r>
              <a:rPr lang="en-US" altLang="zh-CN" sz="1200">
                <a:solidFill>
                  <a:srgbClr val="000000"/>
                </a:solidFill>
                <a:ea typeface="黑体" pitchFamily="2" charset="-122"/>
              </a:rPr>
              <a:t>2017.9</a:t>
            </a:r>
            <a:r>
              <a:rPr lang="zh-CN" altLang="en-US" sz="1200">
                <a:solidFill>
                  <a:srgbClr val="000000"/>
                </a:solidFill>
                <a:ea typeface="黑体" pitchFamily="2" charset="-122"/>
              </a:rPr>
              <a:t>）</a:t>
            </a:r>
          </a:p>
        </p:txBody>
      </p:sp>
      <p:sp>
        <p:nvSpPr>
          <p:cNvPr id="36868" name="矩形 4"/>
          <p:cNvSpPr>
            <a:spLocks noChangeArrowheads="1"/>
          </p:cNvSpPr>
          <p:nvPr/>
        </p:nvSpPr>
        <p:spPr bwMode="auto">
          <a:xfrm>
            <a:off x="554038" y="4581525"/>
            <a:ext cx="22367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rgbClr val="000000"/>
                </a:solidFill>
                <a:latin typeface="黑体" pitchFamily="2" charset="-122"/>
                <a:ea typeface="黑体" pitchFamily="2" charset="-122"/>
              </a:rPr>
              <a:t>1968</a:t>
            </a:r>
            <a:r>
              <a:rPr lang="zh-CN" altLang="en-US" sz="2000">
                <a:solidFill>
                  <a:srgbClr val="000000"/>
                </a:solidFill>
                <a:latin typeface="黑体" pitchFamily="2" charset="-122"/>
                <a:ea typeface="黑体" pitchFamily="2" charset="-122"/>
              </a:rPr>
              <a:t>，专家系统：</a:t>
            </a:r>
          </a:p>
        </p:txBody>
      </p:sp>
      <p:sp>
        <p:nvSpPr>
          <p:cNvPr id="36869" name="矩形 4"/>
          <p:cNvSpPr>
            <a:spLocks noChangeArrowheads="1"/>
          </p:cNvSpPr>
          <p:nvPr/>
        </p:nvSpPr>
        <p:spPr bwMode="auto">
          <a:xfrm>
            <a:off x="539750" y="4979988"/>
            <a:ext cx="22367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rgbClr val="000000"/>
                </a:solidFill>
                <a:latin typeface="黑体" pitchFamily="2" charset="-122"/>
                <a:ea typeface="黑体" pitchFamily="2" charset="-122"/>
              </a:rPr>
              <a:t>1965</a:t>
            </a:r>
            <a:r>
              <a:rPr lang="zh-CN" altLang="en-US" sz="2000">
                <a:solidFill>
                  <a:srgbClr val="000000"/>
                </a:solidFill>
                <a:latin typeface="黑体" pitchFamily="2" charset="-122"/>
                <a:ea typeface="黑体" pitchFamily="2" charset="-122"/>
              </a:rPr>
              <a:t>，模糊控制：</a:t>
            </a:r>
          </a:p>
        </p:txBody>
      </p:sp>
      <p:pic>
        <p:nvPicPr>
          <p:cNvPr id="36870"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813" y="1627188"/>
            <a:ext cx="1714500" cy="2243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871"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4788" y="1643063"/>
            <a:ext cx="1728787" cy="2200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4764" name="矩形 1"/>
          <p:cNvSpPr>
            <a:spLocks noChangeArrowheads="1"/>
          </p:cNvSpPr>
          <p:nvPr/>
        </p:nvSpPr>
        <p:spPr bwMode="auto">
          <a:xfrm>
            <a:off x="539750" y="5370513"/>
            <a:ext cx="22367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a:solidFill>
                  <a:srgbClr val="000000"/>
                </a:solidFill>
                <a:ea typeface="黑体" pitchFamily="2" charset="-122"/>
              </a:rPr>
              <a:t>1982</a:t>
            </a:r>
            <a:r>
              <a:rPr lang="zh-CN" altLang="en-US" sz="2000">
                <a:solidFill>
                  <a:srgbClr val="000000"/>
                </a:solidFill>
                <a:ea typeface="黑体" pitchFamily="2" charset="-122"/>
              </a:rPr>
              <a:t>，神经网络：</a:t>
            </a:r>
          </a:p>
        </p:txBody>
      </p:sp>
      <p:pic>
        <p:nvPicPr>
          <p:cNvPr id="36873"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6538" y="1668463"/>
            <a:ext cx="1658937" cy="2125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 name="矩形 1"/>
          <p:cNvSpPr>
            <a:spLocks noChangeArrowheads="1"/>
          </p:cNvSpPr>
          <p:nvPr/>
        </p:nvSpPr>
        <p:spPr bwMode="auto">
          <a:xfrm>
            <a:off x="2870200" y="5386388"/>
            <a:ext cx="493236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a:solidFill>
                  <a:srgbClr val="000000"/>
                </a:solidFill>
                <a:latin typeface="黑体" pitchFamily="2" charset="-122"/>
                <a:ea typeface="黑体" pitchFamily="2" charset="-122"/>
              </a:rPr>
              <a:t>一种仿动物神经网络行为特征，进行</a:t>
            </a:r>
            <a:endParaRPr lang="en-US" altLang="zh-CN" sz="2000">
              <a:solidFill>
                <a:srgbClr val="000000"/>
              </a:solidFill>
              <a:latin typeface="黑体" pitchFamily="2" charset="-122"/>
              <a:ea typeface="黑体" pitchFamily="2" charset="-122"/>
            </a:endParaRPr>
          </a:p>
          <a:p>
            <a:r>
              <a:rPr lang="zh-CN" altLang="en-US" sz="2000">
                <a:solidFill>
                  <a:srgbClr val="000000"/>
                </a:solidFill>
                <a:latin typeface="黑体" pitchFamily="2" charset="-122"/>
                <a:ea typeface="黑体" pitchFamily="2" charset="-122"/>
              </a:rPr>
              <a:t>分布式并行信息处理的算法数学模型。</a:t>
            </a:r>
          </a:p>
        </p:txBody>
      </p:sp>
      <p:sp>
        <p:nvSpPr>
          <p:cNvPr id="36875" name="Rectangle 2"/>
          <p:cNvSpPr txBox="1">
            <a:spLocks noRot="1" noChangeArrowheads="1"/>
          </p:cNvSpPr>
          <p:nvPr/>
        </p:nvSpPr>
        <p:spPr bwMode="auto">
          <a:xfrm>
            <a:off x="301625" y="609600"/>
            <a:ext cx="854075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4400">
                <a:solidFill>
                  <a:schemeClr val="tx2"/>
                </a:solidFill>
                <a:latin typeface="隶书" pitchFamily="49" charset="-122"/>
                <a:ea typeface="隶书" pitchFamily="49" charset="-122"/>
              </a:rPr>
              <a:t>智能控制理论</a:t>
            </a:r>
          </a:p>
        </p:txBody>
      </p:sp>
    </p:spTree>
    <p:extLst>
      <p:ext uri="{BB962C8B-B14F-4D97-AF65-F5344CB8AC3E}">
        <p14:creationId xmlns:p14="http://schemas.microsoft.com/office/powerpoint/2010/main" val="2844733839"/>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4764"/>
                                        </p:tgtEl>
                                        <p:attrNameLst>
                                          <p:attrName>style.visibility</p:attrName>
                                        </p:attrNameLst>
                                      </p:cBhvr>
                                      <p:to>
                                        <p:strVal val="visible"/>
                                      </p:to>
                                    </p:set>
                                    <p:animEffect transition="in" filter="wipe(left)">
                                      <p:cBhvr>
                                        <p:cTn id="7" dur="500"/>
                                        <p:tgtEl>
                                          <p:spTgt spid="74764"/>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up)">
                                      <p:cBhvr>
                                        <p:cTn id="10"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64" grpId="0"/>
      <p:bldP spid="2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矩形 4"/>
          <p:cNvSpPr>
            <a:spLocks noChangeArrowheads="1"/>
          </p:cNvSpPr>
          <p:nvPr/>
        </p:nvSpPr>
        <p:spPr bwMode="auto">
          <a:xfrm>
            <a:off x="771525" y="3900488"/>
            <a:ext cx="1568450"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200">
                <a:solidFill>
                  <a:srgbClr val="000000"/>
                </a:solidFill>
                <a:ea typeface="黑体" pitchFamily="2" charset="-122"/>
              </a:rPr>
              <a:t>      费根鲍姆，</a:t>
            </a:r>
            <a:endParaRPr lang="en-US" altLang="zh-CN" sz="1200">
              <a:solidFill>
                <a:srgbClr val="000000"/>
              </a:solidFill>
              <a:ea typeface="黑体" pitchFamily="2" charset="-122"/>
            </a:endParaRPr>
          </a:p>
          <a:p>
            <a:r>
              <a:rPr lang="en-US" altLang="zh-CN" sz="1200">
                <a:solidFill>
                  <a:srgbClr val="000000"/>
                </a:solidFill>
                <a:ea typeface="黑体" pitchFamily="2" charset="-122"/>
              </a:rPr>
              <a:t> E. A. Feigenbaum</a:t>
            </a:r>
          </a:p>
          <a:p>
            <a:r>
              <a:rPr lang="en-US" altLang="zh-CN" sz="1200">
                <a:solidFill>
                  <a:srgbClr val="000000"/>
                </a:solidFill>
                <a:ea typeface="黑体" pitchFamily="2" charset="-122"/>
              </a:rPr>
              <a:t>        (1936</a:t>
            </a:r>
            <a:r>
              <a:rPr lang="zh-CN" altLang="en-US" sz="1200">
                <a:solidFill>
                  <a:srgbClr val="000000"/>
                </a:solidFill>
                <a:ea typeface="黑体" pitchFamily="2" charset="-122"/>
              </a:rPr>
              <a:t>～</a:t>
            </a:r>
            <a:endParaRPr lang="en-US" altLang="zh-CN" sz="1200">
              <a:solidFill>
                <a:srgbClr val="000000"/>
              </a:solidFill>
              <a:ea typeface="黑体" pitchFamily="2" charset="-122"/>
            </a:endParaRPr>
          </a:p>
        </p:txBody>
      </p:sp>
      <p:sp>
        <p:nvSpPr>
          <p:cNvPr id="37891" name="矩形 8"/>
          <p:cNvSpPr>
            <a:spLocks noChangeArrowheads="1"/>
          </p:cNvSpPr>
          <p:nvPr/>
        </p:nvSpPr>
        <p:spPr bwMode="auto">
          <a:xfrm>
            <a:off x="2730500" y="3902075"/>
            <a:ext cx="1912938"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200">
                <a:solidFill>
                  <a:srgbClr val="000000"/>
                </a:solidFill>
                <a:ea typeface="黑体" pitchFamily="2" charset="-122"/>
              </a:rPr>
              <a:t>扎德</a:t>
            </a:r>
            <a:r>
              <a:rPr lang="en-US" altLang="zh-CN" sz="1200">
                <a:solidFill>
                  <a:srgbClr val="000000"/>
                </a:solidFill>
                <a:ea typeface="黑体" pitchFamily="2" charset="-122"/>
              </a:rPr>
              <a:t>,</a:t>
            </a:r>
            <a:r>
              <a:rPr lang="zh-CN" altLang="en-US" sz="1200">
                <a:solidFill>
                  <a:srgbClr val="000000"/>
                </a:solidFill>
                <a:ea typeface="黑体" pitchFamily="2" charset="-122"/>
              </a:rPr>
              <a:t>美国自动控制专家</a:t>
            </a:r>
            <a:endParaRPr lang="en-US" altLang="zh-CN" sz="1200">
              <a:solidFill>
                <a:srgbClr val="000000"/>
              </a:solidFill>
              <a:ea typeface="黑体" pitchFamily="2" charset="-122"/>
            </a:endParaRPr>
          </a:p>
          <a:p>
            <a:r>
              <a:rPr lang="en-US" altLang="zh-CN" sz="1200">
                <a:solidFill>
                  <a:srgbClr val="000000"/>
                </a:solidFill>
                <a:ea typeface="黑体" pitchFamily="2" charset="-122"/>
              </a:rPr>
              <a:t>         Zadeh</a:t>
            </a:r>
            <a:r>
              <a:rPr lang="zh-CN" altLang="en-US" sz="1200">
                <a:solidFill>
                  <a:srgbClr val="000000"/>
                </a:solidFill>
                <a:ea typeface="黑体" pitchFamily="2" charset="-122"/>
              </a:rPr>
              <a:t>，</a:t>
            </a:r>
            <a:r>
              <a:rPr lang="en-US" altLang="zh-CN" sz="1200">
                <a:solidFill>
                  <a:srgbClr val="000000"/>
                </a:solidFill>
                <a:ea typeface="黑体" pitchFamily="2" charset="-122"/>
              </a:rPr>
              <a:t>L.A.</a:t>
            </a:r>
          </a:p>
          <a:p>
            <a:r>
              <a:rPr lang="en-US" altLang="zh-CN" sz="1200">
                <a:solidFill>
                  <a:srgbClr val="000000"/>
                </a:solidFill>
                <a:ea typeface="黑体" pitchFamily="2" charset="-122"/>
              </a:rPr>
              <a:t>       (1921.2</a:t>
            </a:r>
            <a:r>
              <a:rPr lang="zh-CN" altLang="en-US" sz="1200">
                <a:solidFill>
                  <a:srgbClr val="000000"/>
                </a:solidFill>
                <a:ea typeface="黑体" pitchFamily="2" charset="-122"/>
              </a:rPr>
              <a:t>～</a:t>
            </a:r>
            <a:r>
              <a:rPr lang="en-US" altLang="zh-CN" sz="1200">
                <a:solidFill>
                  <a:srgbClr val="000000"/>
                </a:solidFill>
                <a:ea typeface="黑体" pitchFamily="2" charset="-122"/>
              </a:rPr>
              <a:t>2017.9</a:t>
            </a:r>
            <a:r>
              <a:rPr lang="zh-CN" altLang="en-US" sz="1200">
                <a:solidFill>
                  <a:srgbClr val="000000"/>
                </a:solidFill>
                <a:ea typeface="黑体" pitchFamily="2" charset="-122"/>
              </a:rPr>
              <a:t>）</a:t>
            </a:r>
          </a:p>
        </p:txBody>
      </p:sp>
      <p:sp>
        <p:nvSpPr>
          <p:cNvPr id="74758" name="矩形 12"/>
          <p:cNvSpPr>
            <a:spLocks noChangeArrowheads="1"/>
          </p:cNvSpPr>
          <p:nvPr/>
        </p:nvSpPr>
        <p:spPr bwMode="auto">
          <a:xfrm>
            <a:off x="4848225" y="3875088"/>
            <a:ext cx="1811338" cy="66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200">
                <a:solidFill>
                  <a:srgbClr val="000000"/>
                </a:solidFill>
                <a:latin typeface="黑体" pitchFamily="2" charset="-122"/>
                <a:ea typeface="黑体" pitchFamily="2" charset="-122"/>
              </a:rPr>
              <a:t>霍兰德</a:t>
            </a:r>
            <a:r>
              <a:rPr lang="en-US" altLang="zh-CN" sz="1200">
                <a:solidFill>
                  <a:srgbClr val="000000"/>
                </a:solidFill>
                <a:latin typeface="黑体" pitchFamily="2" charset="-122"/>
                <a:ea typeface="黑体" pitchFamily="2" charset="-122"/>
              </a:rPr>
              <a:t>,</a:t>
            </a:r>
            <a:r>
              <a:rPr lang="zh-CN" altLang="en-US" sz="1200">
                <a:solidFill>
                  <a:srgbClr val="000000"/>
                </a:solidFill>
                <a:latin typeface="黑体" pitchFamily="2" charset="-122"/>
                <a:ea typeface="黑体" pitchFamily="2" charset="-122"/>
              </a:rPr>
              <a:t>美国心理学家</a:t>
            </a:r>
            <a:r>
              <a:rPr lang="en-US" altLang="zh-CN" sz="1200">
                <a:solidFill>
                  <a:srgbClr val="000000"/>
                </a:solidFill>
                <a:ea typeface="黑体" pitchFamily="2" charset="-122"/>
              </a:rPr>
              <a:t> </a:t>
            </a:r>
          </a:p>
          <a:p>
            <a:r>
              <a:rPr lang="en-US" altLang="zh-CN" sz="1200">
                <a:solidFill>
                  <a:srgbClr val="000000"/>
                </a:solidFill>
                <a:ea typeface="黑体" pitchFamily="2" charset="-122"/>
              </a:rPr>
              <a:t>  John Henry Holland</a:t>
            </a:r>
          </a:p>
          <a:p>
            <a:r>
              <a:rPr lang="en-US" altLang="zh-CN" sz="1200">
                <a:solidFill>
                  <a:srgbClr val="000000"/>
                </a:solidFill>
                <a:ea typeface="黑体" pitchFamily="2" charset="-122"/>
              </a:rPr>
              <a:t> </a:t>
            </a:r>
            <a:r>
              <a:rPr lang="zh-CN" altLang="en-US" sz="1200">
                <a:solidFill>
                  <a:srgbClr val="000000"/>
                </a:solidFill>
                <a:ea typeface="黑体" pitchFamily="2" charset="-122"/>
              </a:rPr>
              <a:t>          </a:t>
            </a:r>
            <a:r>
              <a:rPr lang="en-US" altLang="zh-CN" sz="1200">
                <a:solidFill>
                  <a:srgbClr val="000000"/>
                </a:solidFill>
                <a:ea typeface="黑体" pitchFamily="2" charset="-122"/>
              </a:rPr>
              <a:t>(1929.2 </a:t>
            </a:r>
            <a:r>
              <a:rPr lang="zh-CN" altLang="en-US" sz="1200">
                <a:solidFill>
                  <a:srgbClr val="000000"/>
                </a:solidFill>
                <a:ea typeface="黑体" pitchFamily="2" charset="-122"/>
              </a:rPr>
              <a:t>～</a:t>
            </a:r>
            <a:r>
              <a:rPr lang="en-US" altLang="zh-CN" sz="1200">
                <a:solidFill>
                  <a:srgbClr val="000000"/>
                </a:solidFill>
                <a:ea typeface="黑体" pitchFamily="2" charset="-122"/>
              </a:rPr>
              <a:t> </a:t>
            </a:r>
          </a:p>
        </p:txBody>
      </p:sp>
      <p:sp>
        <p:nvSpPr>
          <p:cNvPr id="37893" name="矩形 4"/>
          <p:cNvSpPr>
            <a:spLocks noChangeArrowheads="1"/>
          </p:cNvSpPr>
          <p:nvPr/>
        </p:nvSpPr>
        <p:spPr bwMode="auto">
          <a:xfrm>
            <a:off x="554038" y="4581525"/>
            <a:ext cx="22367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rgbClr val="000000"/>
                </a:solidFill>
                <a:latin typeface="黑体" pitchFamily="2" charset="-122"/>
                <a:ea typeface="黑体" pitchFamily="2" charset="-122"/>
              </a:rPr>
              <a:t>1968</a:t>
            </a:r>
            <a:r>
              <a:rPr lang="zh-CN" altLang="en-US" sz="2000">
                <a:solidFill>
                  <a:srgbClr val="000000"/>
                </a:solidFill>
                <a:latin typeface="黑体" pitchFamily="2" charset="-122"/>
                <a:ea typeface="黑体" pitchFamily="2" charset="-122"/>
              </a:rPr>
              <a:t>，专家系统：</a:t>
            </a:r>
          </a:p>
        </p:txBody>
      </p:sp>
      <p:sp>
        <p:nvSpPr>
          <p:cNvPr id="37894" name="矩形 4"/>
          <p:cNvSpPr>
            <a:spLocks noChangeArrowheads="1"/>
          </p:cNvSpPr>
          <p:nvPr/>
        </p:nvSpPr>
        <p:spPr bwMode="auto">
          <a:xfrm>
            <a:off x="539750" y="4979988"/>
            <a:ext cx="22367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rgbClr val="000000"/>
                </a:solidFill>
                <a:latin typeface="黑体" pitchFamily="2" charset="-122"/>
                <a:ea typeface="黑体" pitchFamily="2" charset="-122"/>
              </a:rPr>
              <a:t>1965</a:t>
            </a:r>
            <a:r>
              <a:rPr lang="zh-CN" altLang="en-US" sz="2000">
                <a:solidFill>
                  <a:srgbClr val="000000"/>
                </a:solidFill>
                <a:latin typeface="黑体" pitchFamily="2" charset="-122"/>
                <a:ea typeface="黑体" pitchFamily="2" charset="-122"/>
              </a:rPr>
              <a:t>，模糊控制：</a:t>
            </a:r>
          </a:p>
        </p:txBody>
      </p:sp>
      <p:sp>
        <p:nvSpPr>
          <p:cNvPr id="74761" name="矩形 4"/>
          <p:cNvSpPr>
            <a:spLocks noChangeArrowheads="1"/>
          </p:cNvSpPr>
          <p:nvPr/>
        </p:nvSpPr>
        <p:spPr bwMode="auto">
          <a:xfrm>
            <a:off x="534988" y="5757863"/>
            <a:ext cx="22367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rgbClr val="000000"/>
                </a:solidFill>
                <a:ea typeface="黑体" pitchFamily="2" charset="-122"/>
              </a:rPr>
              <a:t>1975</a:t>
            </a:r>
            <a:r>
              <a:rPr lang="zh-CN" altLang="en-US" sz="2000">
                <a:solidFill>
                  <a:srgbClr val="000000"/>
                </a:solidFill>
                <a:ea typeface="黑体" pitchFamily="2" charset="-122"/>
              </a:rPr>
              <a:t>，遗传算法：</a:t>
            </a:r>
          </a:p>
        </p:txBody>
      </p:sp>
      <p:pic>
        <p:nvPicPr>
          <p:cNvPr id="37896"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813" y="1627188"/>
            <a:ext cx="1714500" cy="2243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897"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4788" y="1643063"/>
            <a:ext cx="1728787" cy="2200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898" name="矩形 1"/>
          <p:cNvSpPr>
            <a:spLocks noChangeArrowheads="1"/>
          </p:cNvSpPr>
          <p:nvPr/>
        </p:nvSpPr>
        <p:spPr bwMode="auto">
          <a:xfrm>
            <a:off x="539750" y="5370513"/>
            <a:ext cx="22367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a:solidFill>
                  <a:srgbClr val="000000"/>
                </a:solidFill>
                <a:ea typeface="黑体" pitchFamily="2" charset="-122"/>
              </a:rPr>
              <a:t>1982</a:t>
            </a:r>
            <a:r>
              <a:rPr lang="zh-CN" altLang="en-US" sz="2000">
                <a:solidFill>
                  <a:srgbClr val="000000"/>
                </a:solidFill>
                <a:ea typeface="黑体" pitchFamily="2" charset="-122"/>
              </a:rPr>
              <a:t>，神经网络：</a:t>
            </a:r>
          </a:p>
        </p:txBody>
      </p:sp>
      <p:pic>
        <p:nvPicPr>
          <p:cNvPr id="74766"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37113" y="1636713"/>
            <a:ext cx="1758950" cy="220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900" name="Picture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6538" y="1668463"/>
            <a:ext cx="1658937" cy="2125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矩形 4"/>
          <p:cNvSpPr>
            <a:spLocks noChangeArrowheads="1"/>
          </p:cNvSpPr>
          <p:nvPr/>
        </p:nvSpPr>
        <p:spPr bwMode="auto">
          <a:xfrm>
            <a:off x="2762250" y="5773738"/>
            <a:ext cx="531336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000000"/>
                </a:solidFill>
                <a:ea typeface="黑体" pitchFamily="2" charset="-122"/>
              </a:rPr>
              <a:t>利用生物界“优胜劣汰、适者生存”的机理，</a:t>
            </a:r>
            <a:endParaRPr lang="en-US" altLang="zh-CN" sz="2000">
              <a:solidFill>
                <a:srgbClr val="000000"/>
              </a:solidFill>
              <a:ea typeface="黑体" pitchFamily="2" charset="-122"/>
            </a:endParaRPr>
          </a:p>
          <a:p>
            <a:r>
              <a:rPr lang="zh-CN" altLang="en-US" sz="2000">
                <a:solidFill>
                  <a:srgbClr val="000000"/>
                </a:solidFill>
                <a:ea typeface="黑体" pitchFamily="2" charset="-122"/>
              </a:rPr>
              <a:t>进行全域寻优的计算方法</a:t>
            </a:r>
          </a:p>
        </p:txBody>
      </p:sp>
      <p:sp>
        <p:nvSpPr>
          <p:cNvPr id="37902" name="Rectangle 2"/>
          <p:cNvSpPr txBox="1">
            <a:spLocks noRot="1" noChangeArrowheads="1"/>
          </p:cNvSpPr>
          <p:nvPr/>
        </p:nvSpPr>
        <p:spPr bwMode="auto">
          <a:xfrm>
            <a:off x="301625" y="609600"/>
            <a:ext cx="854075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4400">
                <a:solidFill>
                  <a:schemeClr val="tx2"/>
                </a:solidFill>
                <a:latin typeface="隶书" pitchFamily="49" charset="-122"/>
                <a:ea typeface="隶书" pitchFamily="49" charset="-122"/>
              </a:rPr>
              <a:t>智能控制理论</a:t>
            </a:r>
          </a:p>
        </p:txBody>
      </p:sp>
    </p:spTree>
    <p:extLst>
      <p:ext uri="{BB962C8B-B14F-4D97-AF65-F5344CB8AC3E}">
        <p14:creationId xmlns:p14="http://schemas.microsoft.com/office/powerpoint/2010/main" val="126579418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4766"/>
                                        </p:tgtEl>
                                        <p:attrNameLst>
                                          <p:attrName>style.visibility</p:attrName>
                                        </p:attrNameLst>
                                      </p:cBhvr>
                                      <p:to>
                                        <p:strVal val="visible"/>
                                      </p:to>
                                    </p:set>
                                    <p:animEffect transition="in" filter="fade">
                                      <p:cBhvr>
                                        <p:cTn id="7" dur="500"/>
                                        <p:tgtEl>
                                          <p:spTgt spid="74766"/>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4758"/>
                                        </p:tgtEl>
                                        <p:attrNameLst>
                                          <p:attrName>style.visibility</p:attrName>
                                        </p:attrNameLst>
                                      </p:cBhvr>
                                      <p:to>
                                        <p:strVal val="visible"/>
                                      </p:to>
                                    </p:set>
                                    <p:animEffect transition="in" filter="wipe(up)">
                                      <p:cBhvr>
                                        <p:cTn id="11" dur="500"/>
                                        <p:tgtEl>
                                          <p:spTgt spid="74758"/>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4761"/>
                                        </p:tgtEl>
                                        <p:attrNameLst>
                                          <p:attrName>style.visibility</p:attrName>
                                        </p:attrNameLst>
                                      </p:cBhvr>
                                      <p:to>
                                        <p:strVal val="visible"/>
                                      </p:to>
                                    </p:set>
                                    <p:animEffect transition="in" filter="wipe(left)">
                                      <p:cBhvr>
                                        <p:cTn id="15" dur="1000"/>
                                        <p:tgtEl>
                                          <p:spTgt spid="74761"/>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wipe(up)">
                                      <p:cBhvr>
                                        <p:cTn id="18"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8" grpId="0"/>
      <p:bldP spid="74761" grpId="0"/>
      <p:bldP spid="2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矩形 4"/>
          <p:cNvSpPr>
            <a:spLocks noChangeArrowheads="1"/>
          </p:cNvSpPr>
          <p:nvPr/>
        </p:nvSpPr>
        <p:spPr bwMode="auto">
          <a:xfrm>
            <a:off x="771525" y="3900488"/>
            <a:ext cx="1568450"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200">
                <a:solidFill>
                  <a:srgbClr val="000000"/>
                </a:solidFill>
                <a:ea typeface="黑体" pitchFamily="2" charset="-122"/>
              </a:rPr>
              <a:t>      费根鲍姆，</a:t>
            </a:r>
            <a:endParaRPr lang="en-US" altLang="zh-CN" sz="1200">
              <a:solidFill>
                <a:srgbClr val="000000"/>
              </a:solidFill>
              <a:ea typeface="黑体" pitchFamily="2" charset="-122"/>
            </a:endParaRPr>
          </a:p>
          <a:p>
            <a:r>
              <a:rPr lang="en-US" altLang="zh-CN" sz="1200">
                <a:solidFill>
                  <a:srgbClr val="000000"/>
                </a:solidFill>
                <a:ea typeface="黑体" pitchFamily="2" charset="-122"/>
              </a:rPr>
              <a:t> E. A. Feigenbaum</a:t>
            </a:r>
          </a:p>
          <a:p>
            <a:r>
              <a:rPr lang="en-US" altLang="zh-CN" sz="1200">
                <a:solidFill>
                  <a:srgbClr val="000000"/>
                </a:solidFill>
                <a:ea typeface="黑体" pitchFamily="2" charset="-122"/>
              </a:rPr>
              <a:t>        (1936</a:t>
            </a:r>
            <a:r>
              <a:rPr lang="zh-CN" altLang="en-US" sz="1200">
                <a:solidFill>
                  <a:srgbClr val="000000"/>
                </a:solidFill>
                <a:ea typeface="黑体" pitchFamily="2" charset="-122"/>
              </a:rPr>
              <a:t>～</a:t>
            </a:r>
            <a:endParaRPr lang="en-US" altLang="zh-CN" sz="1200">
              <a:solidFill>
                <a:srgbClr val="000000"/>
              </a:solidFill>
              <a:ea typeface="黑体" pitchFamily="2" charset="-122"/>
            </a:endParaRPr>
          </a:p>
        </p:txBody>
      </p:sp>
      <p:sp>
        <p:nvSpPr>
          <p:cNvPr id="38915" name="矩形 8"/>
          <p:cNvSpPr>
            <a:spLocks noChangeArrowheads="1"/>
          </p:cNvSpPr>
          <p:nvPr/>
        </p:nvSpPr>
        <p:spPr bwMode="auto">
          <a:xfrm>
            <a:off x="2730500" y="3902075"/>
            <a:ext cx="1912938"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200">
                <a:solidFill>
                  <a:srgbClr val="000000"/>
                </a:solidFill>
                <a:ea typeface="黑体" pitchFamily="2" charset="-122"/>
              </a:rPr>
              <a:t>扎德</a:t>
            </a:r>
            <a:r>
              <a:rPr lang="en-US" altLang="zh-CN" sz="1200">
                <a:solidFill>
                  <a:srgbClr val="000000"/>
                </a:solidFill>
                <a:ea typeface="黑体" pitchFamily="2" charset="-122"/>
              </a:rPr>
              <a:t>,</a:t>
            </a:r>
            <a:r>
              <a:rPr lang="zh-CN" altLang="en-US" sz="1200">
                <a:solidFill>
                  <a:srgbClr val="000000"/>
                </a:solidFill>
                <a:ea typeface="黑体" pitchFamily="2" charset="-122"/>
              </a:rPr>
              <a:t>美国自动控制专家</a:t>
            </a:r>
            <a:endParaRPr lang="en-US" altLang="zh-CN" sz="1200">
              <a:solidFill>
                <a:srgbClr val="000000"/>
              </a:solidFill>
              <a:ea typeface="黑体" pitchFamily="2" charset="-122"/>
            </a:endParaRPr>
          </a:p>
          <a:p>
            <a:r>
              <a:rPr lang="en-US" altLang="zh-CN" sz="1200">
                <a:solidFill>
                  <a:srgbClr val="000000"/>
                </a:solidFill>
                <a:ea typeface="黑体" pitchFamily="2" charset="-122"/>
              </a:rPr>
              <a:t>         Zadeh</a:t>
            </a:r>
            <a:r>
              <a:rPr lang="zh-CN" altLang="en-US" sz="1200">
                <a:solidFill>
                  <a:srgbClr val="000000"/>
                </a:solidFill>
                <a:ea typeface="黑体" pitchFamily="2" charset="-122"/>
              </a:rPr>
              <a:t>，</a:t>
            </a:r>
            <a:r>
              <a:rPr lang="en-US" altLang="zh-CN" sz="1200">
                <a:solidFill>
                  <a:srgbClr val="000000"/>
                </a:solidFill>
                <a:ea typeface="黑体" pitchFamily="2" charset="-122"/>
              </a:rPr>
              <a:t>L.A.</a:t>
            </a:r>
          </a:p>
          <a:p>
            <a:r>
              <a:rPr lang="en-US" altLang="zh-CN" sz="1200">
                <a:solidFill>
                  <a:srgbClr val="000000"/>
                </a:solidFill>
                <a:ea typeface="黑体" pitchFamily="2" charset="-122"/>
              </a:rPr>
              <a:t>       (1921.2</a:t>
            </a:r>
            <a:r>
              <a:rPr lang="zh-CN" altLang="en-US" sz="1200">
                <a:solidFill>
                  <a:srgbClr val="000000"/>
                </a:solidFill>
                <a:ea typeface="黑体" pitchFamily="2" charset="-122"/>
              </a:rPr>
              <a:t>～</a:t>
            </a:r>
            <a:r>
              <a:rPr lang="en-US" altLang="zh-CN" sz="1200">
                <a:solidFill>
                  <a:srgbClr val="000000"/>
                </a:solidFill>
                <a:ea typeface="黑体" pitchFamily="2" charset="-122"/>
              </a:rPr>
              <a:t>2017.9</a:t>
            </a:r>
            <a:r>
              <a:rPr lang="zh-CN" altLang="en-US" sz="1200">
                <a:solidFill>
                  <a:srgbClr val="000000"/>
                </a:solidFill>
                <a:ea typeface="黑体" pitchFamily="2" charset="-122"/>
              </a:rPr>
              <a:t>）</a:t>
            </a:r>
          </a:p>
        </p:txBody>
      </p:sp>
      <p:sp>
        <p:nvSpPr>
          <p:cNvPr id="38916" name="矩形 12"/>
          <p:cNvSpPr>
            <a:spLocks noChangeArrowheads="1"/>
          </p:cNvSpPr>
          <p:nvPr/>
        </p:nvSpPr>
        <p:spPr bwMode="auto">
          <a:xfrm>
            <a:off x="4848225" y="3875088"/>
            <a:ext cx="1811338" cy="66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200" dirty="0">
                <a:solidFill>
                  <a:srgbClr val="000000"/>
                </a:solidFill>
                <a:latin typeface="黑体" pitchFamily="2" charset="-122"/>
                <a:ea typeface="黑体" pitchFamily="2" charset="-122"/>
              </a:rPr>
              <a:t>霍兰德</a:t>
            </a:r>
            <a:r>
              <a:rPr lang="en-US" altLang="zh-CN" sz="1200" dirty="0">
                <a:solidFill>
                  <a:srgbClr val="000000"/>
                </a:solidFill>
                <a:latin typeface="黑体" pitchFamily="2" charset="-122"/>
                <a:ea typeface="黑体" pitchFamily="2" charset="-122"/>
              </a:rPr>
              <a:t>,</a:t>
            </a:r>
            <a:r>
              <a:rPr lang="zh-CN" altLang="en-US" sz="1200" dirty="0">
                <a:solidFill>
                  <a:srgbClr val="000000"/>
                </a:solidFill>
                <a:latin typeface="黑体" pitchFamily="2" charset="-122"/>
                <a:ea typeface="黑体" pitchFamily="2" charset="-122"/>
              </a:rPr>
              <a:t>美国心理学家</a:t>
            </a:r>
            <a:r>
              <a:rPr lang="en-US" altLang="zh-CN" sz="1200" dirty="0">
                <a:solidFill>
                  <a:srgbClr val="000000"/>
                </a:solidFill>
                <a:ea typeface="黑体" pitchFamily="2" charset="-122"/>
              </a:rPr>
              <a:t> </a:t>
            </a:r>
          </a:p>
          <a:p>
            <a:r>
              <a:rPr lang="en-US" altLang="zh-CN" sz="1200" dirty="0">
                <a:solidFill>
                  <a:srgbClr val="000000"/>
                </a:solidFill>
                <a:ea typeface="黑体" pitchFamily="2" charset="-122"/>
              </a:rPr>
              <a:t>  John Henry Holland</a:t>
            </a:r>
          </a:p>
          <a:p>
            <a:r>
              <a:rPr lang="en-US" altLang="zh-CN" sz="1200" dirty="0">
                <a:solidFill>
                  <a:srgbClr val="000000"/>
                </a:solidFill>
                <a:ea typeface="黑体" pitchFamily="2" charset="-122"/>
              </a:rPr>
              <a:t> </a:t>
            </a:r>
            <a:r>
              <a:rPr lang="zh-CN" altLang="en-US" sz="1200" dirty="0">
                <a:solidFill>
                  <a:srgbClr val="000000"/>
                </a:solidFill>
                <a:ea typeface="黑体" pitchFamily="2" charset="-122"/>
              </a:rPr>
              <a:t>          </a:t>
            </a:r>
            <a:r>
              <a:rPr lang="en-US" altLang="zh-CN" sz="1200" dirty="0">
                <a:solidFill>
                  <a:srgbClr val="000000"/>
                </a:solidFill>
                <a:ea typeface="黑体" pitchFamily="2" charset="-122"/>
              </a:rPr>
              <a:t>(1929.2 </a:t>
            </a:r>
            <a:r>
              <a:rPr lang="zh-CN" altLang="en-US" sz="1200" dirty="0">
                <a:solidFill>
                  <a:srgbClr val="000000"/>
                </a:solidFill>
                <a:ea typeface="黑体" pitchFamily="2" charset="-122"/>
              </a:rPr>
              <a:t>～</a:t>
            </a:r>
            <a:r>
              <a:rPr lang="en-US" altLang="zh-CN" sz="1200" dirty="0">
                <a:solidFill>
                  <a:srgbClr val="000000"/>
                </a:solidFill>
                <a:ea typeface="黑体" pitchFamily="2" charset="-122"/>
              </a:rPr>
              <a:t> </a:t>
            </a:r>
          </a:p>
        </p:txBody>
      </p:sp>
      <p:sp>
        <p:nvSpPr>
          <p:cNvPr id="38917" name="矩形 4"/>
          <p:cNvSpPr>
            <a:spLocks noChangeArrowheads="1"/>
          </p:cNvSpPr>
          <p:nvPr/>
        </p:nvSpPr>
        <p:spPr bwMode="auto">
          <a:xfrm>
            <a:off x="554038" y="4581525"/>
            <a:ext cx="22367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rgbClr val="000000"/>
                </a:solidFill>
                <a:latin typeface="黑体" pitchFamily="2" charset="-122"/>
                <a:ea typeface="黑体" pitchFamily="2" charset="-122"/>
              </a:rPr>
              <a:t>1968</a:t>
            </a:r>
            <a:r>
              <a:rPr lang="zh-CN" altLang="en-US" sz="2000">
                <a:solidFill>
                  <a:srgbClr val="000000"/>
                </a:solidFill>
                <a:latin typeface="黑体" pitchFamily="2" charset="-122"/>
                <a:ea typeface="黑体" pitchFamily="2" charset="-122"/>
              </a:rPr>
              <a:t>，专家系统：</a:t>
            </a:r>
          </a:p>
        </p:txBody>
      </p:sp>
      <p:sp>
        <p:nvSpPr>
          <p:cNvPr id="38918" name="矩形 4"/>
          <p:cNvSpPr>
            <a:spLocks noChangeArrowheads="1"/>
          </p:cNvSpPr>
          <p:nvPr/>
        </p:nvSpPr>
        <p:spPr bwMode="auto">
          <a:xfrm>
            <a:off x="539750" y="4979988"/>
            <a:ext cx="22367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rgbClr val="000000"/>
                </a:solidFill>
                <a:latin typeface="黑体" pitchFamily="2" charset="-122"/>
                <a:ea typeface="黑体" pitchFamily="2" charset="-122"/>
              </a:rPr>
              <a:t>1965</a:t>
            </a:r>
            <a:r>
              <a:rPr lang="zh-CN" altLang="en-US" sz="2000">
                <a:solidFill>
                  <a:srgbClr val="000000"/>
                </a:solidFill>
                <a:latin typeface="黑体" pitchFamily="2" charset="-122"/>
                <a:ea typeface="黑体" pitchFamily="2" charset="-122"/>
              </a:rPr>
              <a:t>，模糊控制：</a:t>
            </a:r>
          </a:p>
        </p:txBody>
      </p:sp>
      <p:sp>
        <p:nvSpPr>
          <p:cNvPr id="38919" name="矩形 4"/>
          <p:cNvSpPr>
            <a:spLocks noChangeArrowheads="1"/>
          </p:cNvSpPr>
          <p:nvPr/>
        </p:nvSpPr>
        <p:spPr bwMode="auto">
          <a:xfrm>
            <a:off x="534988" y="5757863"/>
            <a:ext cx="22367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rgbClr val="000000"/>
                </a:solidFill>
                <a:ea typeface="黑体" pitchFamily="2" charset="-122"/>
              </a:rPr>
              <a:t>1975</a:t>
            </a:r>
            <a:r>
              <a:rPr lang="zh-CN" altLang="en-US" sz="2000" dirty="0">
                <a:solidFill>
                  <a:srgbClr val="000000"/>
                </a:solidFill>
                <a:ea typeface="黑体" pitchFamily="2" charset="-122"/>
              </a:rPr>
              <a:t>，遗传算法：</a:t>
            </a:r>
          </a:p>
        </p:txBody>
      </p:sp>
      <p:pic>
        <p:nvPicPr>
          <p:cNvPr id="38920"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813" y="1627188"/>
            <a:ext cx="1714500" cy="2243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921"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4788" y="1643063"/>
            <a:ext cx="1728787" cy="2200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922" name="矩形 1"/>
          <p:cNvSpPr>
            <a:spLocks noChangeArrowheads="1"/>
          </p:cNvSpPr>
          <p:nvPr/>
        </p:nvSpPr>
        <p:spPr bwMode="auto">
          <a:xfrm>
            <a:off x="539750" y="5370513"/>
            <a:ext cx="22367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dirty="0">
                <a:solidFill>
                  <a:srgbClr val="000000"/>
                </a:solidFill>
                <a:ea typeface="黑体" pitchFamily="2" charset="-122"/>
              </a:rPr>
              <a:t>1982</a:t>
            </a:r>
            <a:r>
              <a:rPr lang="zh-CN" altLang="en-US" sz="2000" dirty="0">
                <a:solidFill>
                  <a:srgbClr val="000000"/>
                </a:solidFill>
                <a:ea typeface="黑体" pitchFamily="2" charset="-122"/>
              </a:rPr>
              <a:t>，神经网络：</a:t>
            </a:r>
          </a:p>
        </p:txBody>
      </p:sp>
      <p:sp>
        <p:nvSpPr>
          <p:cNvPr id="14" name="矩形 4"/>
          <p:cNvSpPr>
            <a:spLocks noChangeArrowheads="1"/>
          </p:cNvSpPr>
          <p:nvPr/>
        </p:nvSpPr>
        <p:spPr bwMode="auto">
          <a:xfrm>
            <a:off x="2947823" y="5419725"/>
            <a:ext cx="5314950" cy="104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zh-CN" sz="2000" cap="small" dirty="0">
                <a:solidFill>
                  <a:srgbClr val="000000"/>
                </a:solidFill>
                <a:latin typeface="黑体" pitchFamily="2" charset="-122"/>
                <a:ea typeface="黑体" pitchFamily="2" charset="-122"/>
              </a:rPr>
              <a:t>多个智能体组成的集合，</a:t>
            </a:r>
            <a:r>
              <a:rPr lang="zh-CN" altLang="en-US" sz="2000" cap="small" dirty="0">
                <a:solidFill>
                  <a:srgbClr val="000000"/>
                </a:solidFill>
                <a:latin typeface="黑体" pitchFamily="2" charset="-122"/>
                <a:ea typeface="黑体" pitchFamily="2" charset="-122"/>
              </a:rPr>
              <a:t>其</a:t>
            </a:r>
            <a:r>
              <a:rPr lang="zh-CN" altLang="zh-CN" sz="2000" cap="small" dirty="0">
                <a:solidFill>
                  <a:srgbClr val="000000"/>
                </a:solidFill>
                <a:latin typeface="黑体" pitchFamily="2" charset="-122"/>
                <a:ea typeface="黑体" pitchFamily="2" charset="-122"/>
              </a:rPr>
              <a:t>目标是将大而复杂</a:t>
            </a:r>
            <a:endParaRPr lang="en-US" altLang="zh-CN" sz="2000" cap="small" dirty="0">
              <a:solidFill>
                <a:srgbClr val="000000"/>
              </a:solidFill>
              <a:latin typeface="黑体" pitchFamily="2" charset="-122"/>
              <a:ea typeface="黑体" pitchFamily="2" charset="-122"/>
            </a:endParaRPr>
          </a:p>
          <a:p>
            <a:pPr>
              <a:defRPr/>
            </a:pPr>
            <a:r>
              <a:rPr lang="zh-CN" altLang="zh-CN" sz="2000" cap="small" dirty="0">
                <a:solidFill>
                  <a:srgbClr val="000000"/>
                </a:solidFill>
                <a:latin typeface="黑体" pitchFamily="2" charset="-122"/>
                <a:ea typeface="黑体" pitchFamily="2" charset="-122"/>
              </a:rPr>
              <a:t>的系统建设成小的、彼此互相通信和协调的，</a:t>
            </a:r>
            <a:endParaRPr lang="en-US" altLang="zh-CN" sz="2000" cap="small" dirty="0">
              <a:solidFill>
                <a:srgbClr val="000000"/>
              </a:solidFill>
              <a:latin typeface="黑体" pitchFamily="2" charset="-122"/>
              <a:ea typeface="黑体" pitchFamily="2" charset="-122"/>
            </a:endParaRPr>
          </a:p>
          <a:p>
            <a:pPr>
              <a:defRPr/>
            </a:pPr>
            <a:r>
              <a:rPr lang="zh-CN" altLang="zh-CN" sz="2000" cap="small" dirty="0">
                <a:solidFill>
                  <a:srgbClr val="000000"/>
                </a:solidFill>
                <a:latin typeface="黑体" pitchFamily="2" charset="-122"/>
                <a:ea typeface="黑体" pitchFamily="2" charset="-122"/>
              </a:rPr>
              <a:t>易于管理的系统</a:t>
            </a:r>
            <a:endParaRPr lang="zh-CN" altLang="en-US" sz="2000" dirty="0">
              <a:solidFill>
                <a:srgbClr val="000000"/>
              </a:solidFill>
              <a:latin typeface="黑体" pitchFamily="2" charset="-122"/>
              <a:ea typeface="黑体" pitchFamily="2" charset="-122"/>
            </a:endParaRPr>
          </a:p>
        </p:txBody>
      </p:sp>
      <p:pic>
        <p:nvPicPr>
          <p:cNvPr id="38924"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37113" y="1636713"/>
            <a:ext cx="1758950" cy="220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4767" name="矩形 12"/>
          <p:cNvSpPr>
            <a:spLocks noChangeArrowheads="1"/>
          </p:cNvSpPr>
          <p:nvPr/>
        </p:nvSpPr>
        <p:spPr bwMode="auto">
          <a:xfrm>
            <a:off x="7002463" y="3830638"/>
            <a:ext cx="1530350" cy="66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200">
                <a:solidFill>
                  <a:srgbClr val="000000"/>
                </a:solidFill>
                <a:latin typeface="黑体" pitchFamily="2" charset="-122"/>
                <a:ea typeface="黑体" pitchFamily="2" charset="-122"/>
              </a:rPr>
              <a:t>莱瑟</a:t>
            </a:r>
            <a:r>
              <a:rPr lang="en-US" altLang="zh-CN" sz="1200">
                <a:solidFill>
                  <a:srgbClr val="000000"/>
                </a:solidFill>
                <a:latin typeface="黑体" pitchFamily="2" charset="-122"/>
                <a:ea typeface="黑体" pitchFamily="2" charset="-122"/>
              </a:rPr>
              <a:t>,</a:t>
            </a:r>
            <a:r>
              <a:rPr lang="zh-CN" altLang="en-US" sz="1200">
                <a:solidFill>
                  <a:srgbClr val="000000"/>
                </a:solidFill>
                <a:latin typeface="黑体" pitchFamily="2" charset="-122"/>
                <a:ea typeface="黑体" pitchFamily="2" charset="-122"/>
              </a:rPr>
              <a:t>美国物理学家</a:t>
            </a:r>
            <a:endParaRPr lang="en-US" altLang="zh-CN" sz="1200">
              <a:solidFill>
                <a:srgbClr val="000000"/>
              </a:solidFill>
              <a:latin typeface="黑体" pitchFamily="2" charset="-122"/>
              <a:ea typeface="黑体" pitchFamily="2" charset="-122"/>
            </a:endParaRPr>
          </a:p>
          <a:p>
            <a:r>
              <a:rPr lang="en-US" altLang="zh-CN" sz="1200">
                <a:solidFill>
                  <a:srgbClr val="000000"/>
                </a:solidFill>
                <a:latin typeface="黑体" pitchFamily="2" charset="-122"/>
                <a:ea typeface="黑体" pitchFamily="2" charset="-122"/>
              </a:rPr>
              <a:t>  Victor.Lesser</a:t>
            </a:r>
          </a:p>
          <a:p>
            <a:r>
              <a:rPr lang="en-US" altLang="zh-CN" sz="1200">
                <a:solidFill>
                  <a:srgbClr val="000000"/>
                </a:solidFill>
                <a:latin typeface="黑体" pitchFamily="2" charset="-122"/>
                <a:ea typeface="黑体" pitchFamily="2" charset="-122"/>
                <a:cs typeface="Times New Roman" pitchFamily="18" charset="0"/>
              </a:rPr>
              <a:t>   (1922?</a:t>
            </a:r>
            <a:r>
              <a:rPr lang="zh-CN" altLang="en-US" sz="1200">
                <a:solidFill>
                  <a:srgbClr val="000000"/>
                </a:solidFill>
                <a:ea typeface="黑体" pitchFamily="2" charset="-122"/>
              </a:rPr>
              <a:t>～</a:t>
            </a:r>
            <a:r>
              <a:rPr lang="en-US" altLang="zh-CN" sz="1200">
                <a:solidFill>
                  <a:srgbClr val="000000"/>
                </a:solidFill>
                <a:ea typeface="黑体" pitchFamily="2" charset="-122"/>
              </a:rPr>
              <a:t> </a:t>
            </a:r>
            <a:r>
              <a:rPr lang="en-US" altLang="zh-CN" sz="1200">
                <a:solidFill>
                  <a:srgbClr val="000000"/>
                </a:solidFill>
                <a:latin typeface="黑体" pitchFamily="2" charset="-122"/>
                <a:ea typeface="黑体" pitchFamily="2" charset="-122"/>
              </a:rPr>
              <a:t>)</a:t>
            </a:r>
            <a:endParaRPr lang="zh-CN" altLang="en-US" sz="1200">
              <a:solidFill>
                <a:srgbClr val="000000"/>
              </a:solidFill>
              <a:ea typeface="黑体" pitchFamily="2" charset="-122"/>
            </a:endParaRPr>
          </a:p>
        </p:txBody>
      </p:sp>
      <p:pic>
        <p:nvPicPr>
          <p:cNvPr id="74768" name="Picture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26263" y="1597025"/>
            <a:ext cx="1749425" cy="218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927" name="Picture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76538" y="1668463"/>
            <a:ext cx="1658937" cy="2125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矩形 4"/>
          <p:cNvSpPr>
            <a:spLocks noChangeArrowheads="1"/>
          </p:cNvSpPr>
          <p:nvPr/>
        </p:nvSpPr>
        <p:spPr bwMode="auto">
          <a:xfrm>
            <a:off x="522288" y="6132513"/>
            <a:ext cx="22367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en-US" altLang="zh-CN" sz="2000" cap="small" dirty="0">
                <a:solidFill>
                  <a:srgbClr val="000000"/>
                </a:solidFill>
                <a:latin typeface="黑体" pitchFamily="2" charset="-122"/>
                <a:ea typeface="黑体" pitchFamily="2" charset="-122"/>
              </a:rPr>
              <a:t>1989</a:t>
            </a:r>
            <a:r>
              <a:rPr lang="zh-CN" altLang="en-US" sz="2000" cap="small" dirty="0">
                <a:solidFill>
                  <a:srgbClr val="000000"/>
                </a:solidFill>
                <a:latin typeface="黑体" pitchFamily="2" charset="-122"/>
                <a:ea typeface="黑体" pitchFamily="2" charset="-122"/>
              </a:rPr>
              <a:t>，</a:t>
            </a:r>
            <a:r>
              <a:rPr lang="zh-CN" altLang="zh-CN" sz="2000" cap="small" dirty="0">
                <a:solidFill>
                  <a:srgbClr val="000000"/>
                </a:solidFill>
                <a:latin typeface="黑体" pitchFamily="2" charset="-122"/>
                <a:ea typeface="黑体" pitchFamily="2" charset="-122"/>
              </a:rPr>
              <a:t>多智能体：</a:t>
            </a:r>
            <a:endParaRPr lang="zh-CN" altLang="en-US" sz="2000" dirty="0">
              <a:solidFill>
                <a:srgbClr val="000000"/>
              </a:solidFill>
              <a:latin typeface="黑体" pitchFamily="2" charset="-122"/>
              <a:ea typeface="黑体" pitchFamily="2" charset="-122"/>
            </a:endParaRPr>
          </a:p>
        </p:txBody>
      </p:sp>
      <p:sp>
        <p:nvSpPr>
          <p:cNvPr id="38929" name="Rectangle 2"/>
          <p:cNvSpPr txBox="1">
            <a:spLocks noRot="1" noChangeArrowheads="1"/>
          </p:cNvSpPr>
          <p:nvPr/>
        </p:nvSpPr>
        <p:spPr bwMode="auto">
          <a:xfrm>
            <a:off x="301625" y="609600"/>
            <a:ext cx="854075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4400">
                <a:solidFill>
                  <a:schemeClr val="tx2"/>
                </a:solidFill>
                <a:latin typeface="隶书" pitchFamily="49" charset="-122"/>
                <a:ea typeface="隶书" pitchFamily="49" charset="-122"/>
              </a:rPr>
              <a:t>智能控制理论</a:t>
            </a:r>
          </a:p>
        </p:txBody>
      </p:sp>
    </p:spTree>
    <p:extLst>
      <p:ext uri="{BB962C8B-B14F-4D97-AF65-F5344CB8AC3E}">
        <p14:creationId xmlns:p14="http://schemas.microsoft.com/office/powerpoint/2010/main" val="281122893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4768"/>
                                        </p:tgtEl>
                                        <p:attrNameLst>
                                          <p:attrName>style.visibility</p:attrName>
                                        </p:attrNameLst>
                                      </p:cBhvr>
                                      <p:to>
                                        <p:strVal val="visible"/>
                                      </p:to>
                                    </p:set>
                                    <p:animEffect transition="in" filter="fade">
                                      <p:cBhvr>
                                        <p:cTn id="7" dur="500"/>
                                        <p:tgtEl>
                                          <p:spTgt spid="74768"/>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4767"/>
                                        </p:tgtEl>
                                        <p:attrNameLst>
                                          <p:attrName>style.visibility</p:attrName>
                                        </p:attrNameLst>
                                      </p:cBhvr>
                                      <p:to>
                                        <p:strVal val="visible"/>
                                      </p:to>
                                    </p:set>
                                    <p:animEffect transition="in" filter="wipe(left)">
                                      <p:cBhvr>
                                        <p:cTn id="11" dur="1000"/>
                                        <p:tgtEl>
                                          <p:spTgt spid="74767"/>
                                        </p:tgtEl>
                                      </p:cBhvr>
                                    </p:animEffect>
                                  </p:childTnLst>
                                </p:cTn>
                              </p:par>
                            </p:childTnLst>
                          </p:cTn>
                        </p:par>
                        <p:par>
                          <p:cTn id="12" fill="hold" nodeType="afterGroup">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wipe(left)">
                                      <p:cBhvr>
                                        <p:cTn id="15" dur="1000"/>
                                        <p:tgtEl>
                                          <p:spTgt spid="22"/>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1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74767" grpId="0"/>
      <p:bldP spid="2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rrowheads="1"/>
          </p:cNvSpPr>
          <p:nvPr>
            <p:ph type="title"/>
          </p:nvPr>
        </p:nvSpPr>
        <p:spPr/>
        <p:txBody>
          <a:bodyPr/>
          <a:lstStyle/>
          <a:p>
            <a:pPr eaLnBrk="1" hangingPunct="1"/>
            <a:r>
              <a:rPr lang="zh-CN" altLang="en-US" smtClean="0">
                <a:solidFill>
                  <a:srgbClr val="000000"/>
                </a:solidFill>
                <a:latin typeface="隶书" pitchFamily="49" charset="-122"/>
                <a:ea typeface="隶书" pitchFamily="49" charset="-122"/>
              </a:rPr>
              <a:t>自动控制理论发展简史</a:t>
            </a:r>
          </a:p>
        </p:txBody>
      </p:sp>
      <p:sp>
        <p:nvSpPr>
          <p:cNvPr id="39939" name="Rectangle 3"/>
          <p:cNvSpPr>
            <a:spLocks noGrp="1" noRot="1" noChangeArrowheads="1"/>
          </p:cNvSpPr>
          <p:nvPr>
            <p:ph type="body" idx="1"/>
          </p:nvPr>
        </p:nvSpPr>
        <p:spPr/>
        <p:txBody>
          <a:bodyPr/>
          <a:lstStyle/>
          <a:p>
            <a:pPr eaLnBrk="1" hangingPunct="1">
              <a:lnSpc>
                <a:spcPct val="80000"/>
              </a:lnSpc>
              <a:spcBef>
                <a:spcPct val="0"/>
              </a:spcBef>
            </a:pPr>
            <a:r>
              <a:rPr kumimoji="1" lang="zh-CN" altLang="en-US" sz="2000" dirty="0" smtClean="0">
                <a:solidFill>
                  <a:srgbClr val="000000"/>
                </a:solidFill>
                <a:latin typeface="隶书" pitchFamily="49" charset="-122"/>
                <a:ea typeface="隶书" pitchFamily="49" charset="-122"/>
              </a:rPr>
              <a:t>经典控制理论     </a:t>
            </a:r>
            <a:r>
              <a:rPr kumimoji="1" lang="en-US" altLang="zh-CN" sz="2000" dirty="0" smtClean="0">
                <a:solidFill>
                  <a:srgbClr val="000000"/>
                </a:solidFill>
                <a:latin typeface="隶书" pitchFamily="49" charset="-122"/>
                <a:ea typeface="隶书" pitchFamily="49" charset="-122"/>
              </a:rPr>
              <a:t>( 19</a:t>
            </a:r>
            <a:r>
              <a:rPr kumimoji="1" lang="zh-CN" altLang="en-US" sz="2000" dirty="0" smtClean="0">
                <a:solidFill>
                  <a:srgbClr val="000000"/>
                </a:solidFill>
                <a:latin typeface="隶书" pitchFamily="49" charset="-122"/>
                <a:ea typeface="隶书" pitchFamily="49" charset="-122"/>
              </a:rPr>
              <a:t>世纪初 </a:t>
            </a:r>
            <a:r>
              <a:rPr kumimoji="1" lang="en-US" altLang="zh-CN" sz="2000" dirty="0" smtClean="0">
                <a:solidFill>
                  <a:srgbClr val="000000"/>
                </a:solidFill>
                <a:latin typeface="隶书" pitchFamily="49" charset="-122"/>
                <a:ea typeface="隶书" pitchFamily="49" charset="-122"/>
              </a:rPr>
              <a:t>)                                                                             </a:t>
            </a:r>
          </a:p>
          <a:p>
            <a:pPr eaLnBrk="1" hangingPunct="1">
              <a:lnSpc>
                <a:spcPct val="80000"/>
              </a:lnSpc>
              <a:spcBef>
                <a:spcPct val="0"/>
              </a:spcBef>
              <a:buFont typeface="Wingdings" pitchFamily="2" charset="2"/>
              <a:buNone/>
            </a:pPr>
            <a:r>
              <a:rPr kumimoji="1" lang="en-US" altLang="zh-CN" sz="2000" dirty="0" smtClean="0">
                <a:solidFill>
                  <a:srgbClr val="000000"/>
                </a:solidFill>
                <a:latin typeface="隶书" pitchFamily="49" charset="-122"/>
                <a:ea typeface="隶书" pitchFamily="49" charset="-122"/>
              </a:rPr>
              <a:t>                                    </a:t>
            </a:r>
            <a:r>
              <a:rPr kumimoji="1" lang="zh-CN" altLang="en-US" sz="2000" dirty="0" smtClean="0">
                <a:solidFill>
                  <a:srgbClr val="000000"/>
                </a:solidFill>
                <a:latin typeface="隶书" pitchFamily="49" charset="-122"/>
                <a:ea typeface="隶书" pitchFamily="49" charset="-122"/>
              </a:rPr>
              <a:t>时域法</a:t>
            </a:r>
          </a:p>
          <a:p>
            <a:pPr eaLnBrk="1" hangingPunct="1">
              <a:lnSpc>
                <a:spcPct val="80000"/>
              </a:lnSpc>
              <a:spcBef>
                <a:spcPct val="0"/>
              </a:spcBef>
              <a:buFont typeface="Wingdings" pitchFamily="2" charset="2"/>
              <a:buNone/>
            </a:pPr>
            <a:r>
              <a:rPr kumimoji="1" lang="zh-CN" altLang="en-US" sz="2000" dirty="0" smtClean="0">
                <a:solidFill>
                  <a:srgbClr val="000000"/>
                </a:solidFill>
                <a:latin typeface="隶书" pitchFamily="49" charset="-122"/>
                <a:ea typeface="隶书" pitchFamily="49" charset="-122"/>
              </a:rPr>
              <a:t>                                    复域法 </a:t>
            </a:r>
            <a:r>
              <a:rPr kumimoji="1" lang="en-US" altLang="zh-CN" sz="2000" dirty="0" smtClean="0">
                <a:solidFill>
                  <a:srgbClr val="000000"/>
                </a:solidFill>
                <a:latin typeface="隶书" pitchFamily="49" charset="-122"/>
                <a:ea typeface="隶书" pitchFamily="49" charset="-122"/>
              </a:rPr>
              <a:t>(</a:t>
            </a:r>
            <a:r>
              <a:rPr kumimoji="1" lang="zh-CN" altLang="en-US" sz="2000" dirty="0" smtClean="0">
                <a:solidFill>
                  <a:srgbClr val="000000"/>
                </a:solidFill>
                <a:latin typeface="隶书" pitchFamily="49" charset="-122"/>
                <a:ea typeface="隶书" pitchFamily="49" charset="-122"/>
              </a:rPr>
              <a:t>根轨迹法</a:t>
            </a:r>
            <a:r>
              <a:rPr kumimoji="1" lang="en-US" altLang="zh-CN" sz="2000" dirty="0" smtClean="0">
                <a:solidFill>
                  <a:srgbClr val="000000"/>
                </a:solidFill>
                <a:latin typeface="隶书" pitchFamily="49" charset="-122"/>
                <a:ea typeface="隶书" pitchFamily="49" charset="-122"/>
              </a:rPr>
              <a:t>)</a:t>
            </a:r>
          </a:p>
          <a:p>
            <a:pPr eaLnBrk="1" hangingPunct="1">
              <a:lnSpc>
                <a:spcPct val="80000"/>
              </a:lnSpc>
              <a:spcBef>
                <a:spcPct val="0"/>
              </a:spcBef>
              <a:buFont typeface="Wingdings" pitchFamily="2" charset="2"/>
              <a:buNone/>
            </a:pPr>
            <a:r>
              <a:rPr kumimoji="1" lang="en-US" altLang="zh-CN" sz="2000" dirty="0" smtClean="0">
                <a:solidFill>
                  <a:srgbClr val="000000"/>
                </a:solidFill>
                <a:latin typeface="隶书" pitchFamily="49" charset="-122"/>
                <a:ea typeface="隶书" pitchFamily="49" charset="-122"/>
              </a:rPr>
              <a:t>                                    </a:t>
            </a:r>
            <a:r>
              <a:rPr kumimoji="1" lang="zh-CN" altLang="en-US" sz="2000" dirty="0" smtClean="0">
                <a:solidFill>
                  <a:srgbClr val="000000"/>
                </a:solidFill>
                <a:latin typeface="隶书" pitchFamily="49" charset="-122"/>
                <a:ea typeface="隶书" pitchFamily="49" charset="-122"/>
              </a:rPr>
              <a:t>频域法            </a:t>
            </a:r>
          </a:p>
          <a:p>
            <a:pPr eaLnBrk="1" hangingPunct="1">
              <a:lnSpc>
                <a:spcPct val="80000"/>
              </a:lnSpc>
              <a:spcBef>
                <a:spcPct val="0"/>
              </a:spcBef>
              <a:buFont typeface="Wingdings" pitchFamily="2" charset="2"/>
              <a:buNone/>
            </a:pPr>
            <a:endParaRPr kumimoji="1" lang="zh-CN" altLang="en-US" sz="2000" dirty="0" smtClean="0">
              <a:solidFill>
                <a:srgbClr val="000000"/>
              </a:solidFill>
              <a:latin typeface="隶书" pitchFamily="49" charset="-122"/>
              <a:ea typeface="隶书" pitchFamily="49" charset="-122"/>
            </a:endParaRPr>
          </a:p>
          <a:p>
            <a:pPr eaLnBrk="1" hangingPunct="1">
              <a:lnSpc>
                <a:spcPct val="80000"/>
              </a:lnSpc>
              <a:spcBef>
                <a:spcPct val="0"/>
              </a:spcBef>
            </a:pPr>
            <a:r>
              <a:rPr kumimoji="1" lang="zh-CN" altLang="en-US" sz="2000" dirty="0" smtClean="0">
                <a:solidFill>
                  <a:srgbClr val="000000"/>
                </a:solidFill>
                <a:latin typeface="隶书" pitchFamily="49" charset="-122"/>
                <a:ea typeface="隶书" pitchFamily="49" charset="-122"/>
              </a:rPr>
              <a:t>现代控制理论    </a:t>
            </a:r>
            <a:r>
              <a:rPr kumimoji="1" lang="en-US" altLang="zh-CN" sz="2000" dirty="0" smtClean="0">
                <a:solidFill>
                  <a:srgbClr val="000000"/>
                </a:solidFill>
                <a:latin typeface="隶书" pitchFamily="49" charset="-122"/>
                <a:ea typeface="隶书" pitchFamily="49" charset="-122"/>
              </a:rPr>
              <a:t>( 20</a:t>
            </a:r>
            <a:r>
              <a:rPr kumimoji="1" lang="zh-CN" altLang="en-US" sz="2000" dirty="0" smtClean="0">
                <a:solidFill>
                  <a:srgbClr val="000000"/>
                </a:solidFill>
                <a:latin typeface="隶书" pitchFamily="49" charset="-122"/>
                <a:ea typeface="隶书" pitchFamily="49" charset="-122"/>
              </a:rPr>
              <a:t>世纪</a:t>
            </a:r>
            <a:r>
              <a:rPr kumimoji="1" lang="en-US" altLang="zh-CN" sz="2000" dirty="0" smtClean="0">
                <a:solidFill>
                  <a:srgbClr val="000000"/>
                </a:solidFill>
                <a:latin typeface="隶书" pitchFamily="49" charset="-122"/>
                <a:ea typeface="隶书" pitchFamily="49" charset="-122"/>
              </a:rPr>
              <a:t>60</a:t>
            </a:r>
            <a:r>
              <a:rPr kumimoji="1" lang="zh-CN" altLang="en-US" sz="2000" dirty="0" smtClean="0">
                <a:solidFill>
                  <a:srgbClr val="000000"/>
                </a:solidFill>
                <a:latin typeface="隶书" pitchFamily="49" charset="-122"/>
                <a:ea typeface="隶书" pitchFamily="49" charset="-122"/>
              </a:rPr>
              <a:t>年代 </a:t>
            </a:r>
            <a:r>
              <a:rPr kumimoji="1" lang="en-US" altLang="zh-CN" sz="2000" dirty="0" smtClean="0">
                <a:solidFill>
                  <a:srgbClr val="000000"/>
                </a:solidFill>
                <a:latin typeface="隶书" pitchFamily="49" charset="-122"/>
                <a:ea typeface="隶书" pitchFamily="49" charset="-122"/>
              </a:rPr>
              <a:t>)</a:t>
            </a:r>
          </a:p>
          <a:p>
            <a:pPr eaLnBrk="1" hangingPunct="1">
              <a:lnSpc>
                <a:spcPct val="80000"/>
              </a:lnSpc>
              <a:spcBef>
                <a:spcPct val="0"/>
              </a:spcBef>
              <a:buFont typeface="Wingdings" pitchFamily="2" charset="2"/>
              <a:buNone/>
            </a:pPr>
            <a:r>
              <a:rPr kumimoji="1" lang="en-US" altLang="zh-CN" sz="2000" dirty="0" smtClean="0">
                <a:solidFill>
                  <a:srgbClr val="000000"/>
                </a:solidFill>
                <a:latin typeface="隶书" pitchFamily="49" charset="-122"/>
                <a:ea typeface="隶书" pitchFamily="49" charset="-122"/>
              </a:rPr>
              <a:t>                       </a:t>
            </a:r>
            <a:r>
              <a:rPr kumimoji="1" lang="zh-CN" altLang="en-US" sz="2000" dirty="0" smtClean="0">
                <a:solidFill>
                  <a:srgbClr val="000000"/>
                </a:solidFill>
                <a:latin typeface="隶书" pitchFamily="49" charset="-122"/>
                <a:ea typeface="隶书" pitchFamily="49" charset="-122"/>
              </a:rPr>
              <a:t>线性系统                自适应控制</a:t>
            </a:r>
          </a:p>
          <a:p>
            <a:pPr eaLnBrk="1" hangingPunct="1">
              <a:lnSpc>
                <a:spcPct val="80000"/>
              </a:lnSpc>
              <a:spcBef>
                <a:spcPct val="0"/>
              </a:spcBef>
              <a:buFont typeface="Wingdings" pitchFamily="2" charset="2"/>
              <a:buNone/>
            </a:pPr>
            <a:r>
              <a:rPr kumimoji="1" lang="zh-CN" altLang="en-US" sz="2000" dirty="0" smtClean="0">
                <a:solidFill>
                  <a:srgbClr val="000000"/>
                </a:solidFill>
                <a:latin typeface="隶书" pitchFamily="49" charset="-122"/>
                <a:ea typeface="隶书" pitchFamily="49" charset="-122"/>
              </a:rPr>
              <a:t>                       最优控制                鲁棒控制</a:t>
            </a:r>
          </a:p>
          <a:p>
            <a:pPr eaLnBrk="1" hangingPunct="1">
              <a:lnSpc>
                <a:spcPct val="80000"/>
              </a:lnSpc>
              <a:spcBef>
                <a:spcPct val="0"/>
              </a:spcBef>
              <a:buFont typeface="Wingdings" pitchFamily="2" charset="2"/>
              <a:buNone/>
            </a:pPr>
            <a:r>
              <a:rPr kumimoji="1" lang="zh-CN" altLang="en-US" sz="2000" dirty="0" smtClean="0">
                <a:solidFill>
                  <a:srgbClr val="000000"/>
                </a:solidFill>
                <a:latin typeface="隶书" pitchFamily="49" charset="-122"/>
                <a:ea typeface="隶书" pitchFamily="49" charset="-122"/>
              </a:rPr>
              <a:t>                       最佳估计                容错控制</a:t>
            </a:r>
          </a:p>
          <a:p>
            <a:pPr eaLnBrk="1" hangingPunct="1">
              <a:lnSpc>
                <a:spcPct val="80000"/>
              </a:lnSpc>
              <a:spcBef>
                <a:spcPct val="0"/>
              </a:spcBef>
              <a:buFont typeface="Wingdings" pitchFamily="2" charset="2"/>
              <a:buNone/>
            </a:pPr>
            <a:r>
              <a:rPr kumimoji="1" lang="zh-CN" altLang="en-US" sz="2000" dirty="0" smtClean="0">
                <a:solidFill>
                  <a:srgbClr val="000000"/>
                </a:solidFill>
                <a:latin typeface="隶书" pitchFamily="49" charset="-122"/>
                <a:ea typeface="隶书" pitchFamily="49" charset="-122"/>
              </a:rPr>
              <a:t>                       系统辨识                集散控制 </a:t>
            </a:r>
          </a:p>
          <a:p>
            <a:pPr eaLnBrk="1" hangingPunct="1">
              <a:lnSpc>
                <a:spcPct val="80000"/>
              </a:lnSpc>
              <a:spcBef>
                <a:spcPct val="0"/>
              </a:spcBef>
              <a:buFont typeface="Wingdings" pitchFamily="2" charset="2"/>
              <a:buNone/>
            </a:pPr>
            <a:r>
              <a:rPr kumimoji="1" lang="zh-CN" altLang="en-US" sz="2000" dirty="0" smtClean="0">
                <a:solidFill>
                  <a:srgbClr val="000000"/>
                </a:solidFill>
                <a:latin typeface="隶书" pitchFamily="49" charset="-122"/>
                <a:ea typeface="隶书" pitchFamily="49" charset="-122"/>
              </a:rPr>
              <a:t>                       大系统复杂系统</a:t>
            </a:r>
          </a:p>
          <a:p>
            <a:pPr eaLnBrk="1" hangingPunct="1">
              <a:lnSpc>
                <a:spcPct val="80000"/>
              </a:lnSpc>
              <a:spcBef>
                <a:spcPct val="0"/>
              </a:spcBef>
            </a:pPr>
            <a:r>
              <a:rPr kumimoji="1" lang="zh-CN" altLang="en-US" sz="2000" dirty="0" smtClean="0">
                <a:solidFill>
                  <a:srgbClr val="000000"/>
                </a:solidFill>
                <a:latin typeface="隶书" pitchFamily="49" charset="-122"/>
                <a:ea typeface="隶书" pitchFamily="49" charset="-122"/>
              </a:rPr>
              <a:t>智能控制理论    </a:t>
            </a:r>
            <a:r>
              <a:rPr kumimoji="1" lang="en-US" altLang="zh-CN" sz="2000" dirty="0" smtClean="0">
                <a:solidFill>
                  <a:srgbClr val="000000"/>
                </a:solidFill>
                <a:latin typeface="隶书" pitchFamily="49" charset="-122"/>
                <a:ea typeface="隶书" pitchFamily="49" charset="-122"/>
              </a:rPr>
              <a:t>( 20</a:t>
            </a:r>
            <a:r>
              <a:rPr kumimoji="1" lang="zh-CN" altLang="en-US" sz="2000" dirty="0" smtClean="0">
                <a:solidFill>
                  <a:srgbClr val="000000"/>
                </a:solidFill>
                <a:latin typeface="隶书" pitchFamily="49" charset="-122"/>
                <a:ea typeface="隶书" pitchFamily="49" charset="-122"/>
              </a:rPr>
              <a:t>世纪</a:t>
            </a:r>
            <a:r>
              <a:rPr kumimoji="1" lang="en-US" altLang="zh-CN" sz="2000" dirty="0" smtClean="0">
                <a:solidFill>
                  <a:srgbClr val="000000"/>
                </a:solidFill>
                <a:latin typeface="隶书" pitchFamily="49" charset="-122"/>
                <a:ea typeface="隶书" pitchFamily="49" charset="-122"/>
              </a:rPr>
              <a:t>70</a:t>
            </a:r>
            <a:r>
              <a:rPr kumimoji="1" lang="zh-CN" altLang="en-US" sz="2000" dirty="0" smtClean="0">
                <a:solidFill>
                  <a:srgbClr val="000000"/>
                </a:solidFill>
                <a:latin typeface="隶书" pitchFamily="49" charset="-122"/>
                <a:ea typeface="隶书" pitchFamily="49" charset="-122"/>
              </a:rPr>
              <a:t>年代 </a:t>
            </a:r>
            <a:r>
              <a:rPr kumimoji="1" lang="en-US" altLang="zh-CN" sz="2000" dirty="0" smtClean="0">
                <a:solidFill>
                  <a:srgbClr val="000000"/>
                </a:solidFill>
                <a:latin typeface="隶书" pitchFamily="49" charset="-122"/>
                <a:ea typeface="隶书" pitchFamily="49" charset="-122"/>
              </a:rPr>
              <a:t>)</a:t>
            </a:r>
          </a:p>
          <a:p>
            <a:pPr eaLnBrk="1" hangingPunct="1">
              <a:lnSpc>
                <a:spcPct val="80000"/>
              </a:lnSpc>
              <a:spcBef>
                <a:spcPct val="0"/>
              </a:spcBef>
              <a:buFont typeface="Wingdings" pitchFamily="2" charset="2"/>
              <a:buNone/>
            </a:pPr>
            <a:r>
              <a:rPr kumimoji="1" lang="en-US" altLang="zh-CN" sz="2000" dirty="0" smtClean="0">
                <a:solidFill>
                  <a:srgbClr val="000000"/>
                </a:solidFill>
                <a:latin typeface="隶书" pitchFamily="49" charset="-122"/>
                <a:ea typeface="隶书" pitchFamily="49" charset="-122"/>
              </a:rPr>
              <a:t>                                    </a:t>
            </a:r>
            <a:r>
              <a:rPr kumimoji="1" lang="zh-CN" altLang="en-US" sz="2000" dirty="0" smtClean="0">
                <a:solidFill>
                  <a:srgbClr val="000000"/>
                </a:solidFill>
                <a:latin typeface="隶书" pitchFamily="49" charset="-122"/>
                <a:ea typeface="隶书" pitchFamily="49" charset="-122"/>
              </a:rPr>
              <a:t>专家系统</a:t>
            </a:r>
          </a:p>
          <a:p>
            <a:pPr eaLnBrk="1" hangingPunct="1">
              <a:lnSpc>
                <a:spcPct val="80000"/>
              </a:lnSpc>
              <a:spcBef>
                <a:spcPct val="0"/>
              </a:spcBef>
              <a:buFont typeface="Wingdings" pitchFamily="2" charset="2"/>
              <a:buNone/>
            </a:pPr>
            <a:r>
              <a:rPr kumimoji="1" lang="zh-CN" altLang="en-US" sz="2000" dirty="0" smtClean="0">
                <a:solidFill>
                  <a:srgbClr val="000000"/>
                </a:solidFill>
                <a:latin typeface="隶书" pitchFamily="49" charset="-122"/>
                <a:ea typeface="隶书" pitchFamily="49" charset="-122"/>
              </a:rPr>
              <a:t>                                    模糊控制</a:t>
            </a:r>
          </a:p>
          <a:p>
            <a:pPr eaLnBrk="1" hangingPunct="1">
              <a:lnSpc>
                <a:spcPct val="80000"/>
              </a:lnSpc>
              <a:spcBef>
                <a:spcPct val="0"/>
              </a:spcBef>
              <a:buFont typeface="Wingdings" pitchFamily="2" charset="2"/>
              <a:buNone/>
            </a:pPr>
            <a:r>
              <a:rPr kumimoji="1" lang="zh-CN" altLang="en-US" sz="2000" dirty="0" smtClean="0">
                <a:solidFill>
                  <a:srgbClr val="000000"/>
                </a:solidFill>
                <a:latin typeface="隶书" pitchFamily="49" charset="-122"/>
                <a:ea typeface="隶书" pitchFamily="49" charset="-122"/>
              </a:rPr>
              <a:t>                                    神经网络</a:t>
            </a:r>
          </a:p>
          <a:p>
            <a:pPr eaLnBrk="1" hangingPunct="1">
              <a:lnSpc>
                <a:spcPct val="80000"/>
              </a:lnSpc>
              <a:spcBef>
                <a:spcPct val="0"/>
              </a:spcBef>
              <a:buFont typeface="Wingdings" pitchFamily="2" charset="2"/>
              <a:buNone/>
            </a:pPr>
            <a:r>
              <a:rPr kumimoji="1" lang="zh-CN" altLang="en-US" sz="2000" dirty="0" smtClean="0">
                <a:solidFill>
                  <a:srgbClr val="000000"/>
                </a:solidFill>
                <a:latin typeface="隶书" pitchFamily="49" charset="-122"/>
                <a:ea typeface="隶书" pitchFamily="49" charset="-122"/>
              </a:rPr>
              <a:t>                                    遗传算法</a:t>
            </a:r>
            <a:endParaRPr kumimoji="1" lang="en-US" altLang="zh-CN" sz="2000" dirty="0" smtClean="0">
              <a:solidFill>
                <a:srgbClr val="000000"/>
              </a:solidFill>
              <a:latin typeface="隶书" pitchFamily="49" charset="-122"/>
              <a:ea typeface="隶书" pitchFamily="49" charset="-122"/>
            </a:endParaRPr>
          </a:p>
          <a:p>
            <a:pPr eaLnBrk="1" hangingPunct="1">
              <a:lnSpc>
                <a:spcPct val="80000"/>
              </a:lnSpc>
              <a:spcBef>
                <a:spcPct val="0"/>
              </a:spcBef>
              <a:buFont typeface="Wingdings" pitchFamily="2" charset="2"/>
              <a:buNone/>
            </a:pPr>
            <a:r>
              <a:rPr kumimoji="1" lang="en-US" altLang="zh-CN" sz="2000" dirty="0" smtClean="0">
                <a:solidFill>
                  <a:srgbClr val="000000"/>
                </a:solidFill>
                <a:latin typeface="隶书" pitchFamily="49" charset="-122"/>
                <a:ea typeface="隶书" pitchFamily="49" charset="-122"/>
              </a:rPr>
              <a:t>                                    </a:t>
            </a:r>
            <a:r>
              <a:rPr kumimoji="1" lang="zh-CN" altLang="en-US" sz="2000" dirty="0" smtClean="0">
                <a:solidFill>
                  <a:srgbClr val="000000"/>
                </a:solidFill>
                <a:latin typeface="隶书" pitchFamily="49" charset="-122"/>
                <a:ea typeface="隶书" pitchFamily="49" charset="-122"/>
              </a:rPr>
              <a:t>多智能体协同控制</a:t>
            </a:r>
          </a:p>
          <a:p>
            <a:pPr eaLnBrk="1" hangingPunct="1">
              <a:lnSpc>
                <a:spcPct val="80000"/>
              </a:lnSpc>
            </a:pPr>
            <a:endParaRPr lang="en-US" altLang="zh-CN" sz="2000" dirty="0" smtClean="0">
              <a:solidFill>
                <a:srgbClr val="000000"/>
              </a:solidFill>
              <a:latin typeface="隶书" pitchFamily="49" charset="-122"/>
              <a:ea typeface="隶书" pitchFamily="49" charset="-122"/>
            </a:endParaRPr>
          </a:p>
        </p:txBody>
      </p:sp>
      <p:sp>
        <p:nvSpPr>
          <p:cNvPr id="39940" name="矩形 1"/>
          <p:cNvSpPr>
            <a:spLocks noChangeArrowheads="1"/>
          </p:cNvSpPr>
          <p:nvPr/>
        </p:nvSpPr>
        <p:spPr bwMode="auto">
          <a:xfrm>
            <a:off x="900113" y="5878513"/>
            <a:ext cx="2879799"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80000"/>
              </a:lnSpc>
            </a:pPr>
            <a:r>
              <a:rPr kumimoji="1" lang="zh-CN" altLang="en-US" sz="2400" dirty="0">
                <a:solidFill>
                  <a:srgbClr val="FF0000"/>
                </a:solidFill>
                <a:latin typeface="隶书" pitchFamily="49" charset="-122"/>
                <a:ea typeface="隶书" pitchFamily="49" charset="-122"/>
              </a:rPr>
              <a:t>观看</a:t>
            </a:r>
            <a:r>
              <a:rPr kumimoji="1" lang="en-US" altLang="zh-CN" sz="2400" dirty="0" err="1">
                <a:solidFill>
                  <a:srgbClr val="FF0000"/>
                </a:solidFill>
                <a:latin typeface="隶书" pitchFamily="49" charset="-122"/>
                <a:ea typeface="隶书" pitchFamily="49" charset="-122"/>
              </a:rPr>
              <a:t>mook</a:t>
            </a:r>
            <a:r>
              <a:rPr kumimoji="1" lang="zh-CN" altLang="en-US" sz="2400" dirty="0">
                <a:solidFill>
                  <a:srgbClr val="FF0000"/>
                </a:solidFill>
                <a:latin typeface="隶书" pitchFamily="49" charset="-122"/>
                <a:ea typeface="隶书" pitchFamily="49" charset="-122"/>
              </a:rPr>
              <a:t>视频</a:t>
            </a:r>
            <a:r>
              <a:rPr kumimoji="1" lang="en-US" altLang="zh-CN" sz="2400" dirty="0">
                <a:solidFill>
                  <a:srgbClr val="FF0000"/>
                </a:solidFill>
                <a:latin typeface="隶书" pitchFamily="49" charset="-122"/>
                <a:ea typeface="隶书" pitchFamily="49" charset="-122"/>
              </a:rPr>
              <a:t>3</a:t>
            </a:r>
            <a:endParaRPr lang="en-US" altLang="zh-CN" sz="2400" dirty="0">
              <a:solidFill>
                <a:srgbClr val="000000"/>
              </a:solidFill>
              <a:latin typeface="隶书" pitchFamily="49" charset="-122"/>
              <a:ea typeface="隶书" pitchFamily="49" charset="-122"/>
            </a:endParaRPr>
          </a:p>
        </p:txBody>
      </p:sp>
    </p:spTree>
    <p:extLst>
      <p:ext uri="{BB962C8B-B14F-4D97-AF65-F5344CB8AC3E}">
        <p14:creationId xmlns:p14="http://schemas.microsoft.com/office/powerpoint/2010/main" val="1461448142"/>
      </p:ext>
    </p:extLst>
  </p:cSld>
  <p:clrMapOvr>
    <a:masterClrMapping/>
  </p:clrMapOvr>
  <p:transition spd="slow"/>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026"/>
          <p:cNvSpPr>
            <a:spLocks noChangeArrowheads="1"/>
          </p:cNvSpPr>
          <p:nvPr/>
        </p:nvSpPr>
        <p:spPr bwMode="auto">
          <a:xfrm>
            <a:off x="50800" y="1524000"/>
            <a:ext cx="9042400" cy="5334000"/>
          </a:xfrm>
          <a:prstGeom prst="rect">
            <a:avLst/>
          </a:prstGeom>
          <a:noFill/>
          <a:ln>
            <a:noFill/>
          </a:ln>
          <a:effectLst>
            <a:outerShdw dist="45791" dir="2021404" algn="ctr" rotWithShape="0">
              <a:schemeClr val="bg2">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kumimoji="1" lang="zh-CN" altLang="zh-CN" sz="9600">
              <a:ea typeface="华文新魏" pitchFamily="2" charset="-122"/>
            </a:endParaRPr>
          </a:p>
        </p:txBody>
      </p:sp>
      <p:sp>
        <p:nvSpPr>
          <p:cNvPr id="40963" name="Rectangle 1027"/>
          <p:cNvSpPr>
            <a:spLocks noGrp="1" noChangeArrowheads="1"/>
          </p:cNvSpPr>
          <p:nvPr>
            <p:ph type="title"/>
          </p:nvPr>
        </p:nvSpPr>
        <p:spPr>
          <a:xfrm>
            <a:off x="107950" y="908050"/>
            <a:ext cx="8856663" cy="533400"/>
          </a:xfrm>
        </p:spPr>
        <p:txBody>
          <a:bodyPr/>
          <a:lstStyle/>
          <a:p>
            <a:r>
              <a:rPr lang="zh-CN" altLang="en-US" kern="1200" dirty="0">
                <a:solidFill>
                  <a:srgbClr val="000000"/>
                </a:solidFill>
                <a:latin typeface="隶书" pitchFamily="49" charset="-122"/>
                <a:ea typeface="隶书" pitchFamily="49" charset="-122"/>
                <a:cs typeface="+mn-cs"/>
              </a:rPr>
              <a:t>自动控制原理</a:t>
            </a:r>
          </a:p>
        </p:txBody>
      </p:sp>
      <p:sp>
        <p:nvSpPr>
          <p:cNvPr id="40964" name="Rectangle 1029"/>
          <p:cNvSpPr>
            <a:spLocks noChangeArrowheads="1"/>
          </p:cNvSpPr>
          <p:nvPr/>
        </p:nvSpPr>
        <p:spPr bwMode="auto">
          <a:xfrm>
            <a:off x="566275" y="2492896"/>
            <a:ext cx="7848600" cy="2501280"/>
          </a:xfrm>
          <a:prstGeom prst="rect">
            <a:avLst/>
          </a:prstGeom>
          <a:noFill/>
          <a:ln>
            <a:noFill/>
          </a:ln>
          <a:effectLst/>
          <a:extLst>
            <a:ext uri="{909E8E84-426E-40DD-AFC4-6F175D3DCCD1}">
              <a14:hiddenFill xmlns:a14="http://schemas.microsoft.com/office/drawing/2010/main">
                <a:gradFill rotWithShape="0">
                  <a:gsLst>
                    <a:gs pos="0">
                      <a:srgbClr val="3366FF"/>
                    </a:gs>
                    <a:gs pos="100000">
                      <a:srgbClr val="000066"/>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4400" dirty="0">
                <a:solidFill>
                  <a:srgbClr val="C00000"/>
                </a:solidFill>
                <a:latin typeface="隶书" pitchFamily="49" charset="-122"/>
                <a:ea typeface="隶书" pitchFamily="49" charset="-122"/>
              </a:rPr>
              <a:t>自动控制理论</a:t>
            </a:r>
          </a:p>
          <a:p>
            <a:endParaRPr lang="zh-CN" altLang="en-US" dirty="0">
              <a:ea typeface="黑体" pitchFamily="2" charset="-122"/>
            </a:endParaRPr>
          </a:p>
          <a:p>
            <a:pPr>
              <a:lnSpc>
                <a:spcPct val="100000"/>
              </a:lnSpc>
            </a:pPr>
            <a:r>
              <a:rPr lang="zh-CN" altLang="en-US" sz="3200" dirty="0">
                <a:ea typeface="华文新魏" pitchFamily="2" charset="-122"/>
              </a:rPr>
              <a:t>        </a:t>
            </a:r>
            <a:r>
              <a:rPr lang="zh-CN" altLang="en-US" sz="3600" dirty="0">
                <a:solidFill>
                  <a:srgbClr val="000000"/>
                </a:solidFill>
                <a:latin typeface="隶书" pitchFamily="49" charset="-122"/>
                <a:ea typeface="隶书" pitchFamily="49" charset="-122"/>
              </a:rPr>
              <a:t>是研究自动控制系统组成，进行系统分析设计的一般性理论</a:t>
            </a:r>
          </a:p>
          <a:p>
            <a:pPr>
              <a:lnSpc>
                <a:spcPct val="100000"/>
              </a:lnSpc>
            </a:pPr>
            <a:endParaRPr lang="zh-CN" altLang="en-US" sz="3600" dirty="0">
              <a:solidFill>
                <a:srgbClr val="000000"/>
              </a:solidFill>
              <a:latin typeface="隶书" pitchFamily="49" charset="-122"/>
              <a:ea typeface="隶书" pitchFamily="49" charset="-122"/>
            </a:endParaRPr>
          </a:p>
          <a:p>
            <a:pPr>
              <a:lnSpc>
                <a:spcPct val="100000"/>
              </a:lnSpc>
            </a:pPr>
            <a:r>
              <a:rPr lang="zh-CN" altLang="en-US" sz="3600" dirty="0">
                <a:solidFill>
                  <a:srgbClr val="000000"/>
                </a:solidFill>
                <a:latin typeface="隶书" pitchFamily="49" charset="-122"/>
                <a:ea typeface="隶书" pitchFamily="49" charset="-122"/>
              </a:rPr>
              <a:t>     是研究自动控制过程共同规律的技术学科</a:t>
            </a:r>
          </a:p>
        </p:txBody>
      </p:sp>
    </p:spTree>
    <p:extLst>
      <p:ext uri="{BB962C8B-B14F-4D97-AF65-F5344CB8AC3E}">
        <p14:creationId xmlns:p14="http://schemas.microsoft.com/office/powerpoint/2010/main" val="2974693594"/>
      </p:ext>
    </p:extLst>
  </p:cSld>
  <p:clrMapOvr>
    <a:masterClrMapping/>
  </p:clrMapOvr>
  <p:transition spd="slow"/>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rrowheads="1"/>
          </p:cNvSpPr>
          <p:nvPr>
            <p:ph type="title"/>
          </p:nvPr>
        </p:nvSpPr>
        <p:spPr/>
        <p:txBody>
          <a:bodyPr/>
          <a:lstStyle/>
          <a:p>
            <a:pPr eaLnBrk="1" hangingPunct="1"/>
            <a:r>
              <a:rPr lang="en-US" altLang="zh-CN" sz="3600" smtClean="0">
                <a:solidFill>
                  <a:srgbClr val="000000"/>
                </a:solidFill>
                <a:latin typeface="隶书" pitchFamily="49" charset="-122"/>
                <a:ea typeface="隶书" pitchFamily="49" charset="-122"/>
              </a:rPr>
              <a:t>1.3 </a:t>
            </a:r>
            <a:r>
              <a:rPr lang="zh-CN" altLang="en-US" sz="3600" smtClean="0">
                <a:solidFill>
                  <a:srgbClr val="000000"/>
                </a:solidFill>
                <a:latin typeface="隶书" pitchFamily="49" charset="-122"/>
                <a:ea typeface="隶书" pitchFamily="49" charset="-122"/>
              </a:rPr>
              <a:t>自动控制和自动控制系统的基本概念</a:t>
            </a:r>
            <a:r>
              <a:rPr lang="zh-CN" altLang="en-US" smtClean="0">
                <a:latin typeface="隶书" pitchFamily="49" charset="-122"/>
                <a:ea typeface="隶书" pitchFamily="49" charset="-122"/>
              </a:rPr>
              <a:t> </a:t>
            </a:r>
          </a:p>
        </p:txBody>
      </p:sp>
      <p:sp>
        <p:nvSpPr>
          <p:cNvPr id="41987" name="Rectangle 3"/>
          <p:cNvSpPr>
            <a:spLocks noGrp="1" noRot="1" noChangeArrowheads="1"/>
          </p:cNvSpPr>
          <p:nvPr>
            <p:ph type="body" idx="1"/>
          </p:nvPr>
        </p:nvSpPr>
        <p:spPr>
          <a:xfrm>
            <a:off x="323850" y="1628775"/>
            <a:ext cx="8540750" cy="4194175"/>
          </a:xfrm>
        </p:spPr>
        <p:txBody>
          <a:bodyPr/>
          <a:lstStyle/>
          <a:p>
            <a:pPr eaLnBrk="1" hangingPunct="1"/>
            <a:r>
              <a:rPr lang="zh-CN" altLang="en-US" sz="2800" dirty="0" smtClean="0">
                <a:solidFill>
                  <a:srgbClr val="000000"/>
                </a:solidFill>
                <a:latin typeface="隶书" pitchFamily="49" charset="-122"/>
                <a:ea typeface="隶书" pitchFamily="49" charset="-122"/>
              </a:rPr>
              <a:t>一、自动控制问题的提出 </a:t>
            </a:r>
          </a:p>
          <a:p>
            <a:pPr eaLnBrk="1" hangingPunct="1"/>
            <a:r>
              <a:rPr lang="zh-CN" altLang="en-US" sz="2800" dirty="0" smtClean="0">
                <a:solidFill>
                  <a:srgbClr val="000000"/>
                </a:solidFill>
                <a:latin typeface="隶书" pitchFamily="49" charset="-122"/>
                <a:ea typeface="隶书" pitchFamily="49" charset="-122"/>
              </a:rPr>
              <a:t>控制：对生产机械或设备进行的及时的，以抵消外界干扰影响的</a:t>
            </a:r>
            <a:r>
              <a:rPr lang="zh-CN" altLang="en-US" sz="2800" dirty="0" smtClean="0">
                <a:solidFill>
                  <a:srgbClr val="FF0000"/>
                </a:solidFill>
                <a:latin typeface="隶书" pitchFamily="49" charset="-122"/>
                <a:ea typeface="隶书" pitchFamily="49" charset="-122"/>
              </a:rPr>
              <a:t>操作</a:t>
            </a:r>
          </a:p>
          <a:p>
            <a:pPr eaLnBrk="1" hangingPunct="1"/>
            <a:r>
              <a:rPr lang="zh-CN" altLang="en-US" sz="2800" dirty="0" smtClean="0">
                <a:solidFill>
                  <a:srgbClr val="000000"/>
                </a:solidFill>
                <a:latin typeface="隶书" pitchFamily="49" charset="-122"/>
                <a:ea typeface="隶书" pitchFamily="49" charset="-122"/>
              </a:rPr>
              <a:t>人工控制和自动控制（举例） </a:t>
            </a:r>
          </a:p>
        </p:txBody>
      </p:sp>
      <p:sp>
        <p:nvSpPr>
          <p:cNvPr id="41988" name="Rectangle 5"/>
          <p:cNvSpPr>
            <a:spLocks noChangeArrowheads="1"/>
          </p:cNvSpPr>
          <p:nvPr/>
        </p:nvSpPr>
        <p:spPr bwMode="auto">
          <a:xfrm>
            <a:off x="0" y="26193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41989" name="Object 4"/>
          <p:cNvGraphicFramePr>
            <a:graphicFrameLocks noChangeAspect="1"/>
          </p:cNvGraphicFramePr>
          <p:nvPr/>
        </p:nvGraphicFramePr>
        <p:xfrm>
          <a:off x="827088" y="3573463"/>
          <a:ext cx="7345362" cy="2987675"/>
        </p:xfrm>
        <a:graphic>
          <a:graphicData uri="http://schemas.openxmlformats.org/presentationml/2006/ole">
            <mc:AlternateContent xmlns:mc="http://schemas.openxmlformats.org/markup-compatibility/2006">
              <mc:Choice xmlns:v="urn:schemas-microsoft-com:vml" Requires="v">
                <p:oleObj spid="_x0000_s390195" name="BMP 图像" r:id="rId3" imgW="0" imgH="0" progId="Paint.Picture">
                  <p:embed/>
                </p:oleObj>
              </mc:Choice>
              <mc:Fallback>
                <p:oleObj name="BMP 图像" r:id="rId3" imgW="0" imgH="0"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3573463"/>
                        <a:ext cx="7345362" cy="298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23323396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9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9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Rot="1" noChangeArrowheads="1"/>
          </p:cNvSpPr>
          <p:nvPr>
            <p:ph type="body" idx="1"/>
          </p:nvPr>
        </p:nvSpPr>
        <p:spPr>
          <a:xfrm>
            <a:off x="215899" y="2199456"/>
            <a:ext cx="8964613" cy="5334000"/>
          </a:xfrm>
        </p:spPr>
        <p:txBody>
          <a:bodyPr/>
          <a:lstStyle/>
          <a:p>
            <a:pPr eaLnBrk="1" hangingPunct="1"/>
            <a:r>
              <a:rPr lang="zh-CN" altLang="en-US" dirty="0" smtClean="0">
                <a:solidFill>
                  <a:srgbClr val="000000"/>
                </a:solidFill>
                <a:latin typeface="隶书" pitchFamily="49" charset="-122"/>
                <a:ea typeface="隶书" pitchFamily="49" charset="-122"/>
              </a:rPr>
              <a:t>眼观测水位；</a:t>
            </a:r>
          </a:p>
          <a:p>
            <a:pPr eaLnBrk="1" hangingPunct="1"/>
            <a:r>
              <a:rPr lang="zh-CN" altLang="en-US" dirty="0" smtClean="0">
                <a:solidFill>
                  <a:srgbClr val="000000"/>
                </a:solidFill>
                <a:latin typeface="隶书" pitchFamily="49" charset="-122"/>
                <a:ea typeface="隶书" pitchFamily="49" charset="-122"/>
              </a:rPr>
              <a:t>大脑比较实际水位与期望水位 差异；</a:t>
            </a:r>
          </a:p>
          <a:p>
            <a:pPr eaLnBrk="1" hangingPunct="1"/>
            <a:r>
              <a:rPr lang="zh-CN" altLang="en-US" dirty="0" smtClean="0">
                <a:solidFill>
                  <a:srgbClr val="000000"/>
                </a:solidFill>
                <a:latin typeface="隶书" pitchFamily="49" charset="-122"/>
                <a:ea typeface="隶书" pitchFamily="49" charset="-122"/>
              </a:rPr>
              <a:t>手操作进水阀门 </a:t>
            </a:r>
          </a:p>
          <a:p>
            <a:pPr eaLnBrk="1" hangingPunct="1"/>
            <a:endParaRPr lang="zh-CN" altLang="en-US" dirty="0" smtClean="0">
              <a:solidFill>
                <a:srgbClr val="000000"/>
              </a:solidFill>
              <a:latin typeface="隶书" pitchFamily="49" charset="-122"/>
              <a:ea typeface="隶书" pitchFamily="49" charset="-122"/>
            </a:endParaRPr>
          </a:p>
          <a:p>
            <a:pPr eaLnBrk="1" hangingPunct="1"/>
            <a:r>
              <a:rPr lang="zh-CN" altLang="en-US" dirty="0" smtClean="0">
                <a:solidFill>
                  <a:srgbClr val="000000"/>
                </a:solidFill>
                <a:latin typeface="隶书" pitchFamily="49" charset="-122"/>
                <a:ea typeface="隶书" pitchFamily="49" charset="-122"/>
              </a:rPr>
              <a:t>浮子代替人的眼睛观测水位；</a:t>
            </a:r>
          </a:p>
          <a:p>
            <a:pPr eaLnBrk="1" hangingPunct="1"/>
            <a:r>
              <a:rPr lang="zh-CN" altLang="en-US" dirty="0" smtClean="0">
                <a:solidFill>
                  <a:srgbClr val="000000"/>
                </a:solidFill>
                <a:latin typeface="隶书" pitchFamily="49" charset="-122"/>
                <a:ea typeface="隶书" pitchFamily="49" charset="-122"/>
              </a:rPr>
              <a:t>杠杆机构代替人的大脑和手的功能完成比较和操作功能</a:t>
            </a:r>
          </a:p>
        </p:txBody>
      </p:sp>
      <p:sp>
        <p:nvSpPr>
          <p:cNvPr id="43011" name="标题 1"/>
          <p:cNvSpPr>
            <a:spLocks noGrp="1"/>
          </p:cNvSpPr>
          <p:nvPr>
            <p:ph type="title"/>
          </p:nvPr>
        </p:nvSpPr>
        <p:spPr/>
        <p:txBody>
          <a:bodyPr/>
          <a:lstStyle/>
          <a:p>
            <a:endParaRPr lang="zh-CN" altLang="en-US" dirty="0" smtClean="0"/>
          </a:p>
        </p:txBody>
      </p:sp>
      <p:graphicFrame>
        <p:nvGraphicFramePr>
          <p:cNvPr id="43013" name="对象 2"/>
          <p:cNvGraphicFramePr>
            <a:graphicFrameLocks noChangeAspect="1"/>
          </p:cNvGraphicFramePr>
          <p:nvPr>
            <p:extLst>
              <p:ext uri="{D42A27DB-BD31-4B8C-83A1-F6EECF244321}">
                <p14:modId xmlns:p14="http://schemas.microsoft.com/office/powerpoint/2010/main" val="3897940775"/>
              </p:ext>
            </p:extLst>
          </p:nvPr>
        </p:nvGraphicFramePr>
        <p:xfrm>
          <a:off x="3995737" y="980728"/>
          <a:ext cx="4681537" cy="1905000"/>
        </p:xfrm>
        <a:graphic>
          <a:graphicData uri="http://schemas.openxmlformats.org/presentationml/2006/ole">
            <mc:AlternateContent xmlns:mc="http://schemas.openxmlformats.org/markup-compatibility/2006">
              <mc:Choice xmlns:v="urn:schemas-microsoft-com:vml" Requires="v">
                <p:oleObj spid="_x0000_s391219" name="BMP 图像" r:id="rId3" imgW="0" imgH="0" progId="Paint.Picture">
                  <p:embed/>
                </p:oleObj>
              </mc:Choice>
              <mc:Fallback>
                <p:oleObj name="BMP 图像" r:id="rId3" imgW="0" imgH="0"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5737" y="980728"/>
                        <a:ext cx="4681537"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207266679"/>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 calcmode="lin" valueType="num">
                                      <p:cBhvr additive="base">
                                        <p:cTn id="7" dur="500" fill="hold"/>
                                        <p:tgtEl>
                                          <p:spTgt spid="337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79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3795">
                                            <p:txEl>
                                              <p:pRg st="1" end="1"/>
                                            </p:txEl>
                                          </p:spTgt>
                                        </p:tgtEl>
                                        <p:attrNameLst>
                                          <p:attrName>style.visibility</p:attrName>
                                        </p:attrNameLst>
                                      </p:cBhvr>
                                      <p:to>
                                        <p:strVal val="visible"/>
                                      </p:to>
                                    </p:set>
                                    <p:anim calcmode="lin" valueType="num">
                                      <p:cBhvr additive="base">
                                        <p:cTn id="13" dur="500" fill="hold"/>
                                        <p:tgtEl>
                                          <p:spTgt spid="3379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37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3795">
                                            <p:txEl>
                                              <p:pRg st="2" end="2"/>
                                            </p:txEl>
                                          </p:spTgt>
                                        </p:tgtEl>
                                        <p:attrNameLst>
                                          <p:attrName>style.visibility</p:attrName>
                                        </p:attrNameLst>
                                      </p:cBhvr>
                                      <p:to>
                                        <p:strVal val="visible"/>
                                      </p:to>
                                    </p:set>
                                    <p:anim calcmode="lin" valueType="num">
                                      <p:cBhvr additive="base">
                                        <p:cTn id="19" dur="500" fill="hold"/>
                                        <p:tgtEl>
                                          <p:spTgt spid="3379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379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3795">
                                            <p:txEl>
                                              <p:pRg st="4" end="4"/>
                                            </p:txEl>
                                          </p:spTgt>
                                        </p:tgtEl>
                                        <p:attrNameLst>
                                          <p:attrName>style.visibility</p:attrName>
                                        </p:attrNameLst>
                                      </p:cBhvr>
                                      <p:to>
                                        <p:strVal val="visible"/>
                                      </p:to>
                                    </p:set>
                                    <p:anim calcmode="lin" valueType="num">
                                      <p:cBhvr additive="base">
                                        <p:cTn id="25" dur="500" fill="hold"/>
                                        <p:tgtEl>
                                          <p:spTgt spid="3379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379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3795">
                                            <p:txEl>
                                              <p:pRg st="5" end="5"/>
                                            </p:txEl>
                                          </p:spTgt>
                                        </p:tgtEl>
                                        <p:attrNameLst>
                                          <p:attrName>style.visibility</p:attrName>
                                        </p:attrNameLst>
                                      </p:cBhvr>
                                      <p:to>
                                        <p:strVal val="visible"/>
                                      </p:to>
                                    </p:set>
                                    <p:anim calcmode="lin" valueType="num">
                                      <p:cBhvr additive="base">
                                        <p:cTn id="31" dur="500" fill="hold"/>
                                        <p:tgtEl>
                                          <p:spTgt spid="3379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379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Rot="1" noChangeArrowheads="1"/>
          </p:cNvSpPr>
          <p:nvPr>
            <p:ph type="body" idx="1"/>
          </p:nvPr>
        </p:nvSpPr>
        <p:spPr>
          <a:xfrm>
            <a:off x="323528" y="1052736"/>
            <a:ext cx="8540750" cy="4194175"/>
          </a:xfrm>
        </p:spPr>
        <p:txBody>
          <a:bodyPr/>
          <a:lstStyle/>
          <a:p>
            <a:pPr eaLnBrk="1" hangingPunct="1">
              <a:lnSpc>
                <a:spcPct val="90000"/>
              </a:lnSpc>
            </a:pPr>
            <a:r>
              <a:rPr lang="zh-CN" altLang="en-US" dirty="0" smtClean="0">
                <a:solidFill>
                  <a:srgbClr val="000000"/>
                </a:solidFill>
                <a:latin typeface="隶书" pitchFamily="49" charset="-122"/>
                <a:ea typeface="隶书" pitchFamily="49" charset="-122"/>
              </a:rPr>
              <a:t>人工控制和自动控制（概念）</a:t>
            </a:r>
          </a:p>
          <a:p>
            <a:pPr eaLnBrk="1" hangingPunct="1">
              <a:lnSpc>
                <a:spcPct val="90000"/>
              </a:lnSpc>
            </a:pPr>
            <a:r>
              <a:rPr lang="zh-CN" altLang="en-US" sz="2800" dirty="0" smtClean="0">
                <a:solidFill>
                  <a:srgbClr val="000000"/>
                </a:solidFill>
                <a:latin typeface="隶书" pitchFamily="49" charset="-122"/>
                <a:ea typeface="隶书" pitchFamily="49" charset="-122"/>
              </a:rPr>
              <a:t>自动控制和人工控制极为相似，自动控制系统只不过是在</a:t>
            </a:r>
            <a:r>
              <a:rPr lang="zh-CN" altLang="en-US" sz="2800" dirty="0" smtClean="0">
                <a:solidFill>
                  <a:srgbClr val="FF0000"/>
                </a:solidFill>
                <a:latin typeface="隶书" pitchFamily="49" charset="-122"/>
                <a:ea typeface="隶书" pitchFamily="49" charset="-122"/>
              </a:rPr>
              <a:t>无人直接参与</a:t>
            </a:r>
            <a:r>
              <a:rPr lang="zh-CN" altLang="en-US" sz="2800" dirty="0" smtClean="0">
                <a:solidFill>
                  <a:srgbClr val="000000"/>
                </a:solidFill>
                <a:latin typeface="隶书" pitchFamily="49" charset="-122"/>
                <a:ea typeface="隶书" pitchFamily="49" charset="-122"/>
              </a:rPr>
              <a:t>的情况下，</a:t>
            </a:r>
            <a:r>
              <a:rPr lang="zh-CN" altLang="en-US" sz="2800" dirty="0" smtClean="0">
                <a:solidFill>
                  <a:srgbClr val="FF0000"/>
                </a:solidFill>
                <a:latin typeface="隶书" pitchFamily="49" charset="-122"/>
                <a:ea typeface="隶书" pitchFamily="49" charset="-122"/>
              </a:rPr>
              <a:t>利用控制装置</a:t>
            </a:r>
            <a:r>
              <a:rPr lang="zh-CN" altLang="en-US" sz="2800" dirty="0" smtClean="0">
                <a:solidFill>
                  <a:srgbClr val="000000"/>
                </a:solidFill>
                <a:latin typeface="隶书" pitchFamily="49" charset="-122"/>
                <a:ea typeface="隶书" pitchFamily="49" charset="-122"/>
              </a:rPr>
              <a:t>，使工作机械、或生产过程（被控对象）的某一个物理量（被控量）</a:t>
            </a:r>
            <a:r>
              <a:rPr lang="zh-CN" altLang="en-US" sz="2800" dirty="0" smtClean="0">
                <a:solidFill>
                  <a:srgbClr val="FF0000"/>
                </a:solidFill>
                <a:latin typeface="隶书" pitchFamily="49" charset="-122"/>
                <a:ea typeface="隶书" pitchFamily="49" charset="-122"/>
              </a:rPr>
              <a:t>按预定的规律（给定量）运行</a:t>
            </a:r>
            <a:r>
              <a:rPr lang="zh-CN" altLang="en-US" sz="2800" dirty="0" smtClean="0">
                <a:solidFill>
                  <a:srgbClr val="000000"/>
                </a:solidFill>
                <a:latin typeface="隶书" pitchFamily="49" charset="-122"/>
                <a:ea typeface="隶书" pitchFamily="49" charset="-122"/>
              </a:rPr>
              <a:t>。</a:t>
            </a:r>
            <a:endParaRPr lang="en-US" altLang="zh-CN" sz="2800" dirty="0" smtClean="0">
              <a:solidFill>
                <a:srgbClr val="000000"/>
              </a:solidFill>
              <a:latin typeface="隶书" pitchFamily="49" charset="-122"/>
              <a:ea typeface="隶书" pitchFamily="49" charset="-122"/>
            </a:endParaRPr>
          </a:p>
          <a:p>
            <a:pPr eaLnBrk="1" hangingPunct="1">
              <a:lnSpc>
                <a:spcPct val="90000"/>
              </a:lnSpc>
            </a:pPr>
            <a:endParaRPr lang="zh-CN" altLang="en-US" sz="2800" dirty="0" smtClean="0">
              <a:solidFill>
                <a:srgbClr val="000000"/>
              </a:solidFill>
              <a:latin typeface="隶书" pitchFamily="49" charset="-122"/>
              <a:ea typeface="隶书" pitchFamily="49" charset="-122"/>
            </a:endParaRPr>
          </a:p>
          <a:p>
            <a:pPr eaLnBrk="1" hangingPunct="1">
              <a:lnSpc>
                <a:spcPct val="90000"/>
              </a:lnSpc>
            </a:pPr>
            <a:r>
              <a:rPr lang="zh-CN" altLang="en-US" sz="2800" dirty="0" smtClean="0">
                <a:solidFill>
                  <a:srgbClr val="000000"/>
                </a:solidFill>
                <a:latin typeface="隶书" pitchFamily="49" charset="-122"/>
                <a:ea typeface="隶书" pitchFamily="49" charset="-122"/>
              </a:rPr>
              <a:t>把某些装置有机地组合在一起，以代替人的职能而已。</a:t>
            </a:r>
            <a:endParaRPr lang="en-US" altLang="zh-CN" sz="2800" dirty="0" smtClean="0">
              <a:solidFill>
                <a:srgbClr val="000000"/>
              </a:solidFill>
              <a:latin typeface="隶书" pitchFamily="49" charset="-122"/>
              <a:ea typeface="隶书" pitchFamily="49" charset="-122"/>
            </a:endParaRPr>
          </a:p>
          <a:p>
            <a:pPr eaLnBrk="1" hangingPunct="1">
              <a:lnSpc>
                <a:spcPct val="90000"/>
              </a:lnSpc>
            </a:pPr>
            <a:endParaRPr lang="zh-CN" altLang="en-US" sz="2800" dirty="0" smtClean="0">
              <a:solidFill>
                <a:srgbClr val="000000"/>
              </a:solidFill>
              <a:latin typeface="隶书" pitchFamily="49" charset="-122"/>
              <a:ea typeface="隶书" pitchFamily="49" charset="-122"/>
            </a:endParaRPr>
          </a:p>
          <a:p>
            <a:pPr eaLnBrk="1" hangingPunct="1">
              <a:lnSpc>
                <a:spcPct val="90000"/>
              </a:lnSpc>
            </a:pPr>
            <a:r>
              <a:rPr lang="zh-CN" altLang="en-US" sz="2800" dirty="0" smtClean="0">
                <a:solidFill>
                  <a:srgbClr val="000000"/>
                </a:solidFill>
                <a:latin typeface="隶书" pitchFamily="49" charset="-122"/>
                <a:ea typeface="隶书" pitchFamily="49" charset="-122"/>
              </a:rPr>
              <a:t>特点：无人直接参与、利用装置、使一些物理量（被控量）按预定的规律（给定量）运行。</a:t>
            </a:r>
          </a:p>
          <a:p>
            <a:pPr eaLnBrk="1" hangingPunct="1">
              <a:lnSpc>
                <a:spcPct val="90000"/>
              </a:lnSpc>
            </a:pPr>
            <a:endParaRPr lang="zh-CN" altLang="en-US" sz="2800" dirty="0" smtClean="0">
              <a:solidFill>
                <a:srgbClr val="000000"/>
              </a:solidFill>
              <a:latin typeface="隶书" pitchFamily="49" charset="-122"/>
              <a:ea typeface="隶书" pitchFamily="49" charset="-122"/>
            </a:endParaRPr>
          </a:p>
          <a:p>
            <a:pPr eaLnBrk="1" hangingPunct="1">
              <a:lnSpc>
                <a:spcPct val="90000"/>
              </a:lnSpc>
            </a:pPr>
            <a:endParaRPr lang="en-US" altLang="zh-CN" sz="2800" dirty="0" smtClean="0">
              <a:solidFill>
                <a:srgbClr val="000000"/>
              </a:solidFill>
              <a:latin typeface="隶书" pitchFamily="49" charset="-122"/>
              <a:ea typeface="隶书" pitchFamily="49" charset="-122"/>
            </a:endParaRPr>
          </a:p>
        </p:txBody>
      </p:sp>
    </p:spTree>
    <p:extLst>
      <p:ext uri="{BB962C8B-B14F-4D97-AF65-F5344CB8AC3E}">
        <p14:creationId xmlns:p14="http://schemas.microsoft.com/office/powerpoint/2010/main" val="213593198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 calcmode="lin" valueType="num">
                                      <p:cBhvr additive="base">
                                        <p:cTn id="7" dur="500" fill="hold"/>
                                        <p:tgtEl>
                                          <p:spTgt spid="256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6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5603">
                                            <p:txEl>
                                              <p:pRg st="1" end="1"/>
                                            </p:txEl>
                                          </p:spTgt>
                                        </p:tgtEl>
                                        <p:attrNameLst>
                                          <p:attrName>style.visibility</p:attrName>
                                        </p:attrNameLst>
                                      </p:cBhvr>
                                      <p:to>
                                        <p:strVal val="visible"/>
                                      </p:to>
                                    </p:set>
                                    <p:anim calcmode="lin" valueType="num">
                                      <p:cBhvr additive="base">
                                        <p:cTn id="13" dur="500" fill="hold"/>
                                        <p:tgtEl>
                                          <p:spTgt spid="2560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560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5603">
                                            <p:txEl>
                                              <p:pRg st="3" end="3"/>
                                            </p:txEl>
                                          </p:spTgt>
                                        </p:tgtEl>
                                        <p:attrNameLst>
                                          <p:attrName>style.visibility</p:attrName>
                                        </p:attrNameLst>
                                      </p:cBhvr>
                                      <p:to>
                                        <p:strVal val="visible"/>
                                      </p:to>
                                    </p:set>
                                    <p:anim calcmode="lin" valueType="num">
                                      <p:cBhvr additive="base">
                                        <p:cTn id="19" dur="500" fill="hold"/>
                                        <p:tgtEl>
                                          <p:spTgt spid="2560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560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5603">
                                            <p:txEl>
                                              <p:pRg st="5" end="5"/>
                                            </p:txEl>
                                          </p:spTgt>
                                        </p:tgtEl>
                                        <p:attrNameLst>
                                          <p:attrName>style.visibility</p:attrName>
                                        </p:attrNameLst>
                                      </p:cBhvr>
                                      <p:to>
                                        <p:strVal val="visible"/>
                                      </p:to>
                                    </p:set>
                                    <p:anim calcmode="lin" valueType="num">
                                      <p:cBhvr additive="base">
                                        <p:cTn id="23" dur="500" fill="hold"/>
                                        <p:tgtEl>
                                          <p:spTgt spid="2560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560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p:cNvSpPr>
            <a:spLocks noGrp="1" noRot="1" noChangeArrowheads="1"/>
          </p:cNvSpPr>
          <p:nvPr>
            <p:ph type="body" idx="1"/>
          </p:nvPr>
        </p:nvSpPr>
        <p:spPr>
          <a:xfrm>
            <a:off x="15528" y="1772816"/>
            <a:ext cx="8964613" cy="5334000"/>
          </a:xfrm>
        </p:spPr>
        <p:txBody>
          <a:bodyPr/>
          <a:lstStyle/>
          <a:p>
            <a:pPr eaLnBrk="1" hangingPunct="1"/>
            <a:r>
              <a:rPr lang="zh-CN" altLang="en-US" sz="2800" dirty="0" smtClean="0">
                <a:solidFill>
                  <a:srgbClr val="000000"/>
                </a:solidFill>
                <a:latin typeface="隶书" pitchFamily="49" charset="-122"/>
                <a:ea typeface="隶书" pitchFamily="49" charset="-122"/>
              </a:rPr>
              <a:t>引入几个概念：</a:t>
            </a:r>
          </a:p>
          <a:p>
            <a:pPr eaLnBrk="1" hangingPunct="1"/>
            <a:endParaRPr lang="zh-CN" altLang="en-US" sz="2800" dirty="0" smtClean="0">
              <a:solidFill>
                <a:srgbClr val="000000"/>
              </a:solidFill>
              <a:latin typeface="隶书" pitchFamily="49" charset="-122"/>
              <a:ea typeface="隶书" pitchFamily="49" charset="-122"/>
            </a:endParaRPr>
          </a:p>
          <a:p>
            <a:pPr eaLnBrk="1" hangingPunct="1"/>
            <a:endParaRPr lang="zh-CN" altLang="en-US" sz="2800" dirty="0" smtClean="0">
              <a:solidFill>
                <a:srgbClr val="000000"/>
              </a:solidFill>
              <a:latin typeface="隶书" pitchFamily="49" charset="-122"/>
              <a:ea typeface="隶书" pitchFamily="49" charset="-122"/>
            </a:endParaRPr>
          </a:p>
          <a:p>
            <a:pPr eaLnBrk="1" hangingPunct="1"/>
            <a:endParaRPr lang="zh-CN" altLang="en-US" sz="2800" dirty="0" smtClean="0">
              <a:solidFill>
                <a:srgbClr val="000000"/>
              </a:solidFill>
              <a:latin typeface="隶书" pitchFamily="49" charset="-122"/>
              <a:ea typeface="隶书" pitchFamily="49" charset="-122"/>
            </a:endParaRPr>
          </a:p>
          <a:p>
            <a:pPr eaLnBrk="1" hangingPunct="1"/>
            <a:r>
              <a:rPr lang="zh-CN" altLang="en-US" sz="2800" dirty="0" smtClean="0">
                <a:solidFill>
                  <a:srgbClr val="000000"/>
                </a:solidFill>
                <a:latin typeface="隶书" pitchFamily="49" charset="-122"/>
                <a:ea typeface="隶书" pitchFamily="49" charset="-122"/>
              </a:rPr>
              <a:t>水池中的水位是</a:t>
            </a:r>
            <a:r>
              <a:rPr lang="zh-CN" altLang="en-US" sz="2800" dirty="0" smtClean="0">
                <a:solidFill>
                  <a:srgbClr val="FF0000"/>
                </a:solidFill>
                <a:latin typeface="隶书" pitchFamily="49" charset="-122"/>
                <a:ea typeface="隶书" pitchFamily="49" charset="-122"/>
              </a:rPr>
              <a:t>被控制的物理量，简称被控量，或系统输出</a:t>
            </a:r>
            <a:r>
              <a:rPr lang="zh-CN" altLang="en-US" sz="2800" dirty="0" smtClean="0">
                <a:solidFill>
                  <a:srgbClr val="000000"/>
                </a:solidFill>
                <a:latin typeface="隶书" pitchFamily="49" charset="-122"/>
                <a:ea typeface="隶书" pitchFamily="49" charset="-122"/>
              </a:rPr>
              <a:t>。</a:t>
            </a:r>
          </a:p>
          <a:p>
            <a:pPr eaLnBrk="1" hangingPunct="1"/>
            <a:r>
              <a:rPr lang="zh-CN" altLang="en-US" sz="2800" dirty="0" smtClean="0">
                <a:solidFill>
                  <a:srgbClr val="000000"/>
                </a:solidFill>
                <a:latin typeface="隶书" pitchFamily="49" charset="-122"/>
                <a:ea typeface="隶书" pitchFamily="49" charset="-122"/>
              </a:rPr>
              <a:t>水池这个</a:t>
            </a:r>
            <a:r>
              <a:rPr lang="zh-CN" altLang="en-US" sz="2800" dirty="0" smtClean="0">
                <a:solidFill>
                  <a:srgbClr val="FF0000"/>
                </a:solidFill>
                <a:latin typeface="隶书" pitchFamily="49" charset="-122"/>
                <a:ea typeface="隶书" pitchFamily="49" charset="-122"/>
              </a:rPr>
              <a:t>设备是控制的对象，简称被控对象</a:t>
            </a:r>
            <a:r>
              <a:rPr lang="zh-CN" altLang="en-US" sz="2800" dirty="0" smtClean="0">
                <a:solidFill>
                  <a:srgbClr val="000000"/>
                </a:solidFill>
                <a:latin typeface="隶书" pitchFamily="49" charset="-122"/>
                <a:ea typeface="隶书" pitchFamily="49" charset="-122"/>
              </a:rPr>
              <a:t>。</a:t>
            </a:r>
            <a:endParaRPr lang="en-US" altLang="zh-CN" sz="2800" dirty="0" smtClean="0">
              <a:solidFill>
                <a:srgbClr val="000000"/>
              </a:solidFill>
              <a:latin typeface="隶书" pitchFamily="49" charset="-122"/>
              <a:ea typeface="隶书" pitchFamily="49" charset="-122"/>
            </a:endParaRPr>
          </a:p>
          <a:p>
            <a:pPr eaLnBrk="1" hangingPunct="1"/>
            <a:r>
              <a:rPr lang="zh-CN" altLang="en-US" sz="2800" dirty="0" smtClean="0">
                <a:solidFill>
                  <a:srgbClr val="000000"/>
                </a:solidFill>
                <a:latin typeface="隶书" pitchFamily="49" charset="-122"/>
                <a:ea typeface="隶书" pitchFamily="49" charset="-122"/>
              </a:rPr>
              <a:t>要求水位是</a:t>
            </a:r>
            <a:r>
              <a:rPr lang="zh-CN" altLang="en-US" sz="2800" dirty="0" smtClean="0">
                <a:solidFill>
                  <a:srgbClr val="FF0000"/>
                </a:solidFill>
                <a:latin typeface="隶书" pitchFamily="49" charset="-122"/>
                <a:ea typeface="隶书" pitchFamily="49" charset="-122"/>
              </a:rPr>
              <a:t>被控量要跟踪的信号，</a:t>
            </a:r>
            <a:r>
              <a:rPr lang="zh-CN" altLang="en-US" sz="2800" dirty="0" smtClean="0">
                <a:solidFill>
                  <a:schemeClr val="tx1"/>
                </a:solidFill>
                <a:latin typeface="隶书" pitchFamily="49" charset="-122"/>
                <a:ea typeface="隶书" pitchFamily="49" charset="-122"/>
              </a:rPr>
              <a:t>简称</a:t>
            </a:r>
            <a:r>
              <a:rPr lang="zh-CN" altLang="en-US" sz="2800" dirty="0" smtClean="0">
                <a:solidFill>
                  <a:srgbClr val="FF0000"/>
                </a:solidFill>
                <a:latin typeface="隶书" pitchFamily="49" charset="-122"/>
                <a:ea typeface="隶书" pitchFamily="49" charset="-122"/>
              </a:rPr>
              <a:t>给定量，</a:t>
            </a:r>
            <a:r>
              <a:rPr lang="zh-CN" altLang="en-US" sz="2800" dirty="0" smtClean="0">
                <a:solidFill>
                  <a:schemeClr val="tx1"/>
                </a:solidFill>
                <a:latin typeface="隶书" pitchFamily="49" charset="-122"/>
                <a:ea typeface="隶书" pitchFamily="49" charset="-122"/>
              </a:rPr>
              <a:t>也称为</a:t>
            </a:r>
            <a:r>
              <a:rPr lang="zh-CN" altLang="en-US" sz="2800" dirty="0" smtClean="0">
                <a:solidFill>
                  <a:srgbClr val="FF0000"/>
                </a:solidFill>
                <a:latin typeface="隶书" pitchFamily="49" charset="-122"/>
                <a:ea typeface="隶书" pitchFamily="49" charset="-122"/>
              </a:rPr>
              <a:t>系统输入信号</a:t>
            </a:r>
            <a:r>
              <a:rPr lang="zh-CN" altLang="en-US" sz="2800" dirty="0" smtClean="0">
                <a:solidFill>
                  <a:schemeClr val="hlink"/>
                </a:solidFill>
                <a:latin typeface="隶书" pitchFamily="49" charset="-122"/>
                <a:ea typeface="隶书" pitchFamily="49" charset="-122"/>
              </a:rPr>
              <a:t>。</a:t>
            </a:r>
            <a:endParaRPr lang="zh-CN" altLang="en-US" sz="2800" dirty="0" smtClean="0">
              <a:solidFill>
                <a:srgbClr val="000000"/>
              </a:solidFill>
              <a:latin typeface="隶书" pitchFamily="49" charset="-122"/>
              <a:ea typeface="隶书" pitchFamily="49" charset="-122"/>
            </a:endParaRPr>
          </a:p>
        </p:txBody>
      </p:sp>
      <p:pic>
        <p:nvPicPr>
          <p:cNvPr id="4505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8650" y="908720"/>
            <a:ext cx="5975350" cy="280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145861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05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05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505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05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0"/>
          <p:cNvSpPr>
            <a:spLocks noGrp="1" noRot="1" noChangeArrowheads="1"/>
          </p:cNvSpPr>
          <p:nvPr>
            <p:ph type="title"/>
          </p:nvPr>
        </p:nvSpPr>
        <p:spPr/>
        <p:txBody>
          <a:bodyPr/>
          <a:lstStyle/>
          <a:p>
            <a:pPr eaLnBrk="1" hangingPunct="1"/>
            <a:endParaRPr lang="zh-CN" altLang="zh-CN" smtClean="0"/>
          </a:p>
        </p:txBody>
      </p:sp>
      <p:sp>
        <p:nvSpPr>
          <p:cNvPr id="46083" name="Rectangle 3"/>
          <p:cNvSpPr>
            <a:spLocks noGrp="1" noRot="1" noChangeArrowheads="1"/>
          </p:cNvSpPr>
          <p:nvPr>
            <p:ph type="body" sz="half" idx="1"/>
          </p:nvPr>
        </p:nvSpPr>
        <p:spPr/>
        <p:txBody>
          <a:bodyPr/>
          <a:lstStyle/>
          <a:p>
            <a:pPr eaLnBrk="1" hangingPunct="1"/>
            <a:endParaRPr lang="en-US" altLang="zh-CN" sz="2800" smtClean="0"/>
          </a:p>
          <a:p>
            <a:pPr eaLnBrk="1" hangingPunct="1"/>
            <a:endParaRPr lang="en-US" altLang="zh-CN" sz="2800" smtClean="0"/>
          </a:p>
          <a:p>
            <a:pPr eaLnBrk="1" hangingPunct="1"/>
            <a:endParaRPr lang="en-US" altLang="zh-CN" sz="2800" smtClean="0"/>
          </a:p>
          <a:p>
            <a:pPr eaLnBrk="1" hangingPunct="1"/>
            <a:endParaRPr lang="en-US" altLang="zh-CN" sz="2800" smtClean="0"/>
          </a:p>
          <a:p>
            <a:pPr eaLnBrk="1" hangingPunct="1"/>
            <a:endParaRPr lang="en-US" altLang="zh-CN" sz="2800" smtClean="0"/>
          </a:p>
        </p:txBody>
      </p:sp>
      <p:sp>
        <p:nvSpPr>
          <p:cNvPr id="4608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46085" name="Object 4"/>
          <p:cNvGraphicFramePr>
            <a:graphicFrameLocks noChangeAspect="1"/>
          </p:cNvGraphicFramePr>
          <p:nvPr/>
        </p:nvGraphicFramePr>
        <p:xfrm>
          <a:off x="395288" y="2781300"/>
          <a:ext cx="6048375" cy="3024188"/>
        </p:xfrm>
        <a:graphic>
          <a:graphicData uri="http://schemas.openxmlformats.org/presentationml/2006/ole">
            <mc:AlternateContent xmlns:mc="http://schemas.openxmlformats.org/markup-compatibility/2006">
              <mc:Choice xmlns:v="urn:schemas-microsoft-com:vml" Requires="v">
                <p:oleObj spid="_x0000_s392341" name="BMP 图像" r:id="rId3" imgW="4123810" imgH="2057143" progId="Paint.Picture">
                  <p:embed/>
                </p:oleObj>
              </mc:Choice>
              <mc:Fallback>
                <p:oleObj name="BMP 图像" r:id="rId3" imgW="4123810" imgH="2057143"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2781300"/>
                        <a:ext cx="6048375" cy="302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086" name="Rectangle 8"/>
          <p:cNvSpPr>
            <a:spLocks noChangeArrowheads="1"/>
          </p:cNvSpPr>
          <p:nvPr/>
        </p:nvSpPr>
        <p:spPr bwMode="auto">
          <a:xfrm>
            <a:off x="3117850" y="5851525"/>
            <a:ext cx="60261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dirty="0">
                <a:solidFill>
                  <a:srgbClr val="C00000"/>
                </a:solidFill>
                <a:ea typeface="隶书" pitchFamily="49" charset="-122"/>
              </a:rPr>
              <a:t>该系统在运行时，无论何种干扰引起水位出现偏差，</a:t>
            </a:r>
          </a:p>
          <a:p>
            <a:r>
              <a:rPr lang="zh-CN" altLang="en-US" sz="2000" dirty="0">
                <a:solidFill>
                  <a:srgbClr val="C00000"/>
                </a:solidFill>
                <a:ea typeface="隶书" pitchFamily="49" charset="-122"/>
              </a:rPr>
              <a:t>系统就要进行调节，最终总是使实际水位等于期望</a:t>
            </a:r>
          </a:p>
          <a:p>
            <a:r>
              <a:rPr lang="zh-CN" altLang="en-US" sz="2000" dirty="0">
                <a:solidFill>
                  <a:srgbClr val="C00000"/>
                </a:solidFill>
                <a:ea typeface="隶书" pitchFamily="49" charset="-122"/>
              </a:rPr>
              <a:t>值，大大提高了控制精度。</a:t>
            </a:r>
          </a:p>
        </p:txBody>
      </p:sp>
      <p:graphicFrame>
        <p:nvGraphicFramePr>
          <p:cNvPr id="46087" name="Object 9"/>
          <p:cNvGraphicFramePr>
            <a:graphicFrameLocks noGrp="1" noChangeAspect="1"/>
          </p:cNvGraphicFramePr>
          <p:nvPr>
            <p:ph sz="half" idx="2"/>
          </p:nvPr>
        </p:nvGraphicFramePr>
        <p:xfrm>
          <a:off x="6083300" y="2636838"/>
          <a:ext cx="3097213" cy="1333500"/>
        </p:xfrm>
        <a:graphic>
          <a:graphicData uri="http://schemas.openxmlformats.org/presentationml/2006/ole">
            <mc:AlternateContent xmlns:mc="http://schemas.openxmlformats.org/markup-compatibility/2006">
              <mc:Choice xmlns:v="urn:schemas-microsoft-com:vml" Requires="v">
                <p:oleObj spid="_x0000_s392342" name="Equation" r:id="rId5" imgW="2743200" imgH="1181100" progId="Equation.DSMT4">
                  <p:embed/>
                </p:oleObj>
              </mc:Choice>
              <mc:Fallback>
                <p:oleObj name="Equation" r:id="rId5" imgW="2743200" imgH="11811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83300" y="2636838"/>
                        <a:ext cx="3097213" cy="1333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088" name="对象 1"/>
          <p:cNvGraphicFramePr>
            <a:graphicFrameLocks noChangeAspect="1"/>
          </p:cNvGraphicFramePr>
          <p:nvPr/>
        </p:nvGraphicFramePr>
        <p:xfrm>
          <a:off x="971550" y="0"/>
          <a:ext cx="6481763" cy="2636838"/>
        </p:xfrm>
        <a:graphic>
          <a:graphicData uri="http://schemas.openxmlformats.org/presentationml/2006/ole">
            <mc:AlternateContent xmlns:mc="http://schemas.openxmlformats.org/markup-compatibility/2006">
              <mc:Choice xmlns:v="urn:schemas-microsoft-com:vml" Requires="v">
                <p:oleObj spid="_x0000_s392343" name="BMP 图像" r:id="rId7" imgW="0" imgH="0" progId="Paint.Picture">
                  <p:embed/>
                </p:oleObj>
              </mc:Choice>
              <mc:Fallback>
                <p:oleObj name="BMP 图像" r:id="rId7" imgW="0" imgH="0" progId="Paint.Picture">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1550" y="0"/>
                        <a:ext cx="6481763" cy="263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14343189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8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8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0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rrowheads="1"/>
          </p:cNvSpPr>
          <p:nvPr>
            <p:ph type="title"/>
          </p:nvPr>
        </p:nvSpPr>
        <p:spPr/>
        <p:txBody>
          <a:bodyPr/>
          <a:lstStyle/>
          <a:p>
            <a:pPr eaLnBrk="1" hangingPunct="1"/>
            <a:endParaRPr lang="zh-CN" altLang="zh-CN" smtClean="0"/>
          </a:p>
        </p:txBody>
      </p:sp>
      <p:sp>
        <p:nvSpPr>
          <p:cNvPr id="47107" name="Rectangle 3"/>
          <p:cNvSpPr>
            <a:spLocks noGrp="1" noRot="1" noChangeArrowheads="1"/>
          </p:cNvSpPr>
          <p:nvPr>
            <p:ph type="body" idx="1"/>
          </p:nvPr>
        </p:nvSpPr>
        <p:spPr>
          <a:xfrm>
            <a:off x="0" y="1772816"/>
            <a:ext cx="8964613" cy="5334000"/>
          </a:xfrm>
        </p:spPr>
        <p:txBody>
          <a:bodyPr/>
          <a:lstStyle/>
          <a:p>
            <a:pPr eaLnBrk="1" hangingPunct="1">
              <a:lnSpc>
                <a:spcPct val="90000"/>
              </a:lnSpc>
            </a:pPr>
            <a:r>
              <a:rPr lang="zh-CN" altLang="en-US" sz="2800" dirty="0" smtClean="0">
                <a:solidFill>
                  <a:srgbClr val="000000"/>
                </a:solidFill>
                <a:latin typeface="隶书" pitchFamily="49" charset="-122"/>
                <a:ea typeface="隶书" pitchFamily="49" charset="-122"/>
              </a:rPr>
              <a:t>浮子相当于人的眼睛，对实际水位进行测量；</a:t>
            </a:r>
          </a:p>
          <a:p>
            <a:pPr eaLnBrk="1" hangingPunct="1">
              <a:lnSpc>
                <a:spcPct val="90000"/>
              </a:lnSpc>
            </a:pPr>
            <a:r>
              <a:rPr lang="zh-CN" altLang="en-US" sz="2800" dirty="0" smtClean="0">
                <a:solidFill>
                  <a:srgbClr val="000000"/>
                </a:solidFill>
                <a:latin typeface="隶书" pitchFamily="49" charset="-122"/>
                <a:ea typeface="隶书" pitchFamily="49" charset="-122"/>
              </a:rPr>
              <a:t>连杆和电位器类似于大脑，完成比较运算，给出偏差的大小和极性；</a:t>
            </a:r>
          </a:p>
          <a:p>
            <a:pPr eaLnBrk="1" hangingPunct="1">
              <a:lnSpc>
                <a:spcPct val="90000"/>
              </a:lnSpc>
            </a:pPr>
            <a:r>
              <a:rPr lang="zh-CN" altLang="en-US" sz="2800" dirty="0" smtClean="0">
                <a:solidFill>
                  <a:srgbClr val="000000"/>
                </a:solidFill>
                <a:latin typeface="隶书" pitchFamily="49" charset="-122"/>
                <a:ea typeface="隶书" pitchFamily="49" charset="-122"/>
              </a:rPr>
              <a:t>电动机相当于人手，调节阀门开度，对水位实施控制。</a:t>
            </a:r>
          </a:p>
          <a:p>
            <a:pPr eaLnBrk="1" hangingPunct="1">
              <a:lnSpc>
                <a:spcPct val="90000"/>
              </a:lnSpc>
            </a:pPr>
            <a:r>
              <a:rPr lang="zh-CN" altLang="en-US" sz="2800" dirty="0" smtClean="0">
                <a:solidFill>
                  <a:srgbClr val="000000"/>
                </a:solidFill>
                <a:latin typeface="隶书" pitchFamily="49" charset="-122"/>
                <a:ea typeface="隶书" pitchFamily="49" charset="-122"/>
              </a:rPr>
              <a:t>上述这些装置相互配合，承担着控制的职能，通常称之为控制器（或控制装置）。</a:t>
            </a:r>
          </a:p>
          <a:p>
            <a:pPr eaLnBrk="1" hangingPunct="1">
              <a:lnSpc>
                <a:spcPct val="90000"/>
              </a:lnSpc>
            </a:pPr>
            <a:r>
              <a:rPr lang="zh-CN" altLang="en-US" sz="2800" dirty="0" smtClean="0">
                <a:solidFill>
                  <a:srgbClr val="000000"/>
                </a:solidFill>
                <a:latin typeface="隶书" pitchFamily="49" charset="-122"/>
                <a:ea typeface="隶书" pitchFamily="49" charset="-122"/>
              </a:rPr>
              <a:t>任何一个控制系统，都是由</a:t>
            </a:r>
            <a:r>
              <a:rPr lang="zh-CN" altLang="en-US" sz="2800" dirty="0" smtClean="0">
                <a:solidFill>
                  <a:srgbClr val="FF0000"/>
                </a:solidFill>
                <a:latin typeface="隶书" pitchFamily="49" charset="-122"/>
                <a:ea typeface="隶书" pitchFamily="49" charset="-122"/>
              </a:rPr>
              <a:t>被控对象和控制器</a:t>
            </a:r>
            <a:r>
              <a:rPr lang="zh-CN" altLang="en-US" sz="2800" dirty="0" smtClean="0">
                <a:solidFill>
                  <a:srgbClr val="000000"/>
                </a:solidFill>
                <a:latin typeface="隶书" pitchFamily="49" charset="-122"/>
                <a:ea typeface="隶书" pitchFamily="49" charset="-122"/>
              </a:rPr>
              <a:t>两部分所组成的。</a:t>
            </a:r>
            <a:r>
              <a:rPr lang="zh-CN" altLang="en-US" sz="2800" dirty="0" smtClean="0"/>
              <a:t> </a:t>
            </a:r>
            <a:endParaRPr lang="zh-CN" altLang="en-US" sz="2800" dirty="0" smtClean="0">
              <a:solidFill>
                <a:srgbClr val="000000"/>
              </a:solidFill>
              <a:latin typeface="隶书" pitchFamily="49" charset="-122"/>
              <a:ea typeface="隶书" pitchFamily="49" charset="-122"/>
            </a:endParaRPr>
          </a:p>
          <a:p>
            <a:pPr eaLnBrk="1" hangingPunct="1">
              <a:lnSpc>
                <a:spcPct val="90000"/>
              </a:lnSpc>
            </a:pPr>
            <a:endParaRPr lang="en-US" altLang="zh-CN" sz="2800" dirty="0" smtClean="0"/>
          </a:p>
        </p:txBody>
      </p:sp>
    </p:spTree>
    <p:extLst>
      <p:ext uri="{BB962C8B-B14F-4D97-AF65-F5344CB8AC3E}">
        <p14:creationId xmlns:p14="http://schemas.microsoft.com/office/powerpoint/2010/main" val="160281775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710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71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rrowheads="1"/>
          </p:cNvSpPr>
          <p:nvPr>
            <p:ph type="title"/>
          </p:nvPr>
        </p:nvSpPr>
        <p:spPr>
          <a:xfrm>
            <a:off x="358775" y="1628800"/>
            <a:ext cx="8785225" cy="647700"/>
          </a:xfrm>
        </p:spPr>
        <p:txBody>
          <a:bodyPr/>
          <a:lstStyle/>
          <a:p>
            <a:pPr eaLnBrk="1" hangingPunct="1"/>
            <a:r>
              <a:rPr lang="zh-CN" altLang="en-US" dirty="0" smtClean="0">
                <a:ea typeface="华文新魏" pitchFamily="2" charset="-122"/>
              </a:rPr>
              <a:t>基本自动控制方式</a:t>
            </a:r>
          </a:p>
        </p:txBody>
      </p:sp>
      <p:sp>
        <p:nvSpPr>
          <p:cNvPr id="48131" name="Rectangle 3"/>
          <p:cNvSpPr>
            <a:spLocks noGrp="1" noRot="1" noChangeArrowheads="1"/>
          </p:cNvSpPr>
          <p:nvPr>
            <p:ph type="body" idx="1"/>
          </p:nvPr>
        </p:nvSpPr>
        <p:spPr>
          <a:xfrm>
            <a:off x="0" y="2132856"/>
            <a:ext cx="8964613" cy="5334000"/>
          </a:xfrm>
        </p:spPr>
        <p:txBody>
          <a:bodyPr/>
          <a:lstStyle/>
          <a:p>
            <a:pPr algn="ctr" eaLnBrk="1" hangingPunct="1"/>
            <a:r>
              <a:rPr lang="zh-CN" altLang="en-US" sz="3600" dirty="0" smtClean="0">
                <a:solidFill>
                  <a:schemeClr val="tx1"/>
                </a:solidFill>
                <a:ea typeface="隶书" pitchFamily="49" charset="-122"/>
              </a:rPr>
              <a:t>开环控制</a:t>
            </a:r>
          </a:p>
          <a:p>
            <a:pPr algn="ctr" eaLnBrk="1" hangingPunct="1"/>
            <a:r>
              <a:rPr lang="zh-CN" altLang="en-US" sz="3600" dirty="0" smtClean="0">
                <a:solidFill>
                  <a:schemeClr val="tx1"/>
                </a:solidFill>
                <a:ea typeface="隶书" pitchFamily="49" charset="-122"/>
              </a:rPr>
              <a:t>闭环控制</a:t>
            </a:r>
          </a:p>
          <a:p>
            <a:pPr algn="ctr" eaLnBrk="1" hangingPunct="1"/>
            <a:r>
              <a:rPr lang="zh-CN" altLang="en-US" sz="3600" dirty="0" smtClean="0">
                <a:solidFill>
                  <a:schemeClr val="tx1"/>
                </a:solidFill>
                <a:ea typeface="隶书" pitchFamily="49" charset="-122"/>
              </a:rPr>
              <a:t>复合控制</a:t>
            </a:r>
          </a:p>
        </p:txBody>
      </p:sp>
    </p:spTree>
    <p:extLst>
      <p:ext uri="{BB962C8B-B14F-4D97-AF65-F5344CB8AC3E}">
        <p14:creationId xmlns:p14="http://schemas.microsoft.com/office/powerpoint/2010/main" val="3399528230"/>
      </p:ext>
    </p:extLst>
  </p:cSld>
  <p:clrMapOvr>
    <a:masterClrMapping/>
  </p:clrMapOvr>
  <p:transition spd="slow"/>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Rot="1" noChangeArrowheads="1"/>
          </p:cNvSpPr>
          <p:nvPr>
            <p:ph type="body" idx="1"/>
          </p:nvPr>
        </p:nvSpPr>
        <p:spPr>
          <a:xfrm>
            <a:off x="257886" y="908720"/>
            <a:ext cx="8302625" cy="5765800"/>
          </a:xfrm>
        </p:spPr>
        <p:txBody>
          <a:bodyPr/>
          <a:lstStyle/>
          <a:p>
            <a:pPr eaLnBrk="1" hangingPunct="1"/>
            <a:r>
              <a:rPr lang="zh-CN" altLang="en-US" dirty="0" smtClean="0">
                <a:solidFill>
                  <a:srgbClr val="000000"/>
                </a:solidFill>
                <a:ea typeface="隶书" pitchFamily="49" charset="-122"/>
              </a:rPr>
              <a:t>二、</a:t>
            </a:r>
            <a:r>
              <a:rPr lang="zh-CN" altLang="en-US" sz="3600" dirty="0" smtClean="0">
                <a:solidFill>
                  <a:srgbClr val="000000"/>
                </a:solidFill>
                <a:ea typeface="隶书" pitchFamily="49" charset="-122"/>
              </a:rPr>
              <a:t>开环控制</a:t>
            </a:r>
          </a:p>
          <a:p>
            <a:pPr eaLnBrk="1" hangingPunct="1"/>
            <a:r>
              <a:rPr lang="zh-CN" altLang="en-US" sz="2800" dirty="0" smtClean="0">
                <a:solidFill>
                  <a:srgbClr val="000000"/>
                </a:solidFill>
                <a:ea typeface="隶书" pitchFamily="49" charset="-122"/>
              </a:rPr>
              <a:t>系统的控制输入不受输出影响的控制系统称开环控制系统。</a:t>
            </a:r>
          </a:p>
          <a:p>
            <a:pPr eaLnBrk="1" hangingPunct="1"/>
            <a:r>
              <a:rPr lang="zh-CN" altLang="en-US" sz="2800" dirty="0" smtClean="0">
                <a:solidFill>
                  <a:srgbClr val="000000"/>
                </a:solidFill>
                <a:ea typeface="隶书" pitchFamily="49" charset="-122"/>
              </a:rPr>
              <a:t>在开环控制系统中，输入端与输出端之间，只有信号的前向通道而不存在由输出端到输入端的反馈通路</a:t>
            </a:r>
            <a:r>
              <a:rPr lang="zh-CN" altLang="en-US" dirty="0" smtClean="0">
                <a:solidFill>
                  <a:srgbClr val="000000"/>
                </a:solidFill>
                <a:ea typeface="隶书" pitchFamily="49" charset="-122"/>
              </a:rPr>
              <a:t>。 </a:t>
            </a:r>
          </a:p>
          <a:p>
            <a:pPr eaLnBrk="1" hangingPunct="1"/>
            <a:r>
              <a:rPr lang="zh-CN" altLang="en-US" dirty="0" smtClean="0">
                <a:solidFill>
                  <a:srgbClr val="000000"/>
                </a:solidFill>
                <a:ea typeface="隶书" pitchFamily="49" charset="-122"/>
              </a:rPr>
              <a:t>            </a:t>
            </a:r>
          </a:p>
        </p:txBody>
      </p:sp>
      <p:pic>
        <p:nvPicPr>
          <p:cNvPr id="4915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799" y="3429000"/>
            <a:ext cx="5745931" cy="3010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87622705"/>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 calcmode="lin" valueType="num">
                                      <p:cBhvr additive="base">
                                        <p:cTn id="7" dur="500" fill="hold"/>
                                        <p:tgtEl>
                                          <p:spTgt spid="276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7651">
                                            <p:txEl>
                                              <p:pRg st="1" end="1"/>
                                            </p:txEl>
                                          </p:spTgt>
                                        </p:tgtEl>
                                        <p:attrNameLst>
                                          <p:attrName>style.visibility</p:attrName>
                                        </p:attrNameLst>
                                      </p:cBhvr>
                                      <p:to>
                                        <p:strVal val="visible"/>
                                      </p:to>
                                    </p:set>
                                    <p:anim calcmode="lin" valueType="num">
                                      <p:cBhvr additive="base">
                                        <p:cTn id="13" dur="500" fill="hold"/>
                                        <p:tgtEl>
                                          <p:spTgt spid="2765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6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7651">
                                            <p:txEl>
                                              <p:pRg st="2" end="2"/>
                                            </p:txEl>
                                          </p:spTgt>
                                        </p:tgtEl>
                                        <p:attrNameLst>
                                          <p:attrName>style.visibility</p:attrName>
                                        </p:attrNameLst>
                                      </p:cBhvr>
                                      <p:to>
                                        <p:strVal val="visible"/>
                                      </p:to>
                                    </p:set>
                                    <p:anim calcmode="lin" valueType="num">
                                      <p:cBhvr additive="base">
                                        <p:cTn id="19" dur="500" fill="hold"/>
                                        <p:tgtEl>
                                          <p:spTgt spid="2765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65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7651">
                                            <p:txEl>
                                              <p:pRg st="3" end="3"/>
                                            </p:txEl>
                                          </p:spTgt>
                                        </p:tgtEl>
                                        <p:attrNameLst>
                                          <p:attrName>style.visibility</p:attrName>
                                        </p:attrNameLst>
                                      </p:cBhvr>
                                      <p:to>
                                        <p:strVal val="visible"/>
                                      </p:to>
                                    </p:set>
                                    <p:anim calcmode="lin" valueType="num">
                                      <p:cBhvr additive="base">
                                        <p:cTn id="25" dur="500" fill="hold"/>
                                        <p:tgtEl>
                                          <p:spTgt spid="2765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765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rrowheads="1"/>
          </p:cNvSpPr>
          <p:nvPr>
            <p:ph type="title"/>
          </p:nvPr>
        </p:nvSpPr>
        <p:spPr/>
        <p:txBody>
          <a:bodyPr/>
          <a:lstStyle/>
          <a:p>
            <a:pPr eaLnBrk="1" hangingPunct="1"/>
            <a:endParaRPr lang="zh-CN" altLang="zh-CN" smtClean="0"/>
          </a:p>
        </p:txBody>
      </p:sp>
      <p:sp>
        <p:nvSpPr>
          <p:cNvPr id="50179" name="Rectangle 3"/>
          <p:cNvSpPr>
            <a:spLocks noGrp="1" noRot="1" noChangeArrowheads="1"/>
          </p:cNvSpPr>
          <p:nvPr>
            <p:ph type="body" idx="1"/>
          </p:nvPr>
        </p:nvSpPr>
        <p:spPr/>
        <p:txBody>
          <a:bodyPr/>
          <a:lstStyle/>
          <a:p>
            <a:pPr eaLnBrk="1" hangingPunct="1"/>
            <a:endParaRPr lang="zh-CN" altLang="zh-CN" dirty="0" smtClean="0"/>
          </a:p>
        </p:txBody>
      </p:sp>
      <p:sp>
        <p:nvSpPr>
          <p:cNvPr id="50180" name="Rectangle 4"/>
          <p:cNvSpPr>
            <a:spLocks noChangeArrowheads="1"/>
          </p:cNvSpPr>
          <p:nvPr/>
        </p:nvSpPr>
        <p:spPr bwMode="auto">
          <a:xfrm>
            <a:off x="1040773" y="3938792"/>
            <a:ext cx="6991016" cy="1007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nSpc>
                <a:spcPts val="1800"/>
              </a:lnSpc>
            </a:pPr>
            <a:r>
              <a:rPr lang="zh-CN" altLang="en-US" sz="2400" dirty="0">
                <a:solidFill>
                  <a:srgbClr val="000000"/>
                </a:solidFill>
                <a:latin typeface="Times New Roman" pitchFamily="18" charset="0"/>
                <a:ea typeface="隶书" pitchFamily="49" charset="-122"/>
                <a:cs typeface="Times New Roman" pitchFamily="18" charset="0"/>
              </a:rPr>
              <a:t>直流电动机是被控对象，</a:t>
            </a:r>
          </a:p>
          <a:p>
            <a:pPr>
              <a:lnSpc>
                <a:spcPts val="1800"/>
              </a:lnSpc>
            </a:pPr>
            <a:r>
              <a:rPr lang="zh-CN" altLang="en-US" sz="2400" dirty="0">
                <a:solidFill>
                  <a:srgbClr val="000000"/>
                </a:solidFill>
                <a:latin typeface="Times New Roman" pitchFamily="18" charset="0"/>
                <a:ea typeface="隶书" pitchFamily="49" charset="-122"/>
                <a:cs typeface="Times New Roman" pitchFamily="18" charset="0"/>
              </a:rPr>
              <a:t>电动机的转速</a:t>
            </a:r>
            <a:r>
              <a:rPr lang="zh-CN" altLang="en-US" sz="2400" dirty="0">
                <a:solidFill>
                  <a:srgbClr val="000000"/>
                </a:solidFill>
                <a:ea typeface="隶书" pitchFamily="49" charset="-122"/>
                <a:cs typeface="Times New Roman" pitchFamily="18" charset="0"/>
              </a:rPr>
              <a:t>是被控量，也称输出量或输出信号</a:t>
            </a:r>
            <a:r>
              <a:rPr lang="zh-CN" altLang="en-US" sz="2400" dirty="0" smtClean="0">
                <a:solidFill>
                  <a:srgbClr val="000000"/>
                </a:solidFill>
                <a:ea typeface="隶书" pitchFamily="49" charset="-122"/>
                <a:cs typeface="Times New Roman" pitchFamily="18" charset="0"/>
              </a:rPr>
              <a:t>。</a:t>
            </a:r>
            <a:endParaRPr lang="en-US" altLang="zh-CN" sz="2400" dirty="0" smtClean="0">
              <a:solidFill>
                <a:srgbClr val="000000"/>
              </a:solidFill>
              <a:ea typeface="隶书" pitchFamily="49" charset="-122"/>
              <a:cs typeface="Times New Roman" pitchFamily="18" charset="0"/>
            </a:endParaRPr>
          </a:p>
          <a:p>
            <a:pPr>
              <a:lnSpc>
                <a:spcPts val="1800"/>
              </a:lnSpc>
            </a:pPr>
            <a:r>
              <a:rPr lang="zh-CN" altLang="en-US" sz="2400" dirty="0" smtClean="0">
                <a:solidFill>
                  <a:srgbClr val="000000"/>
                </a:solidFill>
                <a:ea typeface="隶书" pitchFamily="49" charset="-122"/>
                <a:cs typeface="Times New Roman" pitchFamily="18" charset="0"/>
              </a:rPr>
              <a:t>把</a:t>
            </a:r>
            <a:r>
              <a:rPr lang="zh-CN" altLang="en-US" sz="2400" dirty="0">
                <a:solidFill>
                  <a:srgbClr val="000000"/>
                </a:solidFill>
                <a:ea typeface="隶书" pitchFamily="49" charset="-122"/>
                <a:cs typeface="Times New Roman" pitchFamily="18" charset="0"/>
              </a:rPr>
              <a:t>参考电压通常称为系统的给定量或输入量。</a:t>
            </a:r>
            <a:r>
              <a:rPr lang="zh-CN" altLang="en-US" dirty="0">
                <a:ea typeface="隶书" pitchFamily="49" charset="-122"/>
                <a:cs typeface="Times New Roman" pitchFamily="18" charset="0"/>
              </a:rPr>
              <a:t> </a:t>
            </a:r>
          </a:p>
        </p:txBody>
      </p:sp>
      <p:sp>
        <p:nvSpPr>
          <p:cNvPr id="50181" name="Rectangle 7"/>
          <p:cNvSpPr>
            <a:spLocks noChangeArrowheads="1"/>
          </p:cNvSpPr>
          <p:nvPr/>
        </p:nvSpPr>
        <p:spPr bwMode="auto">
          <a:xfrm>
            <a:off x="1014712" y="5085184"/>
            <a:ext cx="737371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00000"/>
              </a:lnSpc>
            </a:pPr>
            <a:r>
              <a:rPr lang="zh-CN" altLang="en-US" sz="3200" dirty="0">
                <a:solidFill>
                  <a:srgbClr val="D8049B"/>
                </a:solidFill>
                <a:latin typeface="隶书" pitchFamily="49" charset="-122"/>
                <a:ea typeface="隶书" pitchFamily="49" charset="-122"/>
              </a:rPr>
              <a:t>开环控制系统精度不高、适应性不强，其主要原因是缺少从系统输出到输入的反馈回路。</a:t>
            </a:r>
            <a:r>
              <a:rPr lang="zh-CN" altLang="en-US" sz="2400" dirty="0">
                <a:solidFill>
                  <a:srgbClr val="D8049B"/>
                </a:solidFill>
                <a:latin typeface="隶书" pitchFamily="49" charset="-122"/>
                <a:ea typeface="隶书" pitchFamily="49" charset="-122"/>
              </a:rPr>
              <a:t> </a:t>
            </a:r>
          </a:p>
        </p:txBody>
      </p:sp>
      <p:pic>
        <p:nvPicPr>
          <p:cNvPr id="50182"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332656"/>
            <a:ext cx="6408737" cy="335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3043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1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1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0" grpId="0"/>
      <p:bldP spid="5018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Rot="1" noChangeArrowheads="1"/>
          </p:cNvSpPr>
          <p:nvPr>
            <p:ph type="body" idx="1"/>
          </p:nvPr>
        </p:nvSpPr>
        <p:spPr>
          <a:xfrm>
            <a:off x="395536" y="1147763"/>
            <a:ext cx="8540750" cy="5549900"/>
          </a:xfrm>
        </p:spPr>
        <p:txBody>
          <a:bodyPr/>
          <a:lstStyle/>
          <a:p>
            <a:pPr eaLnBrk="1" hangingPunct="1"/>
            <a:r>
              <a:rPr lang="zh-CN" altLang="en-US" dirty="0" smtClean="0">
                <a:solidFill>
                  <a:srgbClr val="000000"/>
                </a:solidFill>
                <a:latin typeface="隶书" pitchFamily="49" charset="-122"/>
                <a:ea typeface="隶书" pitchFamily="49" charset="-122"/>
              </a:rPr>
              <a:t>三、闭环控制</a:t>
            </a:r>
          </a:p>
          <a:p>
            <a:pPr eaLnBrk="1" hangingPunct="1"/>
            <a:r>
              <a:rPr lang="zh-CN" altLang="en-US" dirty="0" smtClean="0">
                <a:solidFill>
                  <a:srgbClr val="000000"/>
                </a:solidFill>
                <a:latin typeface="隶书" pitchFamily="49" charset="-122"/>
                <a:ea typeface="隶书" pitchFamily="49" charset="-122"/>
              </a:rPr>
              <a:t>开环控制系统精度不高和适应性不强的主要原因是缺少从系统输出到输入的反馈回路。</a:t>
            </a:r>
          </a:p>
          <a:p>
            <a:pPr eaLnBrk="1" hangingPunct="1"/>
            <a:r>
              <a:rPr lang="zh-CN" altLang="en-US" dirty="0" smtClean="0">
                <a:solidFill>
                  <a:srgbClr val="000000"/>
                </a:solidFill>
                <a:latin typeface="隶书" pitchFamily="49" charset="-122"/>
                <a:ea typeface="隶书" pitchFamily="49" charset="-122"/>
              </a:rPr>
              <a:t>提高控制精度的途径：把输出量的信息反馈到输入端，通过比较输入值与输出值，产生</a:t>
            </a:r>
            <a:r>
              <a:rPr lang="zh-CN" altLang="en-US" dirty="0" smtClean="0">
                <a:solidFill>
                  <a:srgbClr val="FF0000"/>
                </a:solidFill>
                <a:latin typeface="隶书" pitchFamily="49" charset="-122"/>
                <a:ea typeface="隶书" pitchFamily="49" charset="-122"/>
              </a:rPr>
              <a:t>偏差</a:t>
            </a:r>
            <a:r>
              <a:rPr lang="zh-CN" altLang="en-US" dirty="0" smtClean="0">
                <a:solidFill>
                  <a:srgbClr val="000000"/>
                </a:solidFill>
                <a:latin typeface="隶书" pitchFamily="49" charset="-122"/>
                <a:ea typeface="隶书" pitchFamily="49" charset="-122"/>
              </a:rPr>
              <a:t>信号，该偏差信号以一定的控制规律产生控制作用，逐步减小以至</a:t>
            </a:r>
            <a:r>
              <a:rPr lang="zh-CN" altLang="en-US" dirty="0" smtClean="0">
                <a:solidFill>
                  <a:srgbClr val="FF0000"/>
                </a:solidFill>
                <a:latin typeface="隶书" pitchFamily="49" charset="-122"/>
                <a:ea typeface="隶书" pitchFamily="49" charset="-122"/>
              </a:rPr>
              <a:t>消除</a:t>
            </a:r>
            <a:r>
              <a:rPr lang="zh-CN" altLang="en-US" dirty="0" smtClean="0">
                <a:solidFill>
                  <a:srgbClr val="000000"/>
                </a:solidFill>
                <a:latin typeface="隶书" pitchFamily="49" charset="-122"/>
                <a:ea typeface="隶书" pitchFamily="49" charset="-122"/>
              </a:rPr>
              <a:t>这一</a:t>
            </a:r>
            <a:r>
              <a:rPr lang="zh-CN" altLang="en-US" dirty="0" smtClean="0">
                <a:solidFill>
                  <a:srgbClr val="FF0000"/>
                </a:solidFill>
                <a:latin typeface="隶书" pitchFamily="49" charset="-122"/>
                <a:ea typeface="隶书" pitchFamily="49" charset="-122"/>
              </a:rPr>
              <a:t>偏差</a:t>
            </a:r>
            <a:r>
              <a:rPr lang="zh-CN" altLang="en-US" dirty="0" smtClean="0">
                <a:solidFill>
                  <a:srgbClr val="000000"/>
                </a:solidFill>
                <a:latin typeface="隶书" pitchFamily="49" charset="-122"/>
                <a:ea typeface="隶书" pitchFamily="49" charset="-122"/>
              </a:rPr>
              <a:t>，从而实现所要求的控制性能。 </a:t>
            </a:r>
          </a:p>
        </p:txBody>
      </p:sp>
    </p:spTree>
    <p:extLst>
      <p:ext uri="{BB962C8B-B14F-4D97-AF65-F5344CB8AC3E}">
        <p14:creationId xmlns:p14="http://schemas.microsoft.com/office/powerpoint/2010/main" val="298170069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 calcmode="lin" valueType="num">
                                      <p:cBhvr additive="base">
                                        <p:cTn id="7" dur="500" fill="hold"/>
                                        <p:tgtEl>
                                          <p:spTgt spid="286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6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8675">
                                            <p:txEl>
                                              <p:pRg st="1" end="1"/>
                                            </p:txEl>
                                          </p:spTgt>
                                        </p:tgtEl>
                                        <p:attrNameLst>
                                          <p:attrName>style.visibility</p:attrName>
                                        </p:attrNameLst>
                                      </p:cBhvr>
                                      <p:to>
                                        <p:strVal val="visible"/>
                                      </p:to>
                                    </p:set>
                                    <p:anim calcmode="lin" valueType="num">
                                      <p:cBhvr additive="base">
                                        <p:cTn id="13" dur="500" fill="hold"/>
                                        <p:tgtEl>
                                          <p:spTgt spid="2867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86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8675">
                                            <p:txEl>
                                              <p:pRg st="2" end="2"/>
                                            </p:txEl>
                                          </p:spTgt>
                                        </p:tgtEl>
                                        <p:attrNameLst>
                                          <p:attrName>style.visibility</p:attrName>
                                        </p:attrNameLst>
                                      </p:cBhvr>
                                      <p:to>
                                        <p:strVal val="visible"/>
                                      </p:to>
                                    </p:set>
                                    <p:anim calcmode="lin" valueType="num">
                                      <p:cBhvr additive="base">
                                        <p:cTn id="19" dur="500" fill="hold"/>
                                        <p:tgtEl>
                                          <p:spTgt spid="2867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867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6"/>
          <p:cNvSpPr>
            <a:spLocks noGrp="1" noRot="1" noChangeArrowheads="1"/>
          </p:cNvSpPr>
          <p:nvPr>
            <p:ph type="title"/>
          </p:nvPr>
        </p:nvSpPr>
        <p:spPr/>
        <p:txBody>
          <a:bodyPr/>
          <a:lstStyle/>
          <a:p>
            <a:pPr eaLnBrk="1" hangingPunct="1"/>
            <a:endParaRPr lang="zh-CN" altLang="zh-CN" smtClean="0"/>
          </a:p>
        </p:txBody>
      </p:sp>
      <p:pic>
        <p:nvPicPr>
          <p:cNvPr id="5222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9" y="115888"/>
            <a:ext cx="5256832" cy="4814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8" name="Rectangle 10"/>
          <p:cNvSpPr>
            <a:spLocks noChangeArrowheads="1"/>
          </p:cNvSpPr>
          <p:nvPr/>
        </p:nvSpPr>
        <p:spPr bwMode="auto">
          <a:xfrm>
            <a:off x="1907704" y="4932778"/>
            <a:ext cx="6991016" cy="1532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nSpc>
                <a:spcPct val="100000"/>
              </a:lnSpc>
            </a:pPr>
            <a:r>
              <a:rPr lang="zh-CN" altLang="en-US" sz="2400" dirty="0">
                <a:solidFill>
                  <a:srgbClr val="000000"/>
                </a:solidFill>
                <a:latin typeface="Times New Roman" pitchFamily="18" charset="0"/>
                <a:ea typeface="隶书" pitchFamily="49" charset="-122"/>
                <a:cs typeface="Times New Roman" pitchFamily="18" charset="0"/>
              </a:rPr>
              <a:t>同开环控制，直流电动机是被控对象，</a:t>
            </a:r>
          </a:p>
          <a:p>
            <a:pPr>
              <a:lnSpc>
                <a:spcPct val="100000"/>
              </a:lnSpc>
            </a:pPr>
            <a:r>
              <a:rPr lang="zh-CN" altLang="en-US" sz="2400" dirty="0">
                <a:solidFill>
                  <a:srgbClr val="000000"/>
                </a:solidFill>
                <a:latin typeface="Times New Roman" pitchFamily="18" charset="0"/>
                <a:ea typeface="隶书" pitchFamily="49" charset="-122"/>
                <a:cs typeface="Times New Roman" pitchFamily="18" charset="0"/>
              </a:rPr>
              <a:t>电动机的转速</a:t>
            </a:r>
            <a:r>
              <a:rPr lang="zh-CN" altLang="en-US" sz="2400" dirty="0">
                <a:solidFill>
                  <a:srgbClr val="000000"/>
                </a:solidFill>
                <a:ea typeface="隶书" pitchFamily="49" charset="-122"/>
                <a:cs typeface="Times New Roman" pitchFamily="18" charset="0"/>
              </a:rPr>
              <a:t>是被控量，也称输出量或输出信号。</a:t>
            </a:r>
          </a:p>
          <a:p>
            <a:pPr>
              <a:lnSpc>
                <a:spcPct val="100000"/>
              </a:lnSpc>
            </a:pPr>
            <a:r>
              <a:rPr lang="zh-CN" altLang="en-US" sz="2400" dirty="0">
                <a:solidFill>
                  <a:srgbClr val="000000"/>
                </a:solidFill>
                <a:ea typeface="隶书" pitchFamily="49" charset="-122"/>
                <a:cs typeface="Times New Roman" pitchFamily="18" charset="0"/>
              </a:rPr>
              <a:t>把参考电压通常称为系统的给定量或输入量。</a:t>
            </a:r>
            <a:r>
              <a:rPr lang="zh-CN" altLang="en-US" dirty="0">
                <a:ea typeface="隶书" pitchFamily="49" charset="-122"/>
                <a:cs typeface="Times New Roman" pitchFamily="18" charset="0"/>
              </a:rPr>
              <a:t> </a:t>
            </a:r>
          </a:p>
        </p:txBody>
      </p:sp>
      <p:sp>
        <p:nvSpPr>
          <p:cNvPr id="2" name="TextBox 1"/>
          <p:cNvSpPr txBox="1"/>
          <p:nvPr/>
        </p:nvSpPr>
        <p:spPr>
          <a:xfrm>
            <a:off x="2339752" y="836712"/>
            <a:ext cx="216024" cy="781561"/>
          </a:xfrm>
          <a:prstGeom prst="rect">
            <a:avLst/>
          </a:prstGeom>
          <a:noFill/>
          <a:ln>
            <a:solidFill>
              <a:srgbClr val="FF0000"/>
            </a:solidFill>
          </a:ln>
        </p:spPr>
        <p:txBody>
          <a:bodyPr wrap="square" rtlCol="0">
            <a:spAutoFit/>
          </a:bodyPr>
          <a:lstStyle/>
          <a:p>
            <a:r>
              <a:rPr lang="zh-CN" altLang="en-US" dirty="0" smtClean="0">
                <a:solidFill>
                  <a:srgbClr val="FF0000"/>
                </a:solidFill>
                <a:sym typeface="Symbol"/>
              </a:rPr>
              <a:t></a:t>
            </a:r>
            <a:endParaRPr lang="zh-CN" altLang="en-US" dirty="0">
              <a:solidFill>
                <a:srgbClr val="FF0000"/>
              </a:solidFill>
            </a:endParaRPr>
          </a:p>
        </p:txBody>
      </p:sp>
    </p:spTree>
    <p:extLst>
      <p:ext uri="{BB962C8B-B14F-4D97-AF65-F5344CB8AC3E}">
        <p14:creationId xmlns:p14="http://schemas.microsoft.com/office/powerpoint/2010/main" val="27037402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2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8" grpId="0"/>
      <p:bldP spid="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rrowheads="1"/>
          </p:cNvSpPr>
          <p:nvPr>
            <p:ph type="title"/>
          </p:nvPr>
        </p:nvSpPr>
        <p:spPr/>
        <p:txBody>
          <a:bodyPr/>
          <a:lstStyle/>
          <a:p>
            <a:pPr eaLnBrk="1" hangingPunct="1"/>
            <a:endParaRPr lang="zh-CN" altLang="zh-CN" dirty="0" smtClean="0"/>
          </a:p>
        </p:txBody>
      </p:sp>
      <p:pic>
        <p:nvPicPr>
          <p:cNvPr id="50180" name="Picture 4"/>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611188" y="620713"/>
            <a:ext cx="3838575" cy="3514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0181" name="Rectangle 5"/>
          <p:cNvSpPr>
            <a:spLocks noChangeArrowheads="1"/>
          </p:cNvSpPr>
          <p:nvPr/>
        </p:nvSpPr>
        <p:spPr bwMode="auto">
          <a:xfrm>
            <a:off x="4572000" y="980728"/>
            <a:ext cx="4392934" cy="3613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00000"/>
              </a:lnSpc>
            </a:pPr>
            <a:r>
              <a:rPr lang="zh-CN" altLang="en-US" sz="3200" dirty="0">
                <a:solidFill>
                  <a:srgbClr val="FF0000"/>
                </a:solidFill>
                <a:latin typeface="隶书" pitchFamily="49" charset="-122"/>
                <a:ea typeface="隶书" pitchFamily="49" charset="-122"/>
              </a:rPr>
              <a:t>介绍几个术语：</a:t>
            </a:r>
          </a:p>
          <a:p>
            <a:pPr>
              <a:lnSpc>
                <a:spcPct val="100000"/>
              </a:lnSpc>
            </a:pPr>
            <a:r>
              <a:rPr lang="zh-CN" altLang="en-US" sz="2400" dirty="0">
                <a:solidFill>
                  <a:srgbClr val="000000"/>
                </a:solidFill>
                <a:latin typeface="隶书" pitchFamily="49" charset="-122"/>
                <a:ea typeface="隶书" pitchFamily="49" charset="-122"/>
              </a:rPr>
              <a:t>给定量（输入量）；</a:t>
            </a:r>
          </a:p>
          <a:p>
            <a:pPr>
              <a:lnSpc>
                <a:spcPct val="100000"/>
              </a:lnSpc>
            </a:pPr>
            <a:r>
              <a:rPr lang="zh-CN" altLang="en-US" sz="2400" dirty="0">
                <a:solidFill>
                  <a:srgbClr val="000000"/>
                </a:solidFill>
                <a:latin typeface="隶书" pitchFamily="49" charset="-122"/>
                <a:ea typeface="隶书" pitchFamily="49" charset="-122"/>
              </a:rPr>
              <a:t>输出量（被控量）；</a:t>
            </a:r>
          </a:p>
          <a:p>
            <a:pPr>
              <a:lnSpc>
                <a:spcPct val="100000"/>
              </a:lnSpc>
            </a:pPr>
            <a:r>
              <a:rPr lang="zh-CN" altLang="en-US" sz="2400" dirty="0">
                <a:solidFill>
                  <a:srgbClr val="000000"/>
                </a:solidFill>
                <a:latin typeface="隶书" pitchFamily="49" charset="-122"/>
                <a:ea typeface="隶书" pitchFamily="49" charset="-122"/>
              </a:rPr>
              <a:t>偏差；</a:t>
            </a:r>
          </a:p>
          <a:p>
            <a:pPr>
              <a:lnSpc>
                <a:spcPct val="100000"/>
              </a:lnSpc>
            </a:pPr>
            <a:r>
              <a:rPr lang="zh-CN" altLang="en-US" sz="2400" dirty="0">
                <a:solidFill>
                  <a:srgbClr val="000000"/>
                </a:solidFill>
                <a:latin typeface="隶书" pitchFamily="49" charset="-122"/>
                <a:ea typeface="隶书" pitchFamily="49" charset="-122"/>
              </a:rPr>
              <a:t>前向通道 </a:t>
            </a:r>
          </a:p>
          <a:p>
            <a:pPr>
              <a:lnSpc>
                <a:spcPct val="100000"/>
              </a:lnSpc>
            </a:pPr>
            <a:r>
              <a:rPr lang="zh-CN" altLang="en-US" sz="2400" dirty="0">
                <a:solidFill>
                  <a:srgbClr val="000000"/>
                </a:solidFill>
                <a:latin typeface="隶书" pitchFamily="49" charset="-122"/>
                <a:ea typeface="隶书" pitchFamily="49" charset="-122"/>
              </a:rPr>
              <a:t>反馈通道 </a:t>
            </a:r>
          </a:p>
          <a:p>
            <a:pPr>
              <a:lnSpc>
                <a:spcPct val="100000"/>
              </a:lnSpc>
            </a:pPr>
            <a:r>
              <a:rPr lang="zh-CN" altLang="en-US" sz="2400" dirty="0">
                <a:solidFill>
                  <a:srgbClr val="000000"/>
                </a:solidFill>
                <a:latin typeface="隶书" pitchFamily="49" charset="-122"/>
                <a:ea typeface="隶书" pitchFamily="49" charset="-122"/>
              </a:rPr>
              <a:t>方框图中用符号</a:t>
            </a:r>
            <a:r>
              <a:rPr lang="zh-CN" altLang="en-US" sz="2400" dirty="0">
                <a:solidFill>
                  <a:srgbClr val="000000"/>
                </a:solidFill>
                <a:ea typeface="隶书" pitchFamily="49" charset="-122"/>
              </a:rPr>
              <a:t>“</a:t>
            </a:r>
            <a:r>
              <a:rPr lang="zh-CN" altLang="en-US" sz="2400" dirty="0">
                <a:solidFill>
                  <a:srgbClr val="000000"/>
                </a:solidFill>
                <a:latin typeface="隶书" pitchFamily="49" charset="-122"/>
                <a:ea typeface="隶书" pitchFamily="49" charset="-122"/>
              </a:rPr>
              <a:t>   </a:t>
            </a:r>
            <a:r>
              <a:rPr lang="zh-CN" altLang="en-US" sz="2400" dirty="0">
                <a:solidFill>
                  <a:srgbClr val="000000"/>
                </a:solidFill>
                <a:ea typeface="隶书" pitchFamily="49" charset="-122"/>
              </a:rPr>
              <a:t>”</a:t>
            </a:r>
            <a:r>
              <a:rPr lang="zh-CN" altLang="en-US" sz="2400" dirty="0">
                <a:solidFill>
                  <a:srgbClr val="000000"/>
                </a:solidFill>
                <a:latin typeface="隶书" pitchFamily="49" charset="-122"/>
                <a:ea typeface="隶书" pitchFamily="49" charset="-122"/>
              </a:rPr>
              <a:t>表示比较环节 </a:t>
            </a:r>
          </a:p>
        </p:txBody>
      </p:sp>
      <p:sp>
        <p:nvSpPr>
          <p:cNvPr id="40965" name="AutoShape 6"/>
          <p:cNvSpPr>
            <a:spLocks noChangeArrowheads="1"/>
          </p:cNvSpPr>
          <p:nvPr/>
        </p:nvSpPr>
        <p:spPr bwMode="auto">
          <a:xfrm>
            <a:off x="7260432" y="3789040"/>
            <a:ext cx="143668" cy="259556"/>
          </a:xfrm>
          <a:prstGeom prst="flowChartSummingJunction">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83" name="Rectangle 7"/>
          <p:cNvSpPr>
            <a:spLocks noChangeArrowheads="1"/>
          </p:cNvSpPr>
          <p:nvPr/>
        </p:nvSpPr>
        <p:spPr bwMode="auto">
          <a:xfrm>
            <a:off x="0" y="4497854"/>
            <a:ext cx="442753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00000"/>
              </a:lnSpc>
            </a:pPr>
            <a:r>
              <a:rPr lang="zh-CN" altLang="en-US" sz="2400" dirty="0">
                <a:solidFill>
                  <a:srgbClr val="FF0000"/>
                </a:solidFill>
                <a:ea typeface="隶书" pitchFamily="49" charset="-122"/>
              </a:rPr>
              <a:t>在系统主反馈通道中，只有采用负反馈才能达到控制的目的。若采用正反馈，将使偏差越来越大，导致系统发散而无法工作。</a:t>
            </a:r>
          </a:p>
        </p:txBody>
      </p:sp>
      <p:sp>
        <p:nvSpPr>
          <p:cNvPr id="2" name="矩形 1"/>
          <p:cNvSpPr/>
          <p:nvPr/>
        </p:nvSpPr>
        <p:spPr>
          <a:xfrm>
            <a:off x="4644454" y="4860820"/>
            <a:ext cx="4320480" cy="1541961"/>
          </a:xfrm>
          <a:prstGeom prst="rect">
            <a:avLst/>
          </a:prstGeom>
        </p:spPr>
        <p:txBody>
          <a:bodyPr wrap="square">
            <a:spAutoFit/>
          </a:bodyPr>
          <a:lstStyle/>
          <a:p>
            <a:pPr>
              <a:lnSpc>
                <a:spcPts val="1800"/>
              </a:lnSpc>
            </a:pPr>
            <a:r>
              <a:rPr lang="zh-CN" altLang="en-US" sz="2400" dirty="0">
                <a:solidFill>
                  <a:schemeClr val="accent2"/>
                </a:solidFill>
                <a:latin typeface="隶书" pitchFamily="49" charset="-122"/>
                <a:ea typeface="隶书" pitchFamily="49" charset="-122"/>
              </a:rPr>
              <a:t>通过反馈回路使系统构成闭环，</a:t>
            </a:r>
          </a:p>
          <a:p>
            <a:pPr>
              <a:lnSpc>
                <a:spcPts val="1800"/>
              </a:lnSpc>
            </a:pPr>
            <a:r>
              <a:rPr lang="zh-CN" altLang="en-US" sz="2400" dirty="0">
                <a:solidFill>
                  <a:schemeClr val="accent2"/>
                </a:solidFill>
                <a:latin typeface="隶书" pitchFamily="49" charset="-122"/>
                <a:ea typeface="隶书" pitchFamily="49" charset="-122"/>
              </a:rPr>
              <a:t>并按偏差产生控制作用，用以</a:t>
            </a:r>
          </a:p>
          <a:p>
            <a:pPr>
              <a:lnSpc>
                <a:spcPts val="1800"/>
              </a:lnSpc>
            </a:pPr>
            <a:r>
              <a:rPr lang="zh-CN" altLang="en-US" sz="2400" dirty="0">
                <a:solidFill>
                  <a:schemeClr val="accent2"/>
                </a:solidFill>
                <a:latin typeface="隶书" pitchFamily="49" charset="-122"/>
                <a:ea typeface="隶书" pitchFamily="49" charset="-122"/>
              </a:rPr>
              <a:t>减小或消除偏差的控制系统，</a:t>
            </a:r>
          </a:p>
          <a:p>
            <a:pPr>
              <a:lnSpc>
                <a:spcPts val="1800"/>
              </a:lnSpc>
            </a:pPr>
            <a:r>
              <a:rPr lang="zh-CN" altLang="en-US" sz="2400" dirty="0">
                <a:solidFill>
                  <a:schemeClr val="accent2"/>
                </a:solidFill>
                <a:latin typeface="隶书" pitchFamily="49" charset="-122"/>
                <a:ea typeface="隶书" pitchFamily="49" charset="-122"/>
              </a:rPr>
              <a:t>称为闭环控制系统，或称反馈</a:t>
            </a:r>
          </a:p>
          <a:p>
            <a:pPr>
              <a:lnSpc>
                <a:spcPts val="1800"/>
              </a:lnSpc>
            </a:pPr>
            <a:r>
              <a:rPr lang="zh-CN" altLang="en-US" sz="2400" dirty="0">
                <a:solidFill>
                  <a:schemeClr val="accent2"/>
                </a:solidFill>
                <a:latin typeface="隶书" pitchFamily="49" charset="-122"/>
                <a:ea typeface="隶书" pitchFamily="49" charset="-122"/>
              </a:rPr>
              <a:t>控制系统  </a:t>
            </a:r>
          </a:p>
        </p:txBody>
      </p:sp>
    </p:spTree>
    <p:extLst>
      <p:ext uri="{BB962C8B-B14F-4D97-AF65-F5344CB8AC3E}">
        <p14:creationId xmlns:p14="http://schemas.microsoft.com/office/powerpoint/2010/main" val="4405721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0180"/>
                                        </p:tgtEl>
                                        <p:attrNameLst>
                                          <p:attrName>style.visibility</p:attrName>
                                        </p:attrNameLst>
                                      </p:cBhvr>
                                      <p:to>
                                        <p:strVal val="visible"/>
                                      </p:to>
                                    </p:set>
                                    <p:anim calcmode="lin" valueType="num">
                                      <p:cBhvr additive="base">
                                        <p:cTn id="7" dur="500" fill="hold"/>
                                        <p:tgtEl>
                                          <p:spTgt spid="50180"/>
                                        </p:tgtEl>
                                        <p:attrNameLst>
                                          <p:attrName>ppt_x</p:attrName>
                                        </p:attrNameLst>
                                      </p:cBhvr>
                                      <p:tavLst>
                                        <p:tav tm="0">
                                          <p:val>
                                            <p:strVal val="#ppt_x"/>
                                          </p:val>
                                        </p:tav>
                                        <p:tav tm="100000">
                                          <p:val>
                                            <p:strVal val="#ppt_x"/>
                                          </p:val>
                                        </p:tav>
                                      </p:tavLst>
                                    </p:anim>
                                    <p:anim calcmode="lin" valueType="num">
                                      <p:cBhvr additive="base">
                                        <p:cTn id="8" dur="500" fill="hold"/>
                                        <p:tgtEl>
                                          <p:spTgt spid="5018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50181"/>
                                        </p:tgtEl>
                                        <p:attrNameLst>
                                          <p:attrName>style.visibility</p:attrName>
                                        </p:attrNameLst>
                                      </p:cBhvr>
                                      <p:to>
                                        <p:strVal val="visible"/>
                                      </p:to>
                                    </p:set>
                                    <p:animEffect transition="in" filter="wipe(left)">
                                      <p:cBhvr>
                                        <p:cTn id="13" dur="500"/>
                                        <p:tgtEl>
                                          <p:spTgt spid="50181"/>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40965"/>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50183"/>
                                        </p:tgtEl>
                                        <p:attrNameLst>
                                          <p:attrName>style.visibility</p:attrName>
                                        </p:attrNameLst>
                                      </p:cBhvr>
                                      <p:to>
                                        <p:strVal val="visible"/>
                                      </p:to>
                                    </p:set>
                                    <p:animEffect transition="in" filter="wipe(up)">
                                      <p:cBhvr>
                                        <p:cTn id="24" dur="500"/>
                                        <p:tgtEl>
                                          <p:spTgt spid="50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1" grpId="0"/>
      <p:bldP spid="40965" grpId="0" animBg="1"/>
      <p:bldP spid="50183" grpId="0"/>
      <p:bldP spid="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rrowheads="1"/>
          </p:cNvSpPr>
          <p:nvPr>
            <p:ph type="title"/>
          </p:nvPr>
        </p:nvSpPr>
        <p:spPr/>
        <p:txBody>
          <a:bodyPr/>
          <a:lstStyle/>
          <a:p>
            <a:pPr eaLnBrk="1" hangingPunct="1"/>
            <a:endParaRPr lang="zh-CN" altLang="zh-CN" smtClean="0">
              <a:latin typeface="隶书" pitchFamily="49" charset="-122"/>
              <a:ea typeface="隶书" pitchFamily="49" charset="-122"/>
            </a:endParaRPr>
          </a:p>
        </p:txBody>
      </p:sp>
      <p:sp>
        <p:nvSpPr>
          <p:cNvPr id="54275" name="Rectangle 3"/>
          <p:cNvSpPr>
            <a:spLocks noGrp="1" noRot="1" noChangeArrowheads="1"/>
          </p:cNvSpPr>
          <p:nvPr>
            <p:ph type="body" idx="1"/>
          </p:nvPr>
        </p:nvSpPr>
        <p:spPr/>
        <p:txBody>
          <a:bodyPr/>
          <a:lstStyle/>
          <a:p>
            <a:pPr eaLnBrk="1" hangingPunct="1"/>
            <a:endParaRPr lang="zh-CN" altLang="zh-CN" smtClean="0"/>
          </a:p>
        </p:txBody>
      </p:sp>
      <p:pic>
        <p:nvPicPr>
          <p:cNvPr id="5"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8928" y="1268760"/>
            <a:ext cx="6862664" cy="4771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016900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ChangeArrowheads="1"/>
          </p:cNvSpPr>
          <p:nvPr/>
        </p:nvSpPr>
        <p:spPr bwMode="auto">
          <a:xfrm>
            <a:off x="0" y="1587500"/>
            <a:ext cx="9144000" cy="5270500"/>
          </a:xfrm>
          <a:prstGeom prst="rect">
            <a:avLst/>
          </a:prstGeom>
          <a:gradFill rotWithShape="0">
            <a:gsLst>
              <a:gs pos="0">
                <a:srgbClr val="000099"/>
              </a:gs>
              <a:gs pos="100000">
                <a:srgbClr val="000000"/>
              </a:gs>
            </a:gsLst>
            <a:path path="shape">
              <a:fillToRect l="50000" t="50000" r="50000" b="50000"/>
            </a:path>
          </a:gradFill>
          <a:ln>
            <a:noFill/>
          </a:ln>
          <a:effectLst>
            <a:outerShdw dist="45791" dir="2021404" algn="ctr" rotWithShape="0">
              <a:schemeClr val="bg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anchor="ctr"/>
          <a:lstStyle/>
          <a:p>
            <a:pPr algn="ctr"/>
            <a:endParaRPr kumimoji="1" lang="zh-CN" altLang="zh-CN" sz="9600">
              <a:ea typeface="华文新魏" pitchFamily="2" charset="-122"/>
            </a:endParaRPr>
          </a:p>
        </p:txBody>
      </p:sp>
      <p:sp>
        <p:nvSpPr>
          <p:cNvPr id="55299" name="Rectangle 3"/>
          <p:cNvSpPr>
            <a:spLocks noGrp="1" noRot="1" noChangeArrowheads="1"/>
          </p:cNvSpPr>
          <p:nvPr>
            <p:ph type="title"/>
          </p:nvPr>
        </p:nvSpPr>
        <p:spPr>
          <a:xfrm>
            <a:off x="50800" y="990600"/>
            <a:ext cx="4305300" cy="482600"/>
          </a:xfrm>
        </p:spPr>
        <p:txBody>
          <a:bodyPr/>
          <a:lstStyle/>
          <a:p>
            <a:pPr eaLnBrk="1" hangingPunct="1"/>
            <a:r>
              <a:rPr lang="zh-CN" altLang="en-US" sz="3200" smtClean="0">
                <a:solidFill>
                  <a:srgbClr val="000000"/>
                </a:solidFill>
                <a:ea typeface="隶书" pitchFamily="49" charset="-122"/>
              </a:rPr>
              <a:t>炉温控制系统方框图</a:t>
            </a:r>
          </a:p>
        </p:txBody>
      </p:sp>
      <p:graphicFrame>
        <p:nvGraphicFramePr>
          <p:cNvPr id="55300" name="Object 5"/>
          <p:cNvGraphicFramePr>
            <a:graphicFrameLocks noChangeAspect="1"/>
          </p:cNvGraphicFramePr>
          <p:nvPr/>
        </p:nvGraphicFramePr>
        <p:xfrm>
          <a:off x="7058025" y="3657600"/>
          <a:ext cx="1406525" cy="1255713"/>
        </p:xfrm>
        <a:graphic>
          <a:graphicData uri="http://schemas.openxmlformats.org/presentationml/2006/ole">
            <mc:AlternateContent xmlns:mc="http://schemas.openxmlformats.org/markup-compatibility/2006">
              <mc:Choice xmlns:v="urn:schemas-microsoft-com:vml" Requires="v">
                <p:oleObj spid="_x0000_s393708" name="BMP 图像" r:id="rId3" imgW="990738" imgH="885949" progId="Paint.Picture">
                  <p:embed/>
                </p:oleObj>
              </mc:Choice>
              <mc:Fallback>
                <p:oleObj name="BMP 图像" r:id="rId3" imgW="990738" imgH="885949" progId="Paint.Picture">
                  <p:embed/>
                  <p:pic>
                    <p:nvPicPr>
                      <p:cNvPr id="0" name=""/>
                      <p:cNvPicPr>
                        <a:picLocks noChangeAspect="1" noChangeArrowheads="1"/>
                      </p:cNvPicPr>
                      <p:nvPr/>
                    </p:nvPicPr>
                    <p:blipFill>
                      <a:blip r:embed="rId4">
                        <a:clrChange>
                          <a:clrFrom>
                            <a:srgbClr val="0000FF"/>
                          </a:clrFrom>
                          <a:clrTo>
                            <a:srgbClr val="0000FF">
                              <a:alpha val="0"/>
                            </a:srgbClr>
                          </a:clrTo>
                        </a:clrChange>
                        <a:extLst>
                          <a:ext uri="{28A0092B-C50C-407E-A947-70E740481C1C}">
                            <a14:useLocalDpi xmlns:a14="http://schemas.microsoft.com/office/drawing/2010/main" val="0"/>
                          </a:ext>
                        </a:extLst>
                      </a:blip>
                      <a:srcRect/>
                      <a:stretch>
                        <a:fillRect/>
                      </a:stretch>
                    </p:blipFill>
                    <p:spPr bwMode="auto">
                      <a:xfrm>
                        <a:off x="7058025" y="3657600"/>
                        <a:ext cx="1406525" cy="1255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01" name="Object 6"/>
          <p:cNvGraphicFramePr>
            <a:graphicFrameLocks noChangeAspect="1"/>
          </p:cNvGraphicFramePr>
          <p:nvPr/>
        </p:nvGraphicFramePr>
        <p:xfrm>
          <a:off x="6019800" y="3657600"/>
          <a:ext cx="998538" cy="1230313"/>
        </p:xfrm>
        <a:graphic>
          <a:graphicData uri="http://schemas.openxmlformats.org/presentationml/2006/ole">
            <mc:AlternateContent xmlns:mc="http://schemas.openxmlformats.org/markup-compatibility/2006">
              <mc:Choice xmlns:v="urn:schemas-microsoft-com:vml" Requires="v">
                <p:oleObj spid="_x0000_s393709" name="BMP 图像" r:id="rId5" imgW="704948" imgH="866896" progId="Paint.Picture">
                  <p:embed/>
                </p:oleObj>
              </mc:Choice>
              <mc:Fallback>
                <p:oleObj name="BMP 图像" r:id="rId5" imgW="704948" imgH="866896" progId="Paint.Picture">
                  <p:embed/>
                  <p:pic>
                    <p:nvPicPr>
                      <p:cNvPr id="0" name=""/>
                      <p:cNvPicPr>
                        <a:picLocks noChangeAspect="1" noChangeArrowheads="1"/>
                      </p:cNvPicPr>
                      <p:nvPr/>
                    </p:nvPicPr>
                    <p:blipFill>
                      <a:blip r:embed="rId6">
                        <a:clrChange>
                          <a:clrFrom>
                            <a:srgbClr val="0000FF"/>
                          </a:clrFrom>
                          <a:clrTo>
                            <a:srgbClr val="0000FF">
                              <a:alpha val="0"/>
                            </a:srgbClr>
                          </a:clrTo>
                        </a:clrChange>
                        <a:extLst>
                          <a:ext uri="{28A0092B-C50C-407E-A947-70E740481C1C}">
                            <a14:useLocalDpi xmlns:a14="http://schemas.microsoft.com/office/drawing/2010/main" val="0"/>
                          </a:ext>
                        </a:extLst>
                      </a:blip>
                      <a:srcRect/>
                      <a:stretch>
                        <a:fillRect/>
                      </a:stretch>
                    </p:blipFill>
                    <p:spPr bwMode="auto">
                      <a:xfrm>
                        <a:off x="6019800" y="3657600"/>
                        <a:ext cx="998538" cy="1230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02" name="Object 7"/>
          <p:cNvGraphicFramePr>
            <a:graphicFrameLocks noChangeAspect="1"/>
          </p:cNvGraphicFramePr>
          <p:nvPr/>
        </p:nvGraphicFramePr>
        <p:xfrm>
          <a:off x="4953000" y="3581400"/>
          <a:ext cx="985838" cy="1284288"/>
        </p:xfrm>
        <a:graphic>
          <a:graphicData uri="http://schemas.openxmlformats.org/presentationml/2006/ole">
            <mc:AlternateContent xmlns:mc="http://schemas.openxmlformats.org/markup-compatibility/2006">
              <mc:Choice xmlns:v="urn:schemas-microsoft-com:vml" Requires="v">
                <p:oleObj spid="_x0000_s393710" name="BMP 图像" r:id="rId7" imgW="695238" imgH="905001" progId="Paint.Picture">
                  <p:embed/>
                </p:oleObj>
              </mc:Choice>
              <mc:Fallback>
                <p:oleObj name="BMP 图像" r:id="rId7" imgW="695238" imgH="905001" progId="Paint.Picture">
                  <p:embed/>
                  <p:pic>
                    <p:nvPicPr>
                      <p:cNvPr id="0" name=""/>
                      <p:cNvPicPr>
                        <a:picLocks noChangeAspect="1" noChangeArrowheads="1"/>
                      </p:cNvPicPr>
                      <p:nvPr/>
                    </p:nvPicPr>
                    <p:blipFill>
                      <a:blip r:embed="rId8">
                        <a:clrChange>
                          <a:clrFrom>
                            <a:srgbClr val="0000FF"/>
                          </a:clrFrom>
                          <a:clrTo>
                            <a:srgbClr val="0000FF">
                              <a:alpha val="0"/>
                            </a:srgbClr>
                          </a:clrTo>
                        </a:clrChange>
                        <a:extLst>
                          <a:ext uri="{28A0092B-C50C-407E-A947-70E740481C1C}">
                            <a14:useLocalDpi xmlns:a14="http://schemas.microsoft.com/office/drawing/2010/main" val="0"/>
                          </a:ext>
                        </a:extLst>
                      </a:blip>
                      <a:srcRect/>
                      <a:stretch>
                        <a:fillRect/>
                      </a:stretch>
                    </p:blipFill>
                    <p:spPr bwMode="auto">
                      <a:xfrm>
                        <a:off x="4953000" y="3581400"/>
                        <a:ext cx="985838" cy="1284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03" name="Object 8"/>
          <p:cNvGraphicFramePr>
            <a:graphicFrameLocks noChangeAspect="1"/>
          </p:cNvGraphicFramePr>
          <p:nvPr/>
        </p:nvGraphicFramePr>
        <p:xfrm>
          <a:off x="2667000" y="3657600"/>
          <a:ext cx="1000125" cy="1243013"/>
        </p:xfrm>
        <a:graphic>
          <a:graphicData uri="http://schemas.openxmlformats.org/presentationml/2006/ole">
            <mc:AlternateContent xmlns:mc="http://schemas.openxmlformats.org/markup-compatibility/2006">
              <mc:Choice xmlns:v="urn:schemas-microsoft-com:vml" Requires="v">
                <p:oleObj spid="_x0000_s393711" name="BMP 图像" r:id="rId9" imgW="704948" imgH="876190" progId="Paint.Picture">
                  <p:embed/>
                </p:oleObj>
              </mc:Choice>
              <mc:Fallback>
                <p:oleObj name="BMP 图像" r:id="rId9" imgW="704948" imgH="876190" progId="Paint.Picture">
                  <p:embed/>
                  <p:pic>
                    <p:nvPicPr>
                      <p:cNvPr id="0" name=""/>
                      <p:cNvPicPr>
                        <a:picLocks noChangeAspect="1" noChangeArrowheads="1"/>
                      </p:cNvPicPr>
                      <p:nvPr/>
                    </p:nvPicPr>
                    <p:blipFill>
                      <a:blip r:embed="rId10">
                        <a:clrChange>
                          <a:clrFrom>
                            <a:srgbClr val="0000FF"/>
                          </a:clrFrom>
                          <a:clrTo>
                            <a:srgbClr val="0000FF">
                              <a:alpha val="0"/>
                            </a:srgbClr>
                          </a:clrTo>
                        </a:clrChange>
                        <a:extLst>
                          <a:ext uri="{28A0092B-C50C-407E-A947-70E740481C1C}">
                            <a14:useLocalDpi xmlns:a14="http://schemas.microsoft.com/office/drawing/2010/main" val="0"/>
                          </a:ext>
                        </a:extLst>
                      </a:blip>
                      <a:srcRect/>
                      <a:stretch>
                        <a:fillRect/>
                      </a:stretch>
                    </p:blipFill>
                    <p:spPr bwMode="auto">
                      <a:xfrm>
                        <a:off x="2667000" y="3657600"/>
                        <a:ext cx="1000125" cy="1243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04" name="Object 9"/>
          <p:cNvGraphicFramePr>
            <a:graphicFrameLocks noChangeAspect="1"/>
          </p:cNvGraphicFramePr>
          <p:nvPr/>
        </p:nvGraphicFramePr>
        <p:xfrm>
          <a:off x="1806575" y="4876800"/>
          <a:ext cx="2930525" cy="973138"/>
        </p:xfrm>
        <a:graphic>
          <a:graphicData uri="http://schemas.openxmlformats.org/presentationml/2006/ole">
            <mc:AlternateContent xmlns:mc="http://schemas.openxmlformats.org/markup-compatibility/2006">
              <mc:Choice xmlns:v="urn:schemas-microsoft-com:vml" Requires="v">
                <p:oleObj spid="_x0000_s393712" name="BMP 图像" r:id="rId11" imgW="1905266" imgH="685714" progId="Paint.Picture">
                  <p:embed/>
                </p:oleObj>
              </mc:Choice>
              <mc:Fallback>
                <p:oleObj name="BMP 图像" r:id="rId11" imgW="1905266" imgH="685714" progId="Paint.Picture">
                  <p:embed/>
                  <p:pic>
                    <p:nvPicPr>
                      <p:cNvPr id="0" name=""/>
                      <p:cNvPicPr>
                        <a:picLocks noChangeAspect="1" noChangeArrowheads="1"/>
                      </p:cNvPicPr>
                      <p:nvPr/>
                    </p:nvPicPr>
                    <p:blipFill>
                      <a:blip r:embed="rId12">
                        <a:clrChange>
                          <a:clrFrom>
                            <a:srgbClr val="0000FF"/>
                          </a:clrFrom>
                          <a:clrTo>
                            <a:srgbClr val="0000FF">
                              <a:alpha val="0"/>
                            </a:srgbClr>
                          </a:clrTo>
                        </a:clrChange>
                        <a:extLst>
                          <a:ext uri="{28A0092B-C50C-407E-A947-70E740481C1C}">
                            <a14:useLocalDpi xmlns:a14="http://schemas.microsoft.com/office/drawing/2010/main" val="0"/>
                          </a:ext>
                        </a:extLst>
                      </a:blip>
                      <a:srcRect/>
                      <a:stretch>
                        <a:fillRect/>
                      </a:stretch>
                    </p:blipFill>
                    <p:spPr bwMode="auto">
                      <a:xfrm>
                        <a:off x="1806575" y="4876800"/>
                        <a:ext cx="2930525" cy="973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05" name="Object 10"/>
          <p:cNvGraphicFramePr>
            <a:graphicFrameLocks noChangeAspect="1"/>
          </p:cNvGraphicFramePr>
          <p:nvPr/>
        </p:nvGraphicFramePr>
        <p:xfrm>
          <a:off x="4800600" y="4953000"/>
          <a:ext cx="1905000" cy="852488"/>
        </p:xfrm>
        <a:graphic>
          <a:graphicData uri="http://schemas.openxmlformats.org/presentationml/2006/ole">
            <mc:AlternateContent xmlns:mc="http://schemas.openxmlformats.org/markup-compatibility/2006">
              <mc:Choice xmlns:v="urn:schemas-microsoft-com:vml" Requires="v">
                <p:oleObj spid="_x0000_s393713" name="BMP 图像" r:id="rId13" imgW="1219370" imgH="600159" progId="Paint.Picture">
                  <p:embed/>
                </p:oleObj>
              </mc:Choice>
              <mc:Fallback>
                <p:oleObj name="BMP 图像" r:id="rId13" imgW="1219370" imgH="600159" progId="Paint.Picture">
                  <p:embed/>
                  <p:pic>
                    <p:nvPicPr>
                      <p:cNvPr id="0" name=""/>
                      <p:cNvPicPr>
                        <a:picLocks noChangeAspect="1" noChangeArrowheads="1"/>
                      </p:cNvPicPr>
                      <p:nvPr/>
                    </p:nvPicPr>
                    <p:blipFill>
                      <a:blip r:embed="rId14">
                        <a:clrChange>
                          <a:clrFrom>
                            <a:srgbClr val="0000FF"/>
                          </a:clrFrom>
                          <a:clrTo>
                            <a:srgbClr val="0000FF">
                              <a:alpha val="0"/>
                            </a:srgbClr>
                          </a:clrTo>
                        </a:clrChange>
                        <a:extLst>
                          <a:ext uri="{28A0092B-C50C-407E-A947-70E740481C1C}">
                            <a14:useLocalDpi xmlns:a14="http://schemas.microsoft.com/office/drawing/2010/main" val="0"/>
                          </a:ext>
                        </a:extLst>
                      </a:blip>
                      <a:srcRect/>
                      <a:stretch>
                        <a:fillRect/>
                      </a:stretch>
                    </p:blipFill>
                    <p:spPr bwMode="auto">
                      <a:xfrm>
                        <a:off x="4800600" y="4953000"/>
                        <a:ext cx="1905000" cy="852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06" name="Object 11"/>
          <p:cNvGraphicFramePr>
            <a:graphicFrameLocks noChangeAspect="1"/>
          </p:cNvGraphicFramePr>
          <p:nvPr/>
        </p:nvGraphicFramePr>
        <p:xfrm>
          <a:off x="6629400" y="4267200"/>
          <a:ext cx="1416050" cy="1295400"/>
        </p:xfrm>
        <a:graphic>
          <a:graphicData uri="http://schemas.openxmlformats.org/presentationml/2006/ole">
            <mc:AlternateContent xmlns:mc="http://schemas.openxmlformats.org/markup-compatibility/2006">
              <mc:Choice xmlns:v="urn:schemas-microsoft-com:vml" Requires="v">
                <p:oleObj spid="_x0000_s393714" name="BMP 图像" r:id="rId15" imgW="942857" imgH="952633" progId="Paint.Picture">
                  <p:embed/>
                </p:oleObj>
              </mc:Choice>
              <mc:Fallback>
                <p:oleObj name="BMP 图像" r:id="rId15" imgW="942857" imgH="952633" progId="Paint.Picture">
                  <p:embed/>
                  <p:pic>
                    <p:nvPicPr>
                      <p:cNvPr id="0" name=""/>
                      <p:cNvPicPr>
                        <a:picLocks noChangeAspect="1" noChangeArrowheads="1"/>
                      </p:cNvPicPr>
                      <p:nvPr/>
                    </p:nvPicPr>
                    <p:blipFill>
                      <a:blip r:embed="rId16">
                        <a:clrChange>
                          <a:clrFrom>
                            <a:srgbClr val="0000FF"/>
                          </a:clrFrom>
                          <a:clrTo>
                            <a:srgbClr val="0000FF">
                              <a:alpha val="0"/>
                            </a:srgbClr>
                          </a:clrTo>
                        </a:clrChange>
                        <a:extLst>
                          <a:ext uri="{28A0092B-C50C-407E-A947-70E740481C1C}">
                            <a14:useLocalDpi xmlns:a14="http://schemas.microsoft.com/office/drawing/2010/main" val="0"/>
                          </a:ext>
                        </a:extLst>
                      </a:blip>
                      <a:srcRect/>
                      <a:stretch>
                        <a:fillRect/>
                      </a:stretch>
                    </p:blipFill>
                    <p:spPr bwMode="auto">
                      <a:xfrm>
                        <a:off x="6629400" y="4267200"/>
                        <a:ext cx="141605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07" name="Object 12"/>
          <p:cNvGraphicFramePr>
            <a:graphicFrameLocks noChangeAspect="1"/>
          </p:cNvGraphicFramePr>
          <p:nvPr/>
        </p:nvGraphicFramePr>
        <p:xfrm>
          <a:off x="3810000" y="3581400"/>
          <a:ext cx="1009650" cy="1404938"/>
        </p:xfrm>
        <a:graphic>
          <a:graphicData uri="http://schemas.openxmlformats.org/presentationml/2006/ole">
            <mc:AlternateContent xmlns:mc="http://schemas.openxmlformats.org/markup-compatibility/2006">
              <mc:Choice xmlns:v="urn:schemas-microsoft-com:vml" Requires="v">
                <p:oleObj spid="_x0000_s393715" name="BMP 图像" r:id="rId17" imgW="704948" imgH="980952" progId="Paint.Picture">
                  <p:embed/>
                </p:oleObj>
              </mc:Choice>
              <mc:Fallback>
                <p:oleObj name="BMP 图像" r:id="rId17" imgW="704948" imgH="980952" progId="Paint.Picture">
                  <p:embed/>
                  <p:pic>
                    <p:nvPicPr>
                      <p:cNvPr id="0" name=""/>
                      <p:cNvPicPr>
                        <a:picLocks noChangeAspect="1" noChangeArrowheads="1"/>
                      </p:cNvPicPr>
                      <p:nvPr/>
                    </p:nvPicPr>
                    <p:blipFill>
                      <a:blip r:embed="rId18">
                        <a:clrChange>
                          <a:clrFrom>
                            <a:srgbClr val="0000FF"/>
                          </a:clrFrom>
                          <a:clrTo>
                            <a:srgbClr val="0000FF">
                              <a:alpha val="0"/>
                            </a:srgbClr>
                          </a:clrTo>
                        </a:clrChange>
                        <a:extLst>
                          <a:ext uri="{28A0092B-C50C-407E-A947-70E740481C1C}">
                            <a14:useLocalDpi xmlns:a14="http://schemas.microsoft.com/office/drawing/2010/main" val="0"/>
                          </a:ext>
                        </a:extLst>
                      </a:blip>
                      <a:srcRect/>
                      <a:stretch>
                        <a:fillRect/>
                      </a:stretch>
                    </p:blipFill>
                    <p:spPr bwMode="auto">
                      <a:xfrm>
                        <a:off x="3810000" y="3581400"/>
                        <a:ext cx="1009650" cy="1404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5308" name="Rectangle 13"/>
          <p:cNvSpPr>
            <a:spLocks noChangeArrowheads="1"/>
          </p:cNvSpPr>
          <p:nvPr/>
        </p:nvSpPr>
        <p:spPr bwMode="auto">
          <a:xfrm>
            <a:off x="2667000" y="5943600"/>
            <a:ext cx="42672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2800" b="1">
                <a:solidFill>
                  <a:srgbClr val="FFFF00"/>
                </a:solidFill>
                <a:latin typeface="Times New Roman" pitchFamily="18" charset="0"/>
                <a:ea typeface="黑体" pitchFamily="2" charset="-122"/>
              </a:rPr>
              <a:t>炉温控制系统方框图</a:t>
            </a:r>
          </a:p>
        </p:txBody>
      </p:sp>
      <p:graphicFrame>
        <p:nvGraphicFramePr>
          <p:cNvPr id="55309" name="Object 14"/>
          <p:cNvGraphicFramePr>
            <a:graphicFrameLocks noChangeAspect="1"/>
          </p:cNvGraphicFramePr>
          <p:nvPr/>
        </p:nvGraphicFramePr>
        <p:xfrm>
          <a:off x="533400" y="3581400"/>
          <a:ext cx="1295400" cy="1281113"/>
        </p:xfrm>
        <a:graphic>
          <a:graphicData uri="http://schemas.openxmlformats.org/presentationml/2006/ole">
            <mc:AlternateContent xmlns:mc="http://schemas.openxmlformats.org/markup-compatibility/2006">
              <mc:Choice xmlns:v="urn:schemas-microsoft-com:vml" Requires="v">
                <p:oleObj spid="_x0000_s393716" name="BMP 图像" r:id="rId19" imgW="866896" imgH="857143" progId="Paint.Picture">
                  <p:embed/>
                </p:oleObj>
              </mc:Choice>
              <mc:Fallback>
                <p:oleObj name="BMP 图像" r:id="rId19" imgW="866896" imgH="857143" progId="Paint.Picture">
                  <p:embed/>
                  <p:pic>
                    <p:nvPicPr>
                      <p:cNvPr id="0" name=""/>
                      <p:cNvPicPr>
                        <a:picLocks noChangeAspect="1" noChangeArrowheads="1"/>
                      </p:cNvPicPr>
                      <p:nvPr/>
                    </p:nvPicPr>
                    <p:blipFill>
                      <a:blip r:embed="rId20">
                        <a:clrChange>
                          <a:clrFrom>
                            <a:srgbClr val="0000FF"/>
                          </a:clrFrom>
                          <a:clrTo>
                            <a:srgbClr val="0000FF">
                              <a:alpha val="0"/>
                            </a:srgbClr>
                          </a:clrTo>
                        </a:clrChange>
                        <a:extLst>
                          <a:ext uri="{28A0092B-C50C-407E-A947-70E740481C1C}">
                            <a14:useLocalDpi xmlns:a14="http://schemas.microsoft.com/office/drawing/2010/main" val="0"/>
                          </a:ext>
                        </a:extLst>
                      </a:blip>
                      <a:srcRect/>
                      <a:stretch>
                        <a:fillRect/>
                      </a:stretch>
                    </p:blipFill>
                    <p:spPr bwMode="auto">
                      <a:xfrm>
                        <a:off x="533400" y="3581400"/>
                        <a:ext cx="1295400" cy="1281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10" name="Object 15"/>
          <p:cNvGraphicFramePr>
            <a:graphicFrameLocks noChangeAspect="1"/>
          </p:cNvGraphicFramePr>
          <p:nvPr/>
        </p:nvGraphicFramePr>
        <p:xfrm>
          <a:off x="1752600" y="3962400"/>
          <a:ext cx="838200" cy="990600"/>
        </p:xfrm>
        <a:graphic>
          <a:graphicData uri="http://schemas.openxmlformats.org/presentationml/2006/ole">
            <mc:AlternateContent xmlns:mc="http://schemas.openxmlformats.org/markup-compatibility/2006">
              <mc:Choice xmlns:v="urn:schemas-microsoft-com:vml" Requires="v">
                <p:oleObj spid="_x0000_s393717" name="BMP 图像" r:id="rId21" imgW="523810" imgH="647619" progId="Paint.Picture">
                  <p:embed/>
                </p:oleObj>
              </mc:Choice>
              <mc:Fallback>
                <p:oleObj name="BMP 图像" r:id="rId21" imgW="523810" imgH="647619" progId="Paint.Picture">
                  <p:embed/>
                  <p:pic>
                    <p:nvPicPr>
                      <p:cNvPr id="0" name=""/>
                      <p:cNvPicPr>
                        <a:picLocks noChangeAspect="1" noChangeArrowheads="1"/>
                      </p:cNvPicPr>
                      <p:nvPr/>
                    </p:nvPicPr>
                    <p:blipFill>
                      <a:blip r:embed="rId22">
                        <a:clrChange>
                          <a:clrFrom>
                            <a:srgbClr val="0000FF"/>
                          </a:clrFrom>
                          <a:clrTo>
                            <a:srgbClr val="0000FF">
                              <a:alpha val="0"/>
                            </a:srgbClr>
                          </a:clrTo>
                        </a:clrChange>
                        <a:extLst>
                          <a:ext uri="{28A0092B-C50C-407E-A947-70E740481C1C}">
                            <a14:useLocalDpi xmlns:a14="http://schemas.microsoft.com/office/drawing/2010/main" val="0"/>
                          </a:ext>
                        </a:extLst>
                      </a:blip>
                      <a:srcRect/>
                      <a:stretch>
                        <a:fillRect/>
                      </a:stretch>
                    </p:blipFill>
                    <p:spPr bwMode="auto">
                      <a:xfrm>
                        <a:off x="1752600" y="3962400"/>
                        <a:ext cx="8382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5312" name="Picture 15"/>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633913" y="592138"/>
            <a:ext cx="4081462" cy="2836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28767850"/>
      </p:ext>
    </p:extLst>
  </p:cSld>
  <p:clrMapOvr>
    <a:masterClrMapping/>
  </p:clrMapOvr>
  <p:transition spd="slow"/>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ChangeArrowheads="1"/>
          </p:cNvSpPr>
          <p:nvPr/>
        </p:nvSpPr>
        <p:spPr bwMode="auto">
          <a:xfrm>
            <a:off x="0" y="1587500"/>
            <a:ext cx="9144000" cy="5270500"/>
          </a:xfrm>
          <a:prstGeom prst="rect">
            <a:avLst/>
          </a:prstGeom>
          <a:noFill/>
          <a:ln>
            <a:noFill/>
          </a:ln>
          <a:effectLst>
            <a:outerShdw dist="45791" dir="2021404" algn="ctr" rotWithShape="0">
              <a:schemeClr val="bg2">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kumimoji="1" lang="zh-CN" altLang="zh-CN" sz="9600">
              <a:ea typeface="华文新魏" pitchFamily="2" charset="-122"/>
            </a:endParaRPr>
          </a:p>
        </p:txBody>
      </p:sp>
      <p:sp>
        <p:nvSpPr>
          <p:cNvPr id="56323" name="Rectangle 3"/>
          <p:cNvSpPr>
            <a:spLocks noGrp="1" noChangeArrowheads="1"/>
          </p:cNvSpPr>
          <p:nvPr>
            <p:ph type="title"/>
          </p:nvPr>
        </p:nvSpPr>
        <p:spPr>
          <a:xfrm>
            <a:off x="63500" y="939800"/>
            <a:ext cx="8991600" cy="609600"/>
          </a:xfrm>
        </p:spPr>
        <p:txBody>
          <a:bodyPr/>
          <a:lstStyle/>
          <a:p>
            <a:r>
              <a:rPr lang="zh-CN" altLang="en-US" sz="3200" smtClean="0">
                <a:solidFill>
                  <a:srgbClr val="000000"/>
                </a:solidFill>
                <a:latin typeface="隶书" pitchFamily="49" charset="-122"/>
                <a:ea typeface="隶书" pitchFamily="49" charset="-122"/>
              </a:rPr>
              <a:t>方框图中各符号的意义</a:t>
            </a:r>
          </a:p>
        </p:txBody>
      </p:sp>
      <p:sp>
        <p:nvSpPr>
          <p:cNvPr id="56324" name="AutoShape 4"/>
          <p:cNvSpPr>
            <a:spLocks/>
          </p:cNvSpPr>
          <p:nvPr/>
        </p:nvSpPr>
        <p:spPr bwMode="auto">
          <a:xfrm>
            <a:off x="2590800" y="2667000"/>
            <a:ext cx="396875" cy="1914525"/>
          </a:xfrm>
          <a:prstGeom prst="leftBrace">
            <a:avLst>
              <a:gd name="adj1" fmla="val 75040"/>
              <a:gd name="adj2" fmla="val 50000"/>
            </a:avLst>
          </a:prstGeom>
          <a:noFill/>
          <a:ln w="9525">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6325" name="Object 5"/>
          <p:cNvGraphicFramePr>
            <a:graphicFrameLocks noChangeAspect="1"/>
          </p:cNvGraphicFramePr>
          <p:nvPr/>
        </p:nvGraphicFramePr>
        <p:xfrm>
          <a:off x="3200400" y="2514600"/>
          <a:ext cx="588963" cy="2209800"/>
        </p:xfrm>
        <a:graphic>
          <a:graphicData uri="http://schemas.openxmlformats.org/presentationml/2006/ole">
            <mc:AlternateContent xmlns:mc="http://schemas.openxmlformats.org/markup-compatibility/2006">
              <mc:Choice xmlns:v="urn:schemas-microsoft-com:vml" Requires="v">
                <p:oleObj spid="_x0000_s394291" name="BMP 图像" r:id="rId3" imgW="561905" imgH="2000000" progId="Paint.Picture">
                  <p:embed/>
                </p:oleObj>
              </mc:Choice>
              <mc:Fallback>
                <p:oleObj name="BMP 图像" r:id="rId3" imgW="561905" imgH="2000000" progId="Paint.Picture">
                  <p:embed/>
                  <p:pic>
                    <p:nvPicPr>
                      <p:cNvPr id="0" name=""/>
                      <p:cNvPicPr>
                        <a:picLocks noChangeAspect="1" noChangeArrowheads="1"/>
                      </p:cNvPicPr>
                      <p:nvPr/>
                    </p:nvPicPr>
                    <p:blipFill>
                      <a:blip r:embed="rId4">
                        <a:clrChange>
                          <a:clrFrom>
                            <a:srgbClr val="0000FF"/>
                          </a:clrFrom>
                          <a:clrTo>
                            <a:srgbClr val="0000FF">
                              <a:alpha val="0"/>
                            </a:srgbClr>
                          </a:clrTo>
                        </a:clrChange>
                        <a:extLst>
                          <a:ext uri="{28A0092B-C50C-407E-A947-70E740481C1C}">
                            <a14:useLocalDpi xmlns:a14="http://schemas.microsoft.com/office/drawing/2010/main" val="0"/>
                          </a:ext>
                        </a:extLst>
                      </a:blip>
                      <a:srcRect/>
                      <a:stretch>
                        <a:fillRect/>
                      </a:stretch>
                    </p:blipFill>
                    <p:spPr bwMode="auto">
                      <a:xfrm>
                        <a:off x="3200400" y="2514600"/>
                        <a:ext cx="588963" cy="2209800"/>
                      </a:xfrm>
                      <a:prstGeom prst="rect">
                        <a:avLst/>
                      </a:prstGeom>
                      <a:gradFill rotWithShape="0">
                        <a:gsLst>
                          <a:gs pos="0">
                            <a:srgbClr val="000000"/>
                          </a:gs>
                          <a:gs pos="39999">
                            <a:srgbClr val="0A128C"/>
                          </a:gs>
                          <a:gs pos="70000">
                            <a:srgbClr val="181CC7"/>
                          </a:gs>
                          <a:gs pos="88000">
                            <a:srgbClr val="7005D4"/>
                          </a:gs>
                          <a:gs pos="100000">
                            <a:srgbClr val="8C3D91"/>
                          </a:gs>
                        </a:gsLst>
                        <a:lin ang="5400000"/>
                      </a:gra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6326" name="Rectangle 6"/>
          <p:cNvSpPr>
            <a:spLocks noChangeArrowheads="1"/>
          </p:cNvSpPr>
          <p:nvPr/>
        </p:nvSpPr>
        <p:spPr bwMode="auto">
          <a:xfrm>
            <a:off x="0" y="2527300"/>
            <a:ext cx="9144000" cy="2917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nSpc>
                <a:spcPct val="120000"/>
              </a:lnSpc>
            </a:pPr>
            <a:r>
              <a:rPr lang="en-US" altLang="zh-CN" sz="2400" dirty="0">
                <a:solidFill>
                  <a:srgbClr val="000000"/>
                </a:solidFill>
                <a:latin typeface="微软雅黑 Light" pitchFamily="34" charset="-122"/>
                <a:ea typeface="微软雅黑 Light" pitchFamily="34" charset="-122"/>
              </a:rPr>
              <a:t>                                               </a:t>
            </a:r>
            <a:r>
              <a:rPr lang="zh-CN" altLang="en-US" sz="2200" dirty="0">
                <a:solidFill>
                  <a:srgbClr val="000000"/>
                </a:solidFill>
                <a:latin typeface="微软雅黑 Light" pitchFamily="34" charset="-122"/>
                <a:ea typeface="微软雅黑 Light" pitchFamily="34" charset="-122"/>
              </a:rPr>
              <a:t>元部件  </a:t>
            </a:r>
          </a:p>
          <a:p>
            <a:pPr marL="342900" indent="-342900">
              <a:lnSpc>
                <a:spcPct val="120000"/>
              </a:lnSpc>
            </a:pPr>
            <a:r>
              <a:rPr lang="zh-CN" altLang="en-US" sz="2200" dirty="0">
                <a:solidFill>
                  <a:srgbClr val="000000"/>
                </a:solidFill>
                <a:latin typeface="微软雅黑 Light" pitchFamily="34" charset="-122"/>
                <a:ea typeface="微软雅黑 Light" pitchFamily="34" charset="-122"/>
              </a:rPr>
              <a:t>   方框（块）图                        </a:t>
            </a:r>
            <a:r>
              <a:rPr lang="zh-CN" altLang="en-US" sz="2200" dirty="0" smtClean="0">
                <a:solidFill>
                  <a:srgbClr val="000000"/>
                </a:solidFill>
                <a:latin typeface="微软雅黑 Light" pitchFamily="34" charset="-122"/>
                <a:ea typeface="微软雅黑 Light" pitchFamily="34" charset="-122"/>
              </a:rPr>
              <a:t>   信号</a:t>
            </a:r>
            <a:r>
              <a:rPr lang="zh-CN" altLang="en-US" sz="2200" dirty="0">
                <a:solidFill>
                  <a:srgbClr val="000000"/>
                </a:solidFill>
                <a:latin typeface="微软雅黑 Light" pitchFamily="34" charset="-122"/>
                <a:ea typeface="微软雅黑 Light" pitchFamily="34" charset="-122"/>
              </a:rPr>
              <a:t>（物理量）及传递方向</a:t>
            </a:r>
          </a:p>
          <a:p>
            <a:pPr marL="342900" indent="-342900">
              <a:lnSpc>
                <a:spcPct val="120000"/>
              </a:lnSpc>
            </a:pPr>
            <a:r>
              <a:rPr lang="zh-CN" altLang="en-US" sz="2200" dirty="0">
                <a:solidFill>
                  <a:srgbClr val="000000"/>
                </a:solidFill>
                <a:latin typeface="微软雅黑 Light" pitchFamily="34" charset="-122"/>
                <a:ea typeface="微软雅黑 Light" pitchFamily="34" charset="-122"/>
              </a:rPr>
              <a:t>      中的符号                            </a:t>
            </a:r>
            <a:r>
              <a:rPr lang="zh-CN" altLang="en-US" sz="2200" dirty="0" smtClean="0">
                <a:solidFill>
                  <a:srgbClr val="000000"/>
                </a:solidFill>
                <a:latin typeface="微软雅黑 Light" pitchFamily="34" charset="-122"/>
                <a:ea typeface="微软雅黑 Light" pitchFamily="34" charset="-122"/>
              </a:rPr>
              <a:t>   比较</a:t>
            </a:r>
            <a:r>
              <a:rPr lang="zh-CN" altLang="en-US" sz="2200" dirty="0">
                <a:solidFill>
                  <a:srgbClr val="000000"/>
                </a:solidFill>
                <a:latin typeface="微软雅黑 Light" pitchFamily="34" charset="-122"/>
                <a:ea typeface="微软雅黑 Light" pitchFamily="34" charset="-122"/>
              </a:rPr>
              <a:t>点</a:t>
            </a:r>
          </a:p>
          <a:p>
            <a:pPr marL="342900" indent="-342900">
              <a:lnSpc>
                <a:spcPct val="120000"/>
              </a:lnSpc>
            </a:pPr>
            <a:r>
              <a:rPr lang="zh-CN" altLang="en-US" sz="2200" dirty="0">
                <a:solidFill>
                  <a:srgbClr val="000000"/>
                </a:solidFill>
                <a:latin typeface="微软雅黑 Light" pitchFamily="34" charset="-122"/>
                <a:ea typeface="微软雅黑 Light" pitchFamily="34" charset="-122"/>
              </a:rPr>
              <a:t>                                   </a:t>
            </a:r>
            <a:r>
              <a:rPr lang="zh-CN" altLang="en-US" sz="2200" dirty="0" smtClean="0">
                <a:solidFill>
                  <a:srgbClr val="000000"/>
                </a:solidFill>
                <a:latin typeface="微软雅黑 Light" pitchFamily="34" charset="-122"/>
                <a:ea typeface="微软雅黑 Light" pitchFamily="34" charset="-122"/>
              </a:rPr>
              <a:t>               引出</a:t>
            </a:r>
            <a:r>
              <a:rPr lang="zh-CN" altLang="en-US" sz="2200" dirty="0">
                <a:solidFill>
                  <a:srgbClr val="000000"/>
                </a:solidFill>
                <a:latin typeface="微软雅黑 Light" pitchFamily="34" charset="-122"/>
                <a:ea typeface="微软雅黑 Light" pitchFamily="34" charset="-122"/>
              </a:rPr>
              <a:t>点</a:t>
            </a:r>
          </a:p>
          <a:p>
            <a:pPr marL="342900" indent="-342900">
              <a:lnSpc>
                <a:spcPct val="120000"/>
              </a:lnSpc>
            </a:pPr>
            <a:r>
              <a:rPr lang="zh-CN" altLang="en-US" sz="2200" dirty="0">
                <a:solidFill>
                  <a:srgbClr val="000000"/>
                </a:solidFill>
                <a:latin typeface="微软雅黑 Light" pitchFamily="34" charset="-122"/>
                <a:ea typeface="微软雅黑 Light" pitchFamily="34" charset="-122"/>
              </a:rPr>
              <a:t>                                      </a:t>
            </a:r>
            <a:r>
              <a:rPr lang="zh-CN" altLang="en-US" sz="2200" dirty="0" smtClean="0">
                <a:solidFill>
                  <a:srgbClr val="000000"/>
                </a:solidFill>
                <a:latin typeface="微软雅黑 Light" pitchFamily="34" charset="-122"/>
                <a:ea typeface="微软雅黑 Light" pitchFamily="34" charset="-122"/>
              </a:rPr>
              <a:t>            表示</a:t>
            </a:r>
            <a:r>
              <a:rPr lang="zh-CN" altLang="en-US" sz="2200" dirty="0">
                <a:solidFill>
                  <a:srgbClr val="000000"/>
                </a:solidFill>
                <a:latin typeface="微软雅黑 Light" pitchFamily="34" charset="-122"/>
                <a:ea typeface="微软雅黑 Light" pitchFamily="34" charset="-122"/>
              </a:rPr>
              <a:t>负反馈</a:t>
            </a:r>
          </a:p>
        </p:txBody>
      </p:sp>
    </p:spTree>
    <p:extLst>
      <p:ext uri="{BB962C8B-B14F-4D97-AF65-F5344CB8AC3E}">
        <p14:creationId xmlns:p14="http://schemas.microsoft.com/office/powerpoint/2010/main" val="135165491"/>
      </p:ext>
    </p:extLst>
  </p:cSld>
  <p:clrMapOvr>
    <a:masterClrMapping/>
  </p:clrMapOvr>
  <p:transition spd="slow"/>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rrowheads="1"/>
          </p:cNvSpPr>
          <p:nvPr>
            <p:ph type="title"/>
          </p:nvPr>
        </p:nvSpPr>
        <p:spPr/>
        <p:txBody>
          <a:bodyPr/>
          <a:lstStyle/>
          <a:p>
            <a:pPr eaLnBrk="1" hangingPunct="1"/>
            <a:endParaRPr lang="zh-CN" altLang="zh-CN" smtClean="0"/>
          </a:p>
        </p:txBody>
      </p:sp>
      <p:sp>
        <p:nvSpPr>
          <p:cNvPr id="57347" name="Rectangle 3"/>
          <p:cNvSpPr>
            <a:spLocks noGrp="1" noRot="1" noChangeArrowheads="1"/>
          </p:cNvSpPr>
          <p:nvPr>
            <p:ph type="body" idx="1"/>
          </p:nvPr>
        </p:nvSpPr>
        <p:spPr>
          <a:xfrm>
            <a:off x="395536" y="1772816"/>
            <a:ext cx="8540750" cy="4194175"/>
          </a:xfrm>
        </p:spPr>
        <p:txBody>
          <a:bodyPr/>
          <a:lstStyle/>
          <a:p>
            <a:pPr eaLnBrk="1" hangingPunct="1">
              <a:lnSpc>
                <a:spcPct val="80000"/>
              </a:lnSpc>
            </a:pPr>
            <a:r>
              <a:rPr lang="zh-CN" altLang="en-US" sz="2800" dirty="0" smtClean="0">
                <a:solidFill>
                  <a:srgbClr val="000000"/>
                </a:solidFill>
                <a:latin typeface="隶书" pitchFamily="49" charset="-122"/>
                <a:ea typeface="隶书" pitchFamily="49" charset="-122"/>
              </a:rPr>
              <a:t>闭环系统工作的本质机理（负反馈原理）是：</a:t>
            </a:r>
            <a:endParaRPr lang="zh-CN" altLang="en-US" sz="2000" dirty="0" smtClean="0">
              <a:solidFill>
                <a:srgbClr val="000000"/>
              </a:solidFill>
              <a:latin typeface="隶书" pitchFamily="49" charset="-122"/>
              <a:ea typeface="隶书" pitchFamily="49" charset="-122"/>
            </a:endParaRPr>
          </a:p>
          <a:p>
            <a:pPr algn="just" eaLnBrk="1" hangingPunct="1">
              <a:lnSpc>
                <a:spcPct val="120000"/>
              </a:lnSpc>
              <a:spcBef>
                <a:spcPct val="0"/>
              </a:spcBef>
              <a:buFont typeface="Wingdings" pitchFamily="2" charset="2"/>
              <a:buNone/>
            </a:pPr>
            <a:r>
              <a:rPr lang="zh-CN" altLang="en-US" sz="2000" dirty="0" smtClean="0">
                <a:solidFill>
                  <a:srgbClr val="000000"/>
                </a:solidFill>
                <a:latin typeface="隶书" pitchFamily="49" charset="-122"/>
                <a:ea typeface="隶书" pitchFamily="49" charset="-122"/>
              </a:rPr>
              <a:t>  </a:t>
            </a:r>
            <a:r>
              <a:rPr lang="zh-CN" altLang="en-US" sz="2400" dirty="0" smtClean="0">
                <a:solidFill>
                  <a:srgbClr val="000000"/>
                </a:solidFill>
                <a:latin typeface="隶书" pitchFamily="49" charset="-122"/>
                <a:ea typeface="隶书" pitchFamily="49" charset="-122"/>
              </a:rPr>
              <a:t>将系统的输出信号引回输入端，与输入信号相比较，利用所得的偏差信号进行控制，达到减小偏差、消除偏差的目的。</a:t>
            </a:r>
          </a:p>
          <a:p>
            <a:pPr algn="just" eaLnBrk="1" hangingPunct="1">
              <a:lnSpc>
                <a:spcPct val="130000"/>
              </a:lnSpc>
              <a:spcBef>
                <a:spcPct val="0"/>
              </a:spcBef>
              <a:buFont typeface="Wingdings" pitchFamily="2" charset="2"/>
              <a:buNone/>
            </a:pPr>
            <a:r>
              <a:rPr lang="zh-CN" altLang="en-US" sz="2400" dirty="0" smtClean="0">
                <a:solidFill>
                  <a:srgbClr val="66FF66"/>
                </a:solidFill>
                <a:ea typeface="华文新魏" pitchFamily="2" charset="-122"/>
              </a:rPr>
              <a:t>       </a:t>
            </a:r>
            <a:r>
              <a:rPr lang="en-US" altLang="zh-CN" sz="2400" dirty="0" smtClean="0">
                <a:solidFill>
                  <a:srgbClr val="FF0000"/>
                </a:solidFill>
                <a:ea typeface="华文新魏" pitchFamily="2" charset="-122"/>
              </a:rPr>
              <a:t>____ </a:t>
            </a:r>
            <a:r>
              <a:rPr lang="zh-CN" altLang="en-US" sz="2400" dirty="0" smtClean="0">
                <a:solidFill>
                  <a:srgbClr val="FF0000"/>
                </a:solidFill>
                <a:ea typeface="华文新魏" pitchFamily="2" charset="-122"/>
              </a:rPr>
              <a:t>构成闭环控制系统的核心</a:t>
            </a:r>
          </a:p>
          <a:p>
            <a:pPr algn="just" eaLnBrk="1" hangingPunct="1">
              <a:lnSpc>
                <a:spcPct val="130000"/>
              </a:lnSpc>
              <a:spcBef>
                <a:spcPct val="0"/>
              </a:spcBef>
              <a:buFont typeface="Wingdings" pitchFamily="2" charset="2"/>
              <a:buNone/>
            </a:pPr>
            <a:endParaRPr lang="zh-CN" altLang="en-US" sz="2400" dirty="0" smtClean="0">
              <a:solidFill>
                <a:srgbClr val="FF0000"/>
              </a:solidFill>
              <a:ea typeface="华文新魏" pitchFamily="2" charset="-122"/>
            </a:endParaRPr>
          </a:p>
          <a:p>
            <a:pPr algn="just" eaLnBrk="1" hangingPunct="1">
              <a:lnSpc>
                <a:spcPct val="120000"/>
              </a:lnSpc>
              <a:spcBef>
                <a:spcPct val="0"/>
              </a:spcBef>
              <a:buFont typeface="Wingdings" pitchFamily="2" charset="2"/>
              <a:buNone/>
            </a:pPr>
            <a:r>
              <a:rPr lang="zh-CN" altLang="en-US" sz="2800" dirty="0" smtClean="0">
                <a:solidFill>
                  <a:srgbClr val="000000"/>
                </a:solidFill>
                <a:latin typeface="隶书" pitchFamily="49" charset="-122"/>
                <a:ea typeface="隶书" pitchFamily="49" charset="-122"/>
              </a:rPr>
              <a:t>闭环</a:t>
            </a:r>
            <a:r>
              <a:rPr lang="en-US" altLang="zh-CN" sz="2800" dirty="0" smtClean="0">
                <a:solidFill>
                  <a:srgbClr val="000000"/>
                </a:solidFill>
                <a:latin typeface="隶书" pitchFamily="49" charset="-122"/>
                <a:ea typeface="隶书" pitchFamily="49" charset="-122"/>
              </a:rPr>
              <a:t>(</a:t>
            </a:r>
            <a:r>
              <a:rPr lang="zh-CN" altLang="en-US" sz="2800" dirty="0" smtClean="0">
                <a:solidFill>
                  <a:srgbClr val="000000"/>
                </a:solidFill>
                <a:latin typeface="隶书" pitchFamily="49" charset="-122"/>
                <a:ea typeface="隶书" pitchFamily="49" charset="-122"/>
              </a:rPr>
              <a:t>反馈</a:t>
            </a:r>
            <a:r>
              <a:rPr lang="en-US" altLang="zh-CN" sz="2800" dirty="0" smtClean="0">
                <a:solidFill>
                  <a:srgbClr val="000000"/>
                </a:solidFill>
                <a:latin typeface="隶书" pitchFamily="49" charset="-122"/>
                <a:ea typeface="隶书" pitchFamily="49" charset="-122"/>
              </a:rPr>
              <a:t>)</a:t>
            </a:r>
            <a:r>
              <a:rPr lang="zh-CN" altLang="en-US" sz="2800" dirty="0" smtClean="0">
                <a:solidFill>
                  <a:srgbClr val="000000"/>
                </a:solidFill>
                <a:latin typeface="隶书" pitchFamily="49" charset="-122"/>
                <a:ea typeface="隶书" pitchFamily="49" charset="-122"/>
              </a:rPr>
              <a:t>控制系统的特点：</a:t>
            </a:r>
          </a:p>
          <a:p>
            <a:pPr algn="just" eaLnBrk="1" hangingPunct="1">
              <a:lnSpc>
                <a:spcPct val="120000"/>
              </a:lnSpc>
              <a:spcBef>
                <a:spcPct val="0"/>
              </a:spcBef>
              <a:buFont typeface="Wingdings" pitchFamily="2" charset="2"/>
              <a:buNone/>
            </a:pPr>
            <a:r>
              <a:rPr lang="zh-CN" altLang="en-US" sz="1800" dirty="0" smtClean="0">
                <a:solidFill>
                  <a:srgbClr val="66FF66"/>
                </a:solidFill>
                <a:ea typeface="华文新魏" pitchFamily="2" charset="-122"/>
              </a:rPr>
              <a:t>        </a:t>
            </a:r>
            <a:r>
              <a:rPr lang="en-US" altLang="zh-CN" sz="2400" dirty="0" smtClean="0">
                <a:solidFill>
                  <a:srgbClr val="000000"/>
                </a:solidFill>
                <a:latin typeface="隶书" pitchFamily="49" charset="-122"/>
                <a:ea typeface="隶书" pitchFamily="49" charset="-122"/>
              </a:rPr>
              <a:t>(1)  </a:t>
            </a:r>
            <a:r>
              <a:rPr lang="zh-CN" altLang="en-US" sz="2400" dirty="0" smtClean="0">
                <a:solidFill>
                  <a:srgbClr val="000000"/>
                </a:solidFill>
                <a:latin typeface="隶书" pitchFamily="49" charset="-122"/>
                <a:ea typeface="隶书" pitchFamily="49" charset="-122"/>
              </a:rPr>
              <a:t>系统内部存在反馈，信号流动构成闭回路</a:t>
            </a:r>
          </a:p>
          <a:p>
            <a:pPr algn="just" eaLnBrk="1" hangingPunct="1">
              <a:lnSpc>
                <a:spcPct val="120000"/>
              </a:lnSpc>
              <a:spcBef>
                <a:spcPct val="0"/>
              </a:spcBef>
              <a:buFont typeface="Wingdings" pitchFamily="2" charset="2"/>
              <a:buNone/>
            </a:pPr>
            <a:r>
              <a:rPr lang="zh-CN" altLang="en-US" sz="2400" dirty="0" smtClean="0">
                <a:solidFill>
                  <a:srgbClr val="000000"/>
                </a:solidFill>
                <a:latin typeface="隶书" pitchFamily="49" charset="-122"/>
                <a:ea typeface="隶书" pitchFamily="49" charset="-122"/>
              </a:rPr>
              <a:t>   </a:t>
            </a:r>
            <a:r>
              <a:rPr lang="en-US" altLang="zh-CN" sz="2400" dirty="0" smtClean="0">
                <a:solidFill>
                  <a:srgbClr val="000000"/>
                </a:solidFill>
                <a:latin typeface="隶书" pitchFamily="49" charset="-122"/>
                <a:ea typeface="隶书" pitchFamily="49" charset="-122"/>
              </a:rPr>
              <a:t>(2)  </a:t>
            </a:r>
            <a:r>
              <a:rPr lang="zh-CN" altLang="en-US" sz="2400" dirty="0" smtClean="0">
                <a:solidFill>
                  <a:srgbClr val="000000"/>
                </a:solidFill>
                <a:latin typeface="隶书" pitchFamily="49" charset="-122"/>
                <a:ea typeface="隶书" pitchFamily="49" charset="-122"/>
              </a:rPr>
              <a:t>偏差起调节作用</a:t>
            </a:r>
          </a:p>
          <a:p>
            <a:pPr algn="just" eaLnBrk="1" hangingPunct="1">
              <a:lnSpc>
                <a:spcPct val="130000"/>
              </a:lnSpc>
              <a:spcBef>
                <a:spcPct val="0"/>
              </a:spcBef>
              <a:buFont typeface="Wingdings" pitchFamily="2" charset="2"/>
              <a:buNone/>
            </a:pPr>
            <a:endParaRPr lang="zh-CN" altLang="en-US" sz="2400" dirty="0" smtClean="0">
              <a:solidFill>
                <a:srgbClr val="000000"/>
              </a:solidFill>
              <a:latin typeface="隶书" pitchFamily="49" charset="-122"/>
              <a:ea typeface="隶书" pitchFamily="49" charset="-122"/>
            </a:endParaRPr>
          </a:p>
          <a:p>
            <a:pPr eaLnBrk="1" hangingPunct="1">
              <a:lnSpc>
                <a:spcPct val="80000"/>
              </a:lnSpc>
            </a:pPr>
            <a:endParaRPr lang="en-US" altLang="zh-CN" sz="2400" dirty="0" smtClean="0">
              <a:solidFill>
                <a:srgbClr val="000000"/>
              </a:solidFill>
              <a:latin typeface="隶书" pitchFamily="49" charset="-122"/>
              <a:ea typeface="隶书" pitchFamily="49" charset="-122"/>
            </a:endParaRPr>
          </a:p>
        </p:txBody>
      </p:sp>
    </p:spTree>
    <p:extLst>
      <p:ext uri="{BB962C8B-B14F-4D97-AF65-F5344CB8AC3E}">
        <p14:creationId xmlns:p14="http://schemas.microsoft.com/office/powerpoint/2010/main" val="125476175"/>
      </p:ext>
    </p:extLst>
  </p:cSld>
  <p:clrMapOvr>
    <a:masterClrMapping/>
  </p:clrMapOvr>
  <p:transition spd="slow"/>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Rot="1" noChangeArrowheads="1"/>
          </p:cNvSpPr>
          <p:nvPr>
            <p:ph type="body" idx="1"/>
          </p:nvPr>
        </p:nvSpPr>
        <p:spPr>
          <a:xfrm>
            <a:off x="251520" y="1124744"/>
            <a:ext cx="8540750" cy="5407025"/>
          </a:xfrm>
        </p:spPr>
        <p:txBody>
          <a:bodyPr/>
          <a:lstStyle/>
          <a:p>
            <a:pPr eaLnBrk="1" hangingPunct="1">
              <a:lnSpc>
                <a:spcPct val="80000"/>
              </a:lnSpc>
            </a:pPr>
            <a:r>
              <a:rPr lang="zh-CN" altLang="en-US" sz="2400" dirty="0" smtClean="0">
                <a:solidFill>
                  <a:srgbClr val="FF0000"/>
                </a:solidFill>
                <a:ea typeface="隶书" pitchFamily="49" charset="-122"/>
              </a:rPr>
              <a:t>四、开环控制系统与闭环控制系统的比较</a:t>
            </a:r>
          </a:p>
          <a:p>
            <a:pPr eaLnBrk="1" hangingPunct="1">
              <a:lnSpc>
                <a:spcPct val="80000"/>
              </a:lnSpc>
            </a:pPr>
            <a:r>
              <a:rPr lang="zh-CN" altLang="en-US" sz="2400" dirty="0" smtClean="0">
                <a:solidFill>
                  <a:srgbClr val="000000"/>
                </a:solidFill>
                <a:ea typeface="隶书" pitchFamily="49" charset="-122"/>
              </a:rPr>
              <a:t>开环控制系统：结构比较简单，成本较低。</a:t>
            </a:r>
            <a:endParaRPr lang="en-US" altLang="zh-CN" sz="2400" dirty="0" smtClean="0">
              <a:solidFill>
                <a:srgbClr val="000000"/>
              </a:solidFill>
              <a:ea typeface="隶书" pitchFamily="49" charset="-122"/>
            </a:endParaRPr>
          </a:p>
          <a:p>
            <a:pPr eaLnBrk="1" hangingPunct="1">
              <a:lnSpc>
                <a:spcPct val="80000"/>
              </a:lnSpc>
            </a:pPr>
            <a:r>
              <a:rPr lang="en-US" altLang="zh-CN" sz="2400" dirty="0" smtClean="0">
                <a:solidFill>
                  <a:srgbClr val="000000"/>
                </a:solidFill>
                <a:ea typeface="隶书" pitchFamily="49" charset="-122"/>
              </a:rPr>
              <a:t>      </a:t>
            </a:r>
            <a:r>
              <a:rPr lang="zh-CN" altLang="en-US" sz="2400" dirty="0" smtClean="0">
                <a:solidFill>
                  <a:srgbClr val="000000"/>
                </a:solidFill>
                <a:ea typeface="隶书" pitchFamily="49" charset="-122"/>
              </a:rPr>
              <a:t>缺点是控制精度不高，抑制干扰能力差，而且对系统参数变化比较敏感。</a:t>
            </a:r>
            <a:endParaRPr lang="en-US" altLang="zh-CN" sz="2400" dirty="0" smtClean="0">
              <a:solidFill>
                <a:srgbClr val="000000"/>
              </a:solidFill>
              <a:ea typeface="隶书" pitchFamily="49" charset="-122"/>
            </a:endParaRPr>
          </a:p>
          <a:p>
            <a:pPr eaLnBrk="1" hangingPunct="1">
              <a:lnSpc>
                <a:spcPct val="80000"/>
              </a:lnSpc>
            </a:pPr>
            <a:r>
              <a:rPr lang="en-US" altLang="zh-CN" sz="2400" dirty="0" smtClean="0">
                <a:solidFill>
                  <a:srgbClr val="000000"/>
                </a:solidFill>
                <a:ea typeface="隶书" pitchFamily="49" charset="-122"/>
              </a:rPr>
              <a:t>      </a:t>
            </a:r>
            <a:r>
              <a:rPr lang="zh-CN" altLang="en-US" sz="2400" dirty="0" smtClean="0">
                <a:solidFill>
                  <a:srgbClr val="000000"/>
                </a:solidFill>
                <a:ea typeface="隶书" pitchFamily="49" charset="-122"/>
              </a:rPr>
              <a:t>一般用于可以不考虑外界影响或精度要求不高的场合，如洗衣机、步进电机控制及水位调节等。</a:t>
            </a:r>
          </a:p>
          <a:p>
            <a:pPr eaLnBrk="1" hangingPunct="1">
              <a:lnSpc>
                <a:spcPct val="80000"/>
              </a:lnSpc>
            </a:pPr>
            <a:r>
              <a:rPr lang="zh-CN" altLang="en-US" sz="2400" dirty="0" smtClean="0">
                <a:solidFill>
                  <a:srgbClr val="000000"/>
                </a:solidFill>
                <a:ea typeface="隶书" pitchFamily="49" charset="-122"/>
              </a:rPr>
              <a:t>闭环控制系统：不论是输入信号的变化，或者干扰的影响，或者系统内部的变化，只要是被控量偏离了规定值，都会产生相应的作用去消除偏差。因此，闭环控制抑制干扰能力强，与开环控制相比，系统对参数变化不敏感，可以选用不太精密的元件构成较为精密的控制系统，获得满意的动态特性和控制精度。</a:t>
            </a:r>
          </a:p>
          <a:p>
            <a:pPr eaLnBrk="1" hangingPunct="1">
              <a:lnSpc>
                <a:spcPct val="80000"/>
              </a:lnSpc>
            </a:pPr>
            <a:r>
              <a:rPr lang="zh-CN" altLang="en-US" sz="2400" dirty="0" smtClean="0">
                <a:solidFill>
                  <a:srgbClr val="000000"/>
                </a:solidFill>
                <a:ea typeface="隶书" pitchFamily="49" charset="-122"/>
              </a:rPr>
              <a:t>但是采用反馈装置</a:t>
            </a:r>
            <a:r>
              <a:rPr lang="zh-CN" altLang="en-US" sz="2400" dirty="0" smtClean="0">
                <a:solidFill>
                  <a:srgbClr val="FF0000"/>
                </a:solidFill>
                <a:ea typeface="隶书" pitchFamily="49" charset="-122"/>
              </a:rPr>
              <a:t>需要添加元部件</a:t>
            </a:r>
            <a:r>
              <a:rPr lang="zh-CN" altLang="en-US" sz="2400" dirty="0" smtClean="0">
                <a:solidFill>
                  <a:srgbClr val="000000"/>
                </a:solidFill>
                <a:ea typeface="隶书" pitchFamily="49" charset="-122"/>
              </a:rPr>
              <a:t>，造价较高，同时也增加了系统的复杂性。如果系统的结构参数选取不适当，控制过程可能变得很差，甚至出现振荡或发散等不稳定的情况，因此，如何分析系统，合理选择系统的结构参数，从而获得满意的系统性能，是自动控制理论必须研究解决的问题。</a:t>
            </a:r>
          </a:p>
        </p:txBody>
      </p:sp>
    </p:spTree>
    <p:extLst>
      <p:ext uri="{BB962C8B-B14F-4D97-AF65-F5344CB8AC3E}">
        <p14:creationId xmlns:p14="http://schemas.microsoft.com/office/powerpoint/2010/main" val="83514502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 calcmode="lin" valueType="num">
                                      <p:cBhvr additive="base">
                                        <p:cTn id="7" dur="500" fill="hold"/>
                                        <p:tgtEl>
                                          <p:spTgt spid="389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9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8915">
                                            <p:txEl>
                                              <p:pRg st="1" end="1"/>
                                            </p:txEl>
                                          </p:spTgt>
                                        </p:tgtEl>
                                        <p:attrNameLst>
                                          <p:attrName>style.visibility</p:attrName>
                                        </p:attrNameLst>
                                      </p:cBhvr>
                                      <p:to>
                                        <p:strVal val="visible"/>
                                      </p:to>
                                    </p:set>
                                    <p:anim calcmode="lin" valueType="num">
                                      <p:cBhvr additive="base">
                                        <p:cTn id="13" dur="500" fill="hold"/>
                                        <p:tgtEl>
                                          <p:spTgt spid="389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89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8915">
                                            <p:txEl>
                                              <p:pRg st="2" end="2"/>
                                            </p:txEl>
                                          </p:spTgt>
                                        </p:tgtEl>
                                        <p:attrNameLst>
                                          <p:attrName>style.visibility</p:attrName>
                                        </p:attrNameLst>
                                      </p:cBhvr>
                                      <p:to>
                                        <p:strVal val="visible"/>
                                      </p:to>
                                    </p:set>
                                    <p:anim calcmode="lin" valueType="num">
                                      <p:cBhvr additive="base">
                                        <p:cTn id="19" dur="500" fill="hold"/>
                                        <p:tgtEl>
                                          <p:spTgt spid="389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89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8915">
                                            <p:txEl>
                                              <p:pRg st="3" end="3"/>
                                            </p:txEl>
                                          </p:spTgt>
                                        </p:tgtEl>
                                        <p:attrNameLst>
                                          <p:attrName>style.visibility</p:attrName>
                                        </p:attrNameLst>
                                      </p:cBhvr>
                                      <p:to>
                                        <p:strVal val="visible"/>
                                      </p:to>
                                    </p:set>
                                    <p:anim calcmode="lin" valueType="num">
                                      <p:cBhvr additive="base">
                                        <p:cTn id="25" dur="500" fill="hold"/>
                                        <p:tgtEl>
                                          <p:spTgt spid="3891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89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8915">
                                            <p:txEl>
                                              <p:pRg st="4" end="4"/>
                                            </p:txEl>
                                          </p:spTgt>
                                        </p:tgtEl>
                                        <p:attrNameLst>
                                          <p:attrName>style.visibility</p:attrName>
                                        </p:attrNameLst>
                                      </p:cBhvr>
                                      <p:to>
                                        <p:strVal val="visible"/>
                                      </p:to>
                                    </p:set>
                                    <p:anim calcmode="lin" valueType="num">
                                      <p:cBhvr additive="base">
                                        <p:cTn id="31" dur="500" fill="hold"/>
                                        <p:tgtEl>
                                          <p:spTgt spid="3891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89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8915">
                                            <p:txEl>
                                              <p:pRg st="5" end="5"/>
                                            </p:txEl>
                                          </p:spTgt>
                                        </p:tgtEl>
                                        <p:attrNameLst>
                                          <p:attrName>style.visibility</p:attrName>
                                        </p:attrNameLst>
                                      </p:cBhvr>
                                      <p:to>
                                        <p:strVal val="visible"/>
                                      </p:to>
                                    </p:set>
                                    <p:anim calcmode="lin" valueType="num">
                                      <p:cBhvr additive="base">
                                        <p:cTn id="37" dur="500" fill="hold"/>
                                        <p:tgtEl>
                                          <p:spTgt spid="3891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891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rrowheads="1"/>
          </p:cNvSpPr>
          <p:nvPr>
            <p:ph type="title"/>
          </p:nvPr>
        </p:nvSpPr>
        <p:spPr/>
        <p:txBody>
          <a:bodyPr/>
          <a:lstStyle/>
          <a:p>
            <a:pPr eaLnBrk="1" hangingPunct="1"/>
            <a:endParaRPr lang="zh-CN" altLang="zh-CN" smtClean="0"/>
          </a:p>
        </p:txBody>
      </p:sp>
      <p:sp>
        <p:nvSpPr>
          <p:cNvPr id="59395" name="Rectangle 3"/>
          <p:cNvSpPr>
            <a:spLocks noGrp="1" noRot="1" noChangeArrowheads="1"/>
          </p:cNvSpPr>
          <p:nvPr>
            <p:ph type="body" idx="1"/>
          </p:nvPr>
        </p:nvSpPr>
        <p:spPr>
          <a:xfrm>
            <a:off x="0" y="1772816"/>
            <a:ext cx="8964613" cy="5334000"/>
          </a:xfrm>
        </p:spPr>
        <p:txBody>
          <a:bodyPr/>
          <a:lstStyle/>
          <a:p>
            <a:pPr eaLnBrk="1" hangingPunct="1"/>
            <a:r>
              <a:rPr lang="zh-CN" altLang="en-US" sz="2800" dirty="0" smtClean="0">
                <a:solidFill>
                  <a:srgbClr val="000000"/>
                </a:solidFill>
                <a:latin typeface="隶书" pitchFamily="49" charset="-122"/>
                <a:ea typeface="隶书" pitchFamily="49" charset="-122"/>
              </a:rPr>
              <a:t>五、复合控制系统</a:t>
            </a:r>
          </a:p>
          <a:p>
            <a:pPr eaLnBrk="1" hangingPunct="1"/>
            <a:r>
              <a:rPr lang="zh-CN" altLang="en-US" sz="2800" dirty="0" smtClean="0">
                <a:solidFill>
                  <a:srgbClr val="000000"/>
                </a:solidFill>
                <a:latin typeface="隶书" pitchFamily="49" charset="-122"/>
                <a:ea typeface="隶书" pitchFamily="49" charset="-122"/>
              </a:rPr>
              <a:t>反馈控制只有在外部作用</a:t>
            </a:r>
            <a:r>
              <a:rPr lang="en-US" altLang="zh-CN" sz="2800" dirty="0" smtClean="0">
                <a:solidFill>
                  <a:srgbClr val="000000"/>
                </a:solidFill>
                <a:latin typeface="隶书" pitchFamily="49" charset="-122"/>
                <a:ea typeface="隶书" pitchFamily="49" charset="-122"/>
              </a:rPr>
              <a:t>(</a:t>
            </a:r>
            <a:r>
              <a:rPr lang="zh-CN" altLang="en-US" sz="2800" dirty="0" smtClean="0">
                <a:solidFill>
                  <a:srgbClr val="000000"/>
                </a:solidFill>
                <a:latin typeface="隶书" pitchFamily="49" charset="-122"/>
                <a:ea typeface="隶书" pitchFamily="49" charset="-122"/>
              </a:rPr>
              <a:t>输入信号或干扰</a:t>
            </a:r>
            <a:r>
              <a:rPr lang="en-US" altLang="zh-CN" sz="2800" dirty="0" smtClean="0">
                <a:solidFill>
                  <a:srgbClr val="000000"/>
                </a:solidFill>
                <a:latin typeface="隶书" pitchFamily="49" charset="-122"/>
                <a:ea typeface="隶书" pitchFamily="49" charset="-122"/>
              </a:rPr>
              <a:t>)</a:t>
            </a:r>
            <a:r>
              <a:rPr lang="zh-CN" altLang="en-US" sz="2800" dirty="0" smtClean="0">
                <a:solidFill>
                  <a:srgbClr val="000000"/>
                </a:solidFill>
                <a:latin typeface="隶书" pitchFamily="49" charset="-122"/>
                <a:ea typeface="隶书" pitchFamily="49" charset="-122"/>
              </a:rPr>
              <a:t>对控制对象产生影响之后才能做出相应的控制。尤其当控制对象具有较大延迟时间时，反馈控制不能及时地影响输出的变化，会影响系统输出的平稳性。</a:t>
            </a:r>
          </a:p>
          <a:p>
            <a:pPr eaLnBrk="1" hangingPunct="1"/>
            <a:r>
              <a:rPr lang="zh-CN" altLang="en-US" sz="2800" dirty="0" smtClean="0">
                <a:solidFill>
                  <a:srgbClr val="000000"/>
                </a:solidFill>
                <a:latin typeface="隶书" pitchFamily="49" charset="-122"/>
                <a:ea typeface="隶书" pitchFamily="49" charset="-122"/>
              </a:rPr>
              <a:t>前馈控制能使系统及时感受输入信号，使系统在偏差即将产生之前就注意纠正偏差。</a:t>
            </a:r>
          </a:p>
          <a:p>
            <a:pPr eaLnBrk="1" hangingPunct="1"/>
            <a:r>
              <a:rPr lang="zh-CN" altLang="en-US" sz="2800" dirty="0" smtClean="0">
                <a:solidFill>
                  <a:srgbClr val="000000"/>
                </a:solidFill>
                <a:latin typeface="隶书" pitchFamily="49" charset="-122"/>
                <a:ea typeface="隶书" pitchFamily="49" charset="-122"/>
              </a:rPr>
              <a:t>将前馈控制和反馈控制结合起来，构成复合控制，它可以有效提高系统的控制精度。  </a:t>
            </a:r>
          </a:p>
        </p:txBody>
      </p:sp>
      <p:pic>
        <p:nvPicPr>
          <p:cNvPr id="5939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3438" y="692150"/>
            <a:ext cx="3382962"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94336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1844823"/>
            <a:ext cx="8136904" cy="4531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2627784" y="921493"/>
            <a:ext cx="4320480" cy="743665"/>
          </a:xfrm>
          <a:prstGeom prst="rect">
            <a:avLst/>
          </a:prstGeom>
        </p:spPr>
        <p:txBody>
          <a:bodyPr wrap="square">
            <a:spAutoFit/>
          </a:bodyPr>
          <a:lstStyle/>
          <a:p>
            <a:r>
              <a:rPr lang="en-US" altLang="zh-CN" sz="3200" b="0" dirty="0" smtClean="0">
                <a:solidFill>
                  <a:srgbClr val="FF0000"/>
                </a:solidFill>
                <a:latin typeface="Microsoft Yahei" pitchFamily="34" charset="-122"/>
                <a:ea typeface="Microsoft Yahei" pitchFamily="34" charset="-122"/>
                <a:sym typeface="Microsoft Yahei" pitchFamily="34" charset="-122"/>
              </a:rPr>
              <a:t>3</a:t>
            </a:r>
            <a:r>
              <a:rPr lang="zh-CN" altLang="en-US" sz="3200" b="0" dirty="0">
                <a:solidFill>
                  <a:srgbClr val="FF0000"/>
                </a:solidFill>
                <a:latin typeface="Microsoft Yahei" pitchFamily="34" charset="-122"/>
                <a:ea typeface="Microsoft Yahei" pitchFamily="34" charset="-122"/>
                <a:sym typeface="Microsoft Yahei" pitchFamily="34" charset="-122"/>
              </a:rPr>
              <a:t>种</a:t>
            </a:r>
            <a:r>
              <a:rPr lang="zh-CN" altLang="en-US" sz="3200" b="0" dirty="0" smtClean="0">
                <a:solidFill>
                  <a:srgbClr val="FF0000"/>
                </a:solidFill>
                <a:latin typeface="Microsoft Yahei" pitchFamily="34" charset="-122"/>
                <a:ea typeface="Microsoft Yahei" pitchFamily="34" charset="-122"/>
                <a:sym typeface="Microsoft Yahei" pitchFamily="34" charset="-122"/>
              </a:rPr>
              <a:t>控制方式示意图</a:t>
            </a:r>
            <a:endParaRPr lang="zh-CN" altLang="en-US" sz="3200" b="0" dirty="0">
              <a:solidFill>
                <a:srgbClr val="FF0000"/>
              </a:solidFill>
            </a:endParaRPr>
          </a:p>
        </p:txBody>
      </p:sp>
    </p:spTree>
    <p:extLst>
      <p:ext uri="{BB962C8B-B14F-4D97-AF65-F5344CB8AC3E}">
        <p14:creationId xmlns:p14="http://schemas.microsoft.com/office/powerpoint/2010/main" val="33866913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Box 4"/>
          <p:cNvSpPr txBox="1">
            <a:spLocks noChangeArrowheads="1"/>
          </p:cNvSpPr>
          <p:nvPr>
            <p:custDataLst>
              <p:tags r:id="rId2"/>
            </p:custDataLst>
          </p:nvPr>
        </p:nvSpPr>
        <p:spPr bwMode="auto">
          <a:xfrm>
            <a:off x="914400" y="635000"/>
            <a:ext cx="7315200"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600" dirty="0">
                <a:solidFill>
                  <a:srgbClr val="000000"/>
                </a:solidFill>
                <a:latin typeface="Microsoft Yahei" pitchFamily="34" charset="-122"/>
                <a:ea typeface="Microsoft Yahei" pitchFamily="34" charset="-122"/>
                <a:sym typeface="Microsoft Yahei" pitchFamily="34" charset="-122"/>
              </a:rPr>
              <a:t>控制方式有以下哪几种？</a:t>
            </a:r>
          </a:p>
        </p:txBody>
      </p:sp>
      <p:sp>
        <p:nvSpPr>
          <p:cNvPr id="60419" name="TextBox 5"/>
          <p:cNvSpPr txBox="1">
            <a:spLocks noChangeArrowheads="1"/>
          </p:cNvSpPr>
          <p:nvPr>
            <p:custDataLst>
              <p:tags r:id="rId3"/>
            </p:custDataLst>
          </p:nvPr>
        </p:nvSpPr>
        <p:spPr bwMode="auto">
          <a:xfrm>
            <a:off x="1828800" y="2786063"/>
            <a:ext cx="640080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600">
                <a:solidFill>
                  <a:srgbClr val="000000"/>
                </a:solidFill>
                <a:latin typeface="Microsoft Yahei" pitchFamily="34" charset="-122"/>
                <a:ea typeface="Microsoft Yahei" pitchFamily="34" charset="-122"/>
                <a:sym typeface="Microsoft Yahei" pitchFamily="34" charset="-122"/>
              </a:rPr>
              <a:t>开环控制</a:t>
            </a:r>
          </a:p>
        </p:txBody>
      </p:sp>
      <p:sp>
        <p:nvSpPr>
          <p:cNvPr id="60420" name="TextBox 6"/>
          <p:cNvSpPr txBox="1">
            <a:spLocks noChangeArrowheads="1"/>
          </p:cNvSpPr>
          <p:nvPr>
            <p:custDataLst>
              <p:tags r:id="rId4"/>
            </p:custDataLst>
          </p:nvPr>
        </p:nvSpPr>
        <p:spPr bwMode="auto">
          <a:xfrm>
            <a:off x="1828800" y="3643313"/>
            <a:ext cx="640080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600">
                <a:solidFill>
                  <a:srgbClr val="000000"/>
                </a:solidFill>
                <a:latin typeface="Microsoft Yahei" pitchFamily="34" charset="-122"/>
                <a:ea typeface="Microsoft Yahei" pitchFamily="34" charset="-122"/>
                <a:sym typeface="Microsoft Yahei" pitchFamily="34" charset="-122"/>
              </a:rPr>
              <a:t>闭环控制</a:t>
            </a:r>
          </a:p>
        </p:txBody>
      </p:sp>
      <p:sp>
        <p:nvSpPr>
          <p:cNvPr id="60421" name="TextBox 7"/>
          <p:cNvSpPr txBox="1">
            <a:spLocks noChangeArrowheads="1"/>
          </p:cNvSpPr>
          <p:nvPr>
            <p:custDataLst>
              <p:tags r:id="rId5"/>
            </p:custDataLst>
          </p:nvPr>
        </p:nvSpPr>
        <p:spPr bwMode="auto">
          <a:xfrm>
            <a:off x="1828800" y="4500563"/>
            <a:ext cx="640080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600">
                <a:solidFill>
                  <a:srgbClr val="000000"/>
                </a:solidFill>
                <a:latin typeface="Microsoft Yahei" pitchFamily="34" charset="-122"/>
                <a:ea typeface="Microsoft Yahei" pitchFamily="34" charset="-122"/>
                <a:sym typeface="Microsoft Yahei" pitchFamily="34" charset="-122"/>
              </a:rPr>
              <a:t>复合控制</a:t>
            </a:r>
          </a:p>
        </p:txBody>
      </p:sp>
      <p:sp>
        <p:nvSpPr>
          <p:cNvPr id="60422" name="TextBox 8"/>
          <p:cNvSpPr txBox="1">
            <a:spLocks noChangeArrowheads="1"/>
          </p:cNvSpPr>
          <p:nvPr>
            <p:custDataLst>
              <p:tags r:id="rId6"/>
            </p:custDataLst>
          </p:nvPr>
        </p:nvSpPr>
        <p:spPr bwMode="auto">
          <a:xfrm>
            <a:off x="1828800" y="5357813"/>
            <a:ext cx="640080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600">
                <a:solidFill>
                  <a:srgbClr val="000000"/>
                </a:solidFill>
                <a:latin typeface="Microsoft Yahei" pitchFamily="34" charset="-122"/>
                <a:ea typeface="Microsoft Yahei" pitchFamily="34" charset="-122"/>
                <a:sym typeface="Microsoft Yahei" pitchFamily="34" charset="-122"/>
              </a:rPr>
              <a:t>误差控制</a:t>
            </a:r>
          </a:p>
        </p:txBody>
      </p:sp>
      <p:sp>
        <p:nvSpPr>
          <p:cNvPr id="10" name="矩形 9"/>
          <p:cNvSpPr>
            <a:spLocks noChangeAspect="1"/>
          </p:cNvSpPr>
          <p:nvPr>
            <p:custDataLst>
              <p:tags r:id="rId7"/>
            </p:custDataLst>
          </p:nvPr>
        </p:nvSpPr>
        <p:spPr>
          <a:xfrm>
            <a:off x="1114425" y="2849563"/>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nchorCtr="1"/>
          <a:lstStyle/>
          <a:p>
            <a:pPr algn="ctr">
              <a:defRPr/>
            </a:pPr>
            <a:r>
              <a:rPr lang="en-US" altLang="zh-CN" sz="1600">
                <a:solidFill>
                  <a:srgbClr val="FFFFFF"/>
                </a:solidFill>
                <a:latin typeface="Microsoft Yahei"/>
                <a:ea typeface="Microsoft Yahei"/>
                <a:sym typeface="Microsoft Yahei"/>
              </a:rPr>
              <a:t>A</a:t>
            </a:r>
            <a:endParaRPr lang="zh-CN" altLang="en-US" sz="1600">
              <a:solidFill>
                <a:srgbClr val="FFFFFF"/>
              </a:solidFill>
              <a:latin typeface="Microsoft Yahei"/>
              <a:ea typeface="Microsoft Yahei"/>
              <a:sym typeface="Microsoft Yahei"/>
            </a:endParaRPr>
          </a:p>
        </p:txBody>
      </p:sp>
      <p:sp>
        <p:nvSpPr>
          <p:cNvPr id="11" name="矩形 10"/>
          <p:cNvSpPr>
            <a:spLocks noChangeAspect="1"/>
          </p:cNvSpPr>
          <p:nvPr>
            <p:custDataLst>
              <p:tags r:id="rId8"/>
            </p:custDataLst>
          </p:nvPr>
        </p:nvSpPr>
        <p:spPr>
          <a:xfrm>
            <a:off x="1114425" y="3706813"/>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nchorCtr="1"/>
          <a:lstStyle/>
          <a:p>
            <a:pPr algn="ctr">
              <a:defRPr/>
            </a:pPr>
            <a:r>
              <a:rPr lang="en-US" altLang="zh-CN" sz="1600">
                <a:solidFill>
                  <a:srgbClr val="FFFFFF"/>
                </a:solidFill>
                <a:latin typeface="Microsoft Yahei"/>
                <a:ea typeface="Microsoft Yahei"/>
                <a:sym typeface="Microsoft Yahei"/>
              </a:rPr>
              <a:t>B</a:t>
            </a:r>
            <a:endParaRPr lang="zh-CN" altLang="en-US" sz="1600">
              <a:solidFill>
                <a:srgbClr val="FFFFFF"/>
              </a:solidFill>
              <a:latin typeface="Microsoft Yahei"/>
              <a:ea typeface="Microsoft Yahei"/>
              <a:sym typeface="Microsoft Yahei"/>
            </a:endParaRPr>
          </a:p>
        </p:txBody>
      </p:sp>
      <p:sp>
        <p:nvSpPr>
          <p:cNvPr id="12" name="矩形 11"/>
          <p:cNvSpPr>
            <a:spLocks noChangeAspect="1"/>
          </p:cNvSpPr>
          <p:nvPr>
            <p:custDataLst>
              <p:tags r:id="rId9"/>
            </p:custDataLst>
          </p:nvPr>
        </p:nvSpPr>
        <p:spPr>
          <a:xfrm>
            <a:off x="1114425" y="4564063"/>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nchorCtr="1"/>
          <a:lstStyle/>
          <a:p>
            <a:pPr algn="ctr">
              <a:defRPr/>
            </a:pPr>
            <a:r>
              <a:rPr lang="en-US" altLang="zh-CN" sz="1600">
                <a:solidFill>
                  <a:srgbClr val="FFFFFF"/>
                </a:solidFill>
                <a:latin typeface="Microsoft Yahei"/>
                <a:ea typeface="Microsoft Yahei"/>
                <a:sym typeface="Microsoft Yahei"/>
              </a:rPr>
              <a:t>C</a:t>
            </a:r>
            <a:endParaRPr lang="zh-CN" altLang="en-US" sz="1600">
              <a:solidFill>
                <a:srgbClr val="FFFFFF"/>
              </a:solidFill>
              <a:latin typeface="Microsoft Yahei"/>
              <a:ea typeface="Microsoft Yahei"/>
              <a:sym typeface="Microsoft Yahei"/>
            </a:endParaRPr>
          </a:p>
        </p:txBody>
      </p:sp>
      <p:sp>
        <p:nvSpPr>
          <p:cNvPr id="13" name="矩形 12"/>
          <p:cNvSpPr>
            <a:spLocks noChangeAspect="1"/>
          </p:cNvSpPr>
          <p:nvPr>
            <p:custDataLst>
              <p:tags r:id="rId10"/>
            </p:custDataLst>
          </p:nvPr>
        </p:nvSpPr>
        <p:spPr>
          <a:xfrm>
            <a:off x="1114425" y="5421313"/>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nchorCtr="1"/>
          <a:lstStyle/>
          <a:p>
            <a:pPr algn="ctr">
              <a:defRPr/>
            </a:pPr>
            <a:r>
              <a:rPr lang="en-US" altLang="zh-CN" sz="1600">
                <a:solidFill>
                  <a:srgbClr val="FFFFFF"/>
                </a:solidFill>
                <a:latin typeface="Microsoft Yahei"/>
                <a:ea typeface="Microsoft Yahei"/>
                <a:sym typeface="Microsoft Yahei"/>
              </a:rPr>
              <a:t>D</a:t>
            </a:r>
            <a:endParaRPr lang="zh-CN" altLang="en-US" sz="1600">
              <a:solidFill>
                <a:srgbClr val="FFFFFF"/>
              </a:solidFill>
              <a:latin typeface="Microsoft Yahei"/>
              <a:ea typeface="Microsoft Yahei"/>
              <a:sym typeface="Microsoft Yahei"/>
            </a:endParaRPr>
          </a:p>
        </p:txBody>
      </p:sp>
      <p:sp>
        <p:nvSpPr>
          <p:cNvPr id="14" name="圆角矩形 13"/>
          <p:cNvSpPr/>
          <p:nvPr>
            <p:custDataLst>
              <p:tags r:id="rId11"/>
            </p:custDataLst>
          </p:nvPr>
        </p:nvSpPr>
        <p:spPr>
          <a:xfrm>
            <a:off x="6172200" y="6215063"/>
            <a:ext cx="1543050" cy="41116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nchorCtr="1"/>
          <a:lstStyle/>
          <a:p>
            <a:pPr algn="ctr">
              <a:defRPr/>
            </a:pPr>
            <a:r>
              <a:rPr lang="zh-CN" altLang="en-US" sz="1600">
                <a:solidFill>
                  <a:srgbClr val="FFFFFF"/>
                </a:solidFill>
                <a:latin typeface="Microsoft Yahei"/>
                <a:ea typeface="Microsoft Yahei"/>
                <a:sym typeface="Microsoft Yahei"/>
              </a:rPr>
              <a:t>提交</a:t>
            </a:r>
          </a:p>
        </p:txBody>
      </p:sp>
      <p:grpSp>
        <p:nvGrpSpPr>
          <p:cNvPr id="60429" name="组合 18"/>
          <p:cNvGrpSpPr>
            <a:grpSpLocks/>
          </p:cNvGrpSpPr>
          <p:nvPr>
            <p:custDataLst>
              <p:tags r:id="rId12"/>
            </p:custDataLst>
          </p:nvPr>
        </p:nvGrpSpPr>
        <p:grpSpPr bwMode="auto">
          <a:xfrm>
            <a:off x="0" y="0"/>
            <a:ext cx="9144000" cy="635000"/>
            <a:chOff x="0" y="0"/>
            <a:chExt cx="9144000" cy="635000"/>
          </a:xfrm>
        </p:grpSpPr>
        <p:sp>
          <p:nvSpPr>
            <p:cNvPr id="15" name="TitleBackground"/>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6" name="ColorBlock"/>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0433" name="TypeText"/>
            <p:cNvSpPr txBox="1">
              <a:spLocks noChangeArrowheads="1"/>
            </p:cNvSpPr>
            <p:nvPr>
              <p:custDataLst>
                <p:tags r:id="rId16"/>
              </p:custDataLst>
            </p:nvPr>
          </p:nvSpPr>
          <p:spPr bwMode="auto">
            <a:xfrm>
              <a:off x="254000" y="0"/>
              <a:ext cx="190500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600">
                  <a:solidFill>
                    <a:srgbClr val="000000"/>
                  </a:solidFill>
                  <a:latin typeface="Microsoft Yahei" pitchFamily="34" charset="-122"/>
                  <a:ea typeface="Microsoft Yahei" pitchFamily="34" charset="-122"/>
                  <a:sym typeface="Microsoft Yahei" pitchFamily="34" charset="-122"/>
                </a:rPr>
                <a:t>多选题</a:t>
              </a:r>
            </a:p>
          </p:txBody>
        </p:sp>
        <p:sp>
          <p:nvSpPr>
            <p:cNvPr id="60434" name="TipText"/>
            <p:cNvSpPr txBox="1">
              <a:spLocks noChangeArrowheads="1"/>
            </p:cNvSpPr>
            <p:nvPr>
              <p:custDataLst>
                <p:tags r:id="rId17"/>
              </p:custDataLst>
            </p:nvPr>
          </p:nvSpPr>
          <p:spPr bwMode="auto">
            <a:xfrm>
              <a:off x="1525905" y="109220"/>
              <a:ext cx="22860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000">
                  <a:solidFill>
                    <a:srgbClr val="808080"/>
                  </a:solidFill>
                  <a:latin typeface="Microsoft Yahei" pitchFamily="34" charset="-122"/>
                  <a:ea typeface="Microsoft Yahei" pitchFamily="34" charset="-122"/>
                  <a:sym typeface="Microsoft Yahei" pitchFamily="34" charset="-122"/>
                </a:rPr>
                <a:t>1</a:t>
              </a:r>
              <a:r>
                <a:rPr lang="zh-CN" altLang="en-US" sz="2000">
                  <a:solidFill>
                    <a:srgbClr val="808080"/>
                  </a:solidFill>
                  <a:latin typeface="Microsoft Yahei" pitchFamily="34" charset="-122"/>
                  <a:ea typeface="Microsoft Yahei" pitchFamily="34" charset="-122"/>
                  <a:sym typeface="Microsoft Yahei" pitchFamily="34" charset="-122"/>
                </a:rPr>
                <a:t>分</a:t>
              </a:r>
            </a:p>
          </p:txBody>
        </p:sp>
      </p:grpSp>
      <p:pic>
        <p:nvPicPr>
          <p:cNvPr id="60430" name="图片 3"/>
          <p:cNvPicPr>
            <a:picLocks/>
          </p:cNvPicPr>
          <p:nvPr>
            <p:custDataLst>
              <p:tags r:id="rId13"/>
            </p:custDataLst>
          </p:nvPr>
        </p:nvPicPr>
        <p:blipFill>
          <a:blip r:embed="rId19">
            <a:extLst>
              <a:ext uri="{28A0092B-C50C-407E-A947-70E740481C1C}">
                <a14:useLocalDpi xmlns:a14="http://schemas.microsoft.com/office/drawing/2010/main" val="0"/>
              </a:ext>
            </a:extLst>
          </a:blip>
          <a:srcRect/>
          <a:stretch>
            <a:fillRect/>
          </a:stretch>
        </p:blipFill>
        <p:spPr bwMode="auto">
          <a:xfrm>
            <a:off x="7594600" y="63500"/>
            <a:ext cx="14224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6273402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矩形 1"/>
          <p:cNvSpPr>
            <a:spLocks noChangeArrowheads="1"/>
          </p:cNvSpPr>
          <p:nvPr/>
        </p:nvSpPr>
        <p:spPr bwMode="auto">
          <a:xfrm>
            <a:off x="814676" y="939800"/>
            <a:ext cx="3582988"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dirty="0">
                <a:solidFill>
                  <a:srgbClr val="000000"/>
                </a:solidFill>
                <a:ea typeface="黑体" pitchFamily="2" charset="-122"/>
              </a:rPr>
              <a:t>自动控制系统举例</a:t>
            </a:r>
          </a:p>
        </p:txBody>
      </p:sp>
      <p:pic>
        <p:nvPicPr>
          <p:cNvPr id="54281"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1668164"/>
            <a:ext cx="6624637" cy="4151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674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3938" y="3730327"/>
            <a:ext cx="906462" cy="137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674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0950" y="2165052"/>
            <a:ext cx="893763"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6742"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1900" y="2165052"/>
            <a:ext cx="906463"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6743"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31900" y="2165052"/>
            <a:ext cx="906463"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6745"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97250" y="5138439"/>
            <a:ext cx="495300"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449" name="矩形 1"/>
          <p:cNvSpPr>
            <a:spLocks noChangeArrowheads="1"/>
          </p:cNvSpPr>
          <p:nvPr/>
        </p:nvSpPr>
        <p:spPr bwMode="auto">
          <a:xfrm>
            <a:off x="2492375" y="6106814"/>
            <a:ext cx="3951288"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a:solidFill>
                  <a:srgbClr val="000000"/>
                </a:solidFill>
                <a:latin typeface="华文隶书" pitchFamily="2" charset="-122"/>
                <a:ea typeface="华文隶书" pitchFamily="2" charset="-122"/>
              </a:rPr>
              <a:t>函数记录仪工作原理图</a:t>
            </a:r>
          </a:p>
        </p:txBody>
      </p:sp>
    </p:spTree>
    <p:extLst>
      <p:ext uri="{BB962C8B-B14F-4D97-AF65-F5344CB8AC3E}">
        <p14:creationId xmlns:p14="http://schemas.microsoft.com/office/powerpoint/2010/main" val="263905554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4281"/>
                                        </p:tgtEl>
                                        <p:attrNameLst>
                                          <p:attrName>style.visibility</p:attrName>
                                        </p:attrNameLst>
                                      </p:cBhvr>
                                      <p:to>
                                        <p:strVal val="visible"/>
                                      </p:to>
                                    </p:set>
                                    <p:animEffect transition="in" filter="wipe(left)">
                                      <p:cBhvr>
                                        <p:cTn id="7" dur="250"/>
                                        <p:tgtEl>
                                          <p:spTgt spid="5428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6741"/>
                                        </p:tgtEl>
                                        <p:attrNameLst>
                                          <p:attrName>style.visibility</p:attrName>
                                        </p:attrNameLst>
                                      </p:cBhvr>
                                      <p:to>
                                        <p:strVal val="visible"/>
                                      </p:to>
                                    </p:set>
                                    <p:animEffect transition="in" filter="wipe(left)">
                                      <p:cBhvr>
                                        <p:cTn id="12" dur="1500"/>
                                        <p:tgtEl>
                                          <p:spTgt spid="11674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5" presetClass="path" presetSubtype="0" accel="50000" decel="50000" fill="hold" nodeType="clickEffect">
                                  <p:stCondLst>
                                    <p:cond delay="0"/>
                                  </p:stCondLst>
                                  <p:childTnLst>
                                    <p:animMotion origin="layout" path="M -1.38889E-6 2.59259E-6 L -0.04288 -0.00023 " pathEditMode="relative" rAng="0" ptsTypes="AA">
                                      <p:cBhvr>
                                        <p:cTn id="16" dur="2000" fill="hold"/>
                                        <p:tgtEl>
                                          <p:spTgt spid="116740"/>
                                        </p:tgtEl>
                                        <p:attrNameLst>
                                          <p:attrName>ppt_x</p:attrName>
                                          <p:attrName>ppt_y</p:attrName>
                                        </p:attrNameLst>
                                      </p:cBhvr>
                                      <p:rCtr x="-2153" y="-23"/>
                                    </p:animMotion>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116742"/>
                                        </p:tgtEl>
                                        <p:attrNameLst>
                                          <p:attrName>style.visibility</p:attrName>
                                        </p:attrNameLst>
                                      </p:cBhvr>
                                      <p:to>
                                        <p:strVal val="visible"/>
                                      </p:to>
                                    </p:set>
                                    <p:animEffect transition="in" filter="wipe(left)">
                                      <p:cBhvr>
                                        <p:cTn id="21" dur="1500"/>
                                        <p:tgtEl>
                                          <p:spTgt spid="11674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63" presetClass="path" presetSubtype="0" accel="50000" decel="50000" fill="hold" nodeType="clickEffect">
                                  <p:stCondLst>
                                    <p:cond delay="0"/>
                                  </p:stCondLst>
                                  <p:childTnLst>
                                    <p:animMotion origin="layout" path="M -0.04288 3.33333E-6 L 0.00434 3.33333E-6 " pathEditMode="relative" rAng="0" ptsTypes="AA">
                                      <p:cBhvr>
                                        <p:cTn id="25" dur="2000" fill="hold"/>
                                        <p:tgtEl>
                                          <p:spTgt spid="116740"/>
                                        </p:tgtEl>
                                        <p:attrNameLst>
                                          <p:attrName>ppt_x</p:attrName>
                                          <p:attrName>ppt_y</p:attrName>
                                        </p:attrNameLst>
                                      </p:cBhvr>
                                      <p:rCtr x="2361" y="0"/>
                                    </p:animMotion>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116743"/>
                                        </p:tgtEl>
                                        <p:attrNameLst>
                                          <p:attrName>style.visibility</p:attrName>
                                        </p:attrNameLst>
                                      </p:cBhvr>
                                      <p:to>
                                        <p:strVal val="visible"/>
                                      </p:to>
                                    </p:set>
                                    <p:animEffect transition="in" filter="wipe(left)">
                                      <p:cBhvr>
                                        <p:cTn id="30" dur="2000"/>
                                        <p:tgtEl>
                                          <p:spTgt spid="116743"/>
                                        </p:tgtEl>
                                      </p:cBhvr>
                                    </p:animEffect>
                                  </p:childTnLst>
                                </p:cTn>
                              </p:par>
                              <p:par>
                                <p:cTn id="31" presetID="22" presetClass="entr" presetSubtype="4" fill="hold" nodeType="withEffect">
                                  <p:stCondLst>
                                    <p:cond delay="0"/>
                                  </p:stCondLst>
                                  <p:childTnLst>
                                    <p:set>
                                      <p:cBhvr>
                                        <p:cTn id="32" dur="1" fill="hold">
                                          <p:stCondLst>
                                            <p:cond delay="0"/>
                                          </p:stCondLst>
                                        </p:cTn>
                                        <p:tgtEl>
                                          <p:spTgt spid="116745"/>
                                        </p:tgtEl>
                                        <p:attrNameLst>
                                          <p:attrName>style.visibility</p:attrName>
                                        </p:attrNameLst>
                                      </p:cBhvr>
                                      <p:to>
                                        <p:strVal val="visible"/>
                                      </p:to>
                                    </p:set>
                                    <p:animEffect transition="in" filter="wipe(down)">
                                      <p:cBhvr>
                                        <p:cTn id="33" dur="2000"/>
                                        <p:tgtEl>
                                          <p:spTgt spid="1167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矩形 1"/>
          <p:cNvSpPr>
            <a:spLocks noChangeArrowheads="1"/>
          </p:cNvSpPr>
          <p:nvPr/>
        </p:nvSpPr>
        <p:spPr bwMode="auto">
          <a:xfrm>
            <a:off x="277019" y="939800"/>
            <a:ext cx="3582988"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dirty="0">
                <a:solidFill>
                  <a:srgbClr val="000000"/>
                </a:solidFill>
                <a:ea typeface="黑体" pitchFamily="2" charset="-122"/>
              </a:rPr>
              <a:t>自动控制系统举例</a:t>
            </a:r>
          </a:p>
        </p:txBody>
      </p:sp>
      <p:sp>
        <p:nvSpPr>
          <p:cNvPr id="33" name="矩形 1"/>
          <p:cNvSpPr>
            <a:spLocks noChangeArrowheads="1"/>
          </p:cNvSpPr>
          <p:nvPr/>
        </p:nvSpPr>
        <p:spPr bwMode="auto">
          <a:xfrm>
            <a:off x="3149600" y="5946775"/>
            <a:ext cx="2646363"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a:solidFill>
                  <a:srgbClr val="000000"/>
                </a:solidFill>
                <a:latin typeface="华文隶书" pitchFamily="2" charset="-122"/>
                <a:ea typeface="华文隶书" pitchFamily="2" charset="-122"/>
              </a:rPr>
              <a:t>函数记录仪方框图</a:t>
            </a:r>
          </a:p>
        </p:txBody>
      </p:sp>
      <p:pic>
        <p:nvPicPr>
          <p:cNvPr id="6246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9763" y="333375"/>
            <a:ext cx="3938587" cy="2493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2469" name="矩形 1"/>
          <p:cNvSpPr>
            <a:spLocks noChangeArrowheads="1"/>
          </p:cNvSpPr>
          <p:nvPr/>
        </p:nvSpPr>
        <p:spPr bwMode="auto">
          <a:xfrm>
            <a:off x="5313363" y="2863850"/>
            <a:ext cx="2303462"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a:solidFill>
                  <a:srgbClr val="000000"/>
                </a:solidFill>
                <a:latin typeface="华文隶书" pitchFamily="2" charset="-122"/>
                <a:ea typeface="华文隶书" pitchFamily="2" charset="-122"/>
              </a:rPr>
              <a:t>函数记录仪工作原理图</a:t>
            </a:r>
          </a:p>
        </p:txBody>
      </p:sp>
      <p:pic>
        <p:nvPicPr>
          <p:cNvPr id="11878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3575050"/>
            <a:ext cx="381000" cy="388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878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0" y="3297238"/>
            <a:ext cx="817563" cy="129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879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3441700"/>
            <a:ext cx="825500"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8791"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60775" y="3441700"/>
            <a:ext cx="873125"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8792"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44800" y="3441700"/>
            <a:ext cx="825500"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8793"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95463" y="3814763"/>
            <a:ext cx="468312" cy="849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8795" name="Picture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59263" y="3927475"/>
            <a:ext cx="47625" cy="1008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8796" name="Picture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14775" y="4881563"/>
            <a:ext cx="341313" cy="71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8797" name="Picture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73313" y="4572000"/>
            <a:ext cx="1563687"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8798" name="Picture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36800" y="4025900"/>
            <a:ext cx="436563" cy="849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8799" name="Picture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79650" y="3586163"/>
            <a:ext cx="555625" cy="436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8800" name="Picture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68513" y="5302250"/>
            <a:ext cx="3556000"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8801" name="Picture 1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74838" y="4210050"/>
            <a:ext cx="261937" cy="1389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8804" name="Picture 2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626100" y="5554663"/>
            <a:ext cx="1292225" cy="71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438" name="Picture 2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226175" y="3430588"/>
            <a:ext cx="1008063" cy="1033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8803" name="Picture 1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902450" y="3911600"/>
            <a:ext cx="55563" cy="169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57326371"/>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0438"/>
                                        </p:tgtEl>
                                        <p:attrNameLst>
                                          <p:attrName>style.visibility</p:attrName>
                                        </p:attrNameLst>
                                      </p:cBhvr>
                                      <p:to>
                                        <p:strVal val="visible"/>
                                      </p:to>
                                    </p:set>
                                    <p:animEffect transition="in" filter="wipe(left)">
                                      <p:cBhvr>
                                        <p:cTn id="7" dur="1000"/>
                                        <p:tgtEl>
                                          <p:spTgt spid="604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8788"/>
                                        </p:tgtEl>
                                        <p:attrNameLst>
                                          <p:attrName>style.visibility</p:attrName>
                                        </p:attrNameLst>
                                      </p:cBhvr>
                                      <p:to>
                                        <p:strVal val="visible"/>
                                      </p:to>
                                    </p:set>
                                    <p:animEffect transition="in" filter="wipe(left)">
                                      <p:cBhvr>
                                        <p:cTn id="12" dur="750"/>
                                        <p:tgtEl>
                                          <p:spTgt spid="1187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18789"/>
                                        </p:tgtEl>
                                        <p:attrNameLst>
                                          <p:attrName>style.visibility</p:attrName>
                                        </p:attrNameLst>
                                      </p:cBhvr>
                                      <p:to>
                                        <p:strVal val="visible"/>
                                      </p:to>
                                    </p:set>
                                    <p:animEffect transition="in" filter="wipe(left)">
                                      <p:cBhvr>
                                        <p:cTn id="17" dur="1000"/>
                                        <p:tgtEl>
                                          <p:spTgt spid="11878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18790"/>
                                        </p:tgtEl>
                                        <p:attrNameLst>
                                          <p:attrName>style.visibility</p:attrName>
                                        </p:attrNameLst>
                                      </p:cBhvr>
                                      <p:to>
                                        <p:strVal val="visible"/>
                                      </p:to>
                                    </p:set>
                                    <p:animEffect transition="in" filter="wipe(left)">
                                      <p:cBhvr>
                                        <p:cTn id="22" dur="1000"/>
                                        <p:tgtEl>
                                          <p:spTgt spid="11879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18791"/>
                                        </p:tgtEl>
                                        <p:attrNameLst>
                                          <p:attrName>style.visibility</p:attrName>
                                        </p:attrNameLst>
                                      </p:cBhvr>
                                      <p:to>
                                        <p:strVal val="visible"/>
                                      </p:to>
                                    </p:set>
                                    <p:animEffect transition="in" filter="wipe(left)">
                                      <p:cBhvr>
                                        <p:cTn id="27" dur="1000"/>
                                        <p:tgtEl>
                                          <p:spTgt spid="11879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18792"/>
                                        </p:tgtEl>
                                        <p:attrNameLst>
                                          <p:attrName>style.visibility</p:attrName>
                                        </p:attrNameLst>
                                      </p:cBhvr>
                                      <p:to>
                                        <p:strVal val="visible"/>
                                      </p:to>
                                    </p:set>
                                    <p:animEffect transition="in" filter="wipe(left)">
                                      <p:cBhvr>
                                        <p:cTn id="32" dur="1000"/>
                                        <p:tgtEl>
                                          <p:spTgt spid="11879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18793"/>
                                        </p:tgtEl>
                                        <p:attrNameLst>
                                          <p:attrName>style.visibility</p:attrName>
                                        </p:attrNameLst>
                                      </p:cBhvr>
                                      <p:to>
                                        <p:strVal val="visible"/>
                                      </p:to>
                                    </p:set>
                                    <p:animEffect transition="in" filter="wipe(left)">
                                      <p:cBhvr>
                                        <p:cTn id="37" dur="750"/>
                                        <p:tgtEl>
                                          <p:spTgt spid="11879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18799"/>
                                        </p:tgtEl>
                                        <p:attrNameLst>
                                          <p:attrName>style.visibility</p:attrName>
                                        </p:attrNameLst>
                                      </p:cBhvr>
                                      <p:to>
                                        <p:strVal val="visible"/>
                                      </p:to>
                                    </p:set>
                                    <p:animEffect transition="in" filter="wipe(left)">
                                      <p:cBhvr>
                                        <p:cTn id="42" dur="750"/>
                                        <p:tgtEl>
                                          <p:spTgt spid="11879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nodeType="clickEffect">
                                  <p:stCondLst>
                                    <p:cond delay="0"/>
                                  </p:stCondLst>
                                  <p:childTnLst>
                                    <p:set>
                                      <p:cBhvr>
                                        <p:cTn id="46" dur="1" fill="hold">
                                          <p:stCondLst>
                                            <p:cond delay="0"/>
                                          </p:stCondLst>
                                        </p:cTn>
                                        <p:tgtEl>
                                          <p:spTgt spid="118795"/>
                                        </p:tgtEl>
                                        <p:attrNameLst>
                                          <p:attrName>style.visibility</p:attrName>
                                        </p:attrNameLst>
                                      </p:cBhvr>
                                      <p:to>
                                        <p:strVal val="visible"/>
                                      </p:to>
                                    </p:set>
                                    <p:animEffect transition="in" filter="wipe(up)">
                                      <p:cBhvr>
                                        <p:cTn id="47" dur="750"/>
                                        <p:tgtEl>
                                          <p:spTgt spid="118795"/>
                                        </p:tgtEl>
                                      </p:cBhvr>
                                    </p:animEffect>
                                  </p:childTnLst>
                                </p:cTn>
                              </p:par>
                            </p:childTnLst>
                          </p:cTn>
                        </p:par>
                        <p:par>
                          <p:cTn id="48" fill="hold" nodeType="afterGroup">
                            <p:stCondLst>
                              <p:cond delay="750"/>
                            </p:stCondLst>
                            <p:childTnLst>
                              <p:par>
                                <p:cTn id="49" presetID="22" presetClass="entr" presetSubtype="2" fill="hold" nodeType="afterEffect">
                                  <p:stCondLst>
                                    <p:cond delay="0"/>
                                  </p:stCondLst>
                                  <p:childTnLst>
                                    <p:set>
                                      <p:cBhvr>
                                        <p:cTn id="50" dur="1" fill="hold">
                                          <p:stCondLst>
                                            <p:cond delay="0"/>
                                          </p:stCondLst>
                                        </p:cTn>
                                        <p:tgtEl>
                                          <p:spTgt spid="118796"/>
                                        </p:tgtEl>
                                        <p:attrNameLst>
                                          <p:attrName>style.visibility</p:attrName>
                                        </p:attrNameLst>
                                      </p:cBhvr>
                                      <p:to>
                                        <p:strVal val="visible"/>
                                      </p:to>
                                    </p:set>
                                    <p:animEffect transition="in" filter="wipe(right)">
                                      <p:cBhvr>
                                        <p:cTn id="51" dur="500"/>
                                        <p:tgtEl>
                                          <p:spTgt spid="118796"/>
                                        </p:tgtEl>
                                      </p:cBhvr>
                                    </p:animEffect>
                                  </p:childTnLst>
                                </p:cTn>
                              </p:par>
                            </p:childTnLst>
                          </p:cTn>
                        </p:par>
                        <p:par>
                          <p:cTn id="52" fill="hold" nodeType="afterGroup">
                            <p:stCondLst>
                              <p:cond delay="1250"/>
                            </p:stCondLst>
                            <p:childTnLst>
                              <p:par>
                                <p:cTn id="53" presetID="22" presetClass="entr" presetSubtype="2" fill="hold" nodeType="afterEffect">
                                  <p:stCondLst>
                                    <p:cond delay="0"/>
                                  </p:stCondLst>
                                  <p:childTnLst>
                                    <p:set>
                                      <p:cBhvr>
                                        <p:cTn id="54" dur="1" fill="hold">
                                          <p:stCondLst>
                                            <p:cond delay="0"/>
                                          </p:stCondLst>
                                        </p:cTn>
                                        <p:tgtEl>
                                          <p:spTgt spid="118797"/>
                                        </p:tgtEl>
                                        <p:attrNameLst>
                                          <p:attrName>style.visibility</p:attrName>
                                        </p:attrNameLst>
                                      </p:cBhvr>
                                      <p:to>
                                        <p:strVal val="visible"/>
                                      </p:to>
                                    </p:set>
                                    <p:animEffect transition="in" filter="wipe(right)">
                                      <p:cBhvr>
                                        <p:cTn id="55" dur="1000"/>
                                        <p:tgtEl>
                                          <p:spTgt spid="118797"/>
                                        </p:tgtEl>
                                      </p:cBhvr>
                                    </p:animEffect>
                                  </p:childTnLst>
                                </p:cTn>
                              </p:par>
                            </p:childTnLst>
                          </p:cTn>
                        </p:par>
                        <p:par>
                          <p:cTn id="56" fill="hold" nodeType="afterGroup">
                            <p:stCondLst>
                              <p:cond delay="2250"/>
                            </p:stCondLst>
                            <p:childTnLst>
                              <p:par>
                                <p:cTn id="57" presetID="22" presetClass="entr" presetSubtype="4" fill="hold" nodeType="afterEffect">
                                  <p:stCondLst>
                                    <p:cond delay="0"/>
                                  </p:stCondLst>
                                  <p:childTnLst>
                                    <p:set>
                                      <p:cBhvr>
                                        <p:cTn id="58" dur="1" fill="hold">
                                          <p:stCondLst>
                                            <p:cond delay="0"/>
                                          </p:stCondLst>
                                        </p:cTn>
                                        <p:tgtEl>
                                          <p:spTgt spid="118798"/>
                                        </p:tgtEl>
                                        <p:attrNameLst>
                                          <p:attrName>style.visibility</p:attrName>
                                        </p:attrNameLst>
                                      </p:cBhvr>
                                      <p:to>
                                        <p:strVal val="visible"/>
                                      </p:to>
                                    </p:set>
                                    <p:animEffect transition="in" filter="wipe(down)">
                                      <p:cBhvr>
                                        <p:cTn id="59" dur="500"/>
                                        <p:tgtEl>
                                          <p:spTgt spid="118798"/>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2" fill="hold" nodeType="clickEffect">
                                  <p:stCondLst>
                                    <p:cond delay="0"/>
                                  </p:stCondLst>
                                  <p:childTnLst>
                                    <p:set>
                                      <p:cBhvr>
                                        <p:cTn id="63" dur="1" fill="hold">
                                          <p:stCondLst>
                                            <p:cond delay="0"/>
                                          </p:stCondLst>
                                        </p:cTn>
                                        <p:tgtEl>
                                          <p:spTgt spid="118800"/>
                                        </p:tgtEl>
                                        <p:attrNameLst>
                                          <p:attrName>style.visibility</p:attrName>
                                        </p:attrNameLst>
                                      </p:cBhvr>
                                      <p:to>
                                        <p:strVal val="visible"/>
                                      </p:to>
                                    </p:set>
                                    <p:animEffect transition="in" filter="wipe(right)">
                                      <p:cBhvr>
                                        <p:cTn id="64" dur="1750"/>
                                        <p:tgtEl>
                                          <p:spTgt spid="118800"/>
                                        </p:tgtEl>
                                      </p:cBhvr>
                                    </p:animEffect>
                                  </p:childTnLst>
                                </p:cTn>
                              </p:par>
                            </p:childTnLst>
                          </p:cTn>
                        </p:par>
                        <p:par>
                          <p:cTn id="65" fill="hold" nodeType="afterGroup">
                            <p:stCondLst>
                              <p:cond delay="1750"/>
                            </p:stCondLst>
                            <p:childTnLst>
                              <p:par>
                                <p:cTn id="66" presetID="22" presetClass="entr" presetSubtype="4" fill="hold" nodeType="afterEffect">
                                  <p:stCondLst>
                                    <p:cond delay="0"/>
                                  </p:stCondLst>
                                  <p:childTnLst>
                                    <p:set>
                                      <p:cBhvr>
                                        <p:cTn id="67" dur="1" fill="hold">
                                          <p:stCondLst>
                                            <p:cond delay="0"/>
                                          </p:stCondLst>
                                        </p:cTn>
                                        <p:tgtEl>
                                          <p:spTgt spid="118801"/>
                                        </p:tgtEl>
                                        <p:attrNameLst>
                                          <p:attrName>style.visibility</p:attrName>
                                        </p:attrNameLst>
                                      </p:cBhvr>
                                      <p:to>
                                        <p:strVal val="visible"/>
                                      </p:to>
                                    </p:set>
                                    <p:animEffect transition="in" filter="wipe(down)">
                                      <p:cBhvr>
                                        <p:cTn id="68" dur="750"/>
                                        <p:tgtEl>
                                          <p:spTgt spid="118801"/>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1" fill="hold" nodeType="clickEffect">
                                  <p:stCondLst>
                                    <p:cond delay="0"/>
                                  </p:stCondLst>
                                  <p:childTnLst>
                                    <p:set>
                                      <p:cBhvr>
                                        <p:cTn id="72" dur="1" fill="hold">
                                          <p:stCondLst>
                                            <p:cond delay="0"/>
                                          </p:stCondLst>
                                        </p:cTn>
                                        <p:tgtEl>
                                          <p:spTgt spid="118803"/>
                                        </p:tgtEl>
                                        <p:attrNameLst>
                                          <p:attrName>style.visibility</p:attrName>
                                        </p:attrNameLst>
                                      </p:cBhvr>
                                      <p:to>
                                        <p:strVal val="visible"/>
                                      </p:to>
                                    </p:set>
                                    <p:animEffect transition="in" filter="wipe(up)">
                                      <p:cBhvr>
                                        <p:cTn id="73" dur="750"/>
                                        <p:tgtEl>
                                          <p:spTgt spid="118803"/>
                                        </p:tgtEl>
                                      </p:cBhvr>
                                    </p:animEffect>
                                  </p:childTnLst>
                                </p:cTn>
                              </p:par>
                            </p:childTnLst>
                          </p:cTn>
                        </p:par>
                        <p:par>
                          <p:cTn id="74" fill="hold" nodeType="afterGroup">
                            <p:stCondLst>
                              <p:cond delay="750"/>
                            </p:stCondLst>
                            <p:childTnLst>
                              <p:par>
                                <p:cTn id="75" presetID="22" presetClass="entr" presetSubtype="2" fill="hold" nodeType="afterEffect">
                                  <p:stCondLst>
                                    <p:cond delay="0"/>
                                  </p:stCondLst>
                                  <p:childTnLst>
                                    <p:set>
                                      <p:cBhvr>
                                        <p:cTn id="76" dur="1" fill="hold">
                                          <p:stCondLst>
                                            <p:cond delay="0"/>
                                          </p:stCondLst>
                                        </p:cTn>
                                        <p:tgtEl>
                                          <p:spTgt spid="118804"/>
                                        </p:tgtEl>
                                        <p:attrNameLst>
                                          <p:attrName>style.visibility</p:attrName>
                                        </p:attrNameLst>
                                      </p:cBhvr>
                                      <p:to>
                                        <p:strVal val="visible"/>
                                      </p:to>
                                    </p:set>
                                    <p:animEffect transition="in" filter="wipe(right)">
                                      <p:cBhvr>
                                        <p:cTn id="77" dur="500"/>
                                        <p:tgtEl>
                                          <p:spTgt spid="118804"/>
                                        </p:tgtEl>
                                      </p:cBhvr>
                                    </p:animEffect>
                                  </p:childTnLst>
                                </p:cTn>
                              </p:par>
                            </p:childTnLst>
                          </p:cTn>
                        </p:par>
                        <p:par>
                          <p:cTn id="78" fill="hold" nodeType="afterGroup">
                            <p:stCondLst>
                              <p:cond delay="1250"/>
                            </p:stCondLst>
                            <p:childTnLst>
                              <p:par>
                                <p:cTn id="79" presetID="12" presetClass="entr" presetSubtype="4" fill="hold" grpId="0" nodeType="afterEffect">
                                  <p:stCondLst>
                                    <p:cond delay="250"/>
                                  </p:stCondLst>
                                  <p:childTnLst>
                                    <p:set>
                                      <p:cBhvr>
                                        <p:cTn id="80" dur="1" fill="hold">
                                          <p:stCondLst>
                                            <p:cond delay="0"/>
                                          </p:stCondLst>
                                        </p:cTn>
                                        <p:tgtEl>
                                          <p:spTgt spid="33"/>
                                        </p:tgtEl>
                                        <p:attrNameLst>
                                          <p:attrName>style.visibility</p:attrName>
                                        </p:attrNameLst>
                                      </p:cBhvr>
                                      <p:to>
                                        <p:strVal val="visible"/>
                                      </p:to>
                                    </p:set>
                                    <p:anim calcmode="lin" valueType="num">
                                      <p:cBhvr additive="base">
                                        <p:cTn id="81" dur="750"/>
                                        <p:tgtEl>
                                          <p:spTgt spid="33"/>
                                        </p:tgtEl>
                                        <p:attrNameLst>
                                          <p:attrName>ppt_y</p:attrName>
                                        </p:attrNameLst>
                                      </p:cBhvr>
                                      <p:tavLst>
                                        <p:tav tm="0">
                                          <p:val>
                                            <p:strVal val="#ppt_y+#ppt_h*1.125000"/>
                                          </p:val>
                                        </p:tav>
                                        <p:tav tm="100000">
                                          <p:val>
                                            <p:strVal val="#ppt_y"/>
                                          </p:val>
                                        </p:tav>
                                      </p:tavLst>
                                    </p:anim>
                                    <p:animEffect transition="in" filter="wipe(up)">
                                      <p:cBhvr>
                                        <p:cTn id="82" dur="7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矩形 1"/>
          <p:cNvSpPr>
            <a:spLocks noChangeArrowheads="1"/>
          </p:cNvSpPr>
          <p:nvPr/>
        </p:nvSpPr>
        <p:spPr bwMode="auto">
          <a:xfrm>
            <a:off x="539750" y="638175"/>
            <a:ext cx="42306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200">
                <a:solidFill>
                  <a:srgbClr val="000000"/>
                </a:solidFill>
                <a:ea typeface="黑体" pitchFamily="2" charset="-122"/>
              </a:rPr>
              <a:t>1.4 </a:t>
            </a:r>
            <a:r>
              <a:rPr lang="zh-CN" altLang="en-US" sz="3200">
                <a:solidFill>
                  <a:srgbClr val="000000"/>
                </a:solidFill>
                <a:ea typeface="黑体" pitchFamily="2" charset="-122"/>
              </a:rPr>
              <a:t>控制系统的组成</a:t>
            </a:r>
            <a:r>
              <a:rPr lang="en-US" altLang="zh-CN" sz="2400">
                <a:solidFill>
                  <a:srgbClr val="000000"/>
                </a:solidFill>
                <a:ea typeface="黑体" pitchFamily="2" charset="-122"/>
              </a:rPr>
              <a:t>(1)</a:t>
            </a:r>
            <a:r>
              <a:rPr lang="zh-CN" altLang="en-US" sz="3200">
                <a:solidFill>
                  <a:srgbClr val="000000"/>
                </a:solidFill>
                <a:ea typeface="黑体" pitchFamily="2" charset="-122"/>
              </a:rPr>
              <a:t> </a:t>
            </a:r>
          </a:p>
        </p:txBody>
      </p:sp>
      <p:sp>
        <p:nvSpPr>
          <p:cNvPr id="8" name="Rectangle 6"/>
          <p:cNvSpPr>
            <a:spLocks noChangeArrowheads="1"/>
          </p:cNvSpPr>
          <p:nvPr/>
        </p:nvSpPr>
        <p:spPr bwMode="auto">
          <a:xfrm>
            <a:off x="539750" y="3471863"/>
            <a:ext cx="2232025" cy="839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lgn="just">
              <a:lnSpc>
                <a:spcPct val="150000"/>
              </a:lnSpc>
            </a:pPr>
            <a:r>
              <a:rPr lang="zh-CN" altLang="en-US" sz="3200">
                <a:solidFill>
                  <a:srgbClr val="000000"/>
                </a:solidFill>
                <a:ea typeface="华文新魏" pitchFamily="2" charset="-122"/>
              </a:rPr>
              <a:t>控制系统</a:t>
            </a:r>
          </a:p>
        </p:txBody>
      </p:sp>
      <p:grpSp>
        <p:nvGrpSpPr>
          <p:cNvPr id="2" name="组合 1"/>
          <p:cNvGrpSpPr>
            <a:grpSpLocks/>
          </p:cNvGrpSpPr>
          <p:nvPr/>
        </p:nvGrpSpPr>
        <p:grpSpPr bwMode="auto">
          <a:xfrm>
            <a:off x="2444750" y="2636838"/>
            <a:ext cx="1754188" cy="2525712"/>
            <a:chOff x="2589243" y="2330296"/>
            <a:chExt cx="1753424" cy="2526344"/>
          </a:xfrm>
        </p:grpSpPr>
        <p:sp>
          <p:nvSpPr>
            <p:cNvPr id="63499" name="AutoShape 8"/>
            <p:cNvSpPr>
              <a:spLocks/>
            </p:cNvSpPr>
            <p:nvPr/>
          </p:nvSpPr>
          <p:spPr bwMode="auto">
            <a:xfrm>
              <a:off x="2589243" y="2549581"/>
              <a:ext cx="193674" cy="2235696"/>
            </a:xfrm>
            <a:prstGeom prst="leftBrace">
              <a:avLst>
                <a:gd name="adj1" fmla="val 68727"/>
                <a:gd name="adj2" fmla="val 50000"/>
              </a:avLst>
            </a:prstGeom>
            <a:noFill/>
            <a:ln w="9525">
              <a:solidFill>
                <a:srgbClr val="00206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000000"/>
                </a:solidFill>
              </a:endParaRPr>
            </a:p>
          </p:txBody>
        </p:sp>
        <p:sp>
          <p:nvSpPr>
            <p:cNvPr id="63500" name="Rectangle 9"/>
            <p:cNvSpPr>
              <a:spLocks noChangeArrowheads="1"/>
            </p:cNvSpPr>
            <p:nvPr/>
          </p:nvSpPr>
          <p:spPr bwMode="auto">
            <a:xfrm>
              <a:off x="2721710" y="2330296"/>
              <a:ext cx="162095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342900" indent="-342900" algn="just">
                <a:lnSpc>
                  <a:spcPct val="150000"/>
                </a:lnSpc>
              </a:pPr>
              <a:r>
                <a:rPr lang="zh-CN" altLang="en-US" sz="2800">
                  <a:solidFill>
                    <a:srgbClr val="000000"/>
                  </a:solidFill>
                  <a:ea typeface="华文新魏" pitchFamily="2" charset="-122"/>
                </a:rPr>
                <a:t>被控对象</a:t>
              </a:r>
            </a:p>
          </p:txBody>
        </p:sp>
        <p:sp>
          <p:nvSpPr>
            <p:cNvPr id="63501" name="Rectangle 10"/>
            <p:cNvSpPr>
              <a:spLocks noChangeArrowheads="1"/>
            </p:cNvSpPr>
            <p:nvPr/>
          </p:nvSpPr>
          <p:spPr bwMode="auto">
            <a:xfrm>
              <a:off x="2721710" y="4117976"/>
              <a:ext cx="162095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342900" indent="-342900" algn="just">
                <a:lnSpc>
                  <a:spcPct val="150000"/>
                </a:lnSpc>
              </a:pPr>
              <a:r>
                <a:rPr lang="zh-CN" altLang="en-US" sz="2800">
                  <a:solidFill>
                    <a:srgbClr val="000000"/>
                  </a:solidFill>
                  <a:ea typeface="华文新魏" pitchFamily="2" charset="-122"/>
                </a:rPr>
                <a:t>控制装置</a:t>
              </a:r>
            </a:p>
          </p:txBody>
        </p:sp>
      </p:grpSp>
      <p:grpSp>
        <p:nvGrpSpPr>
          <p:cNvPr id="3" name="组合 2"/>
          <p:cNvGrpSpPr>
            <a:grpSpLocks/>
          </p:cNvGrpSpPr>
          <p:nvPr/>
        </p:nvGrpSpPr>
        <p:grpSpPr bwMode="auto">
          <a:xfrm>
            <a:off x="4068763" y="3470275"/>
            <a:ext cx="2303462" cy="2751138"/>
            <a:chOff x="4212718" y="3163960"/>
            <a:chExt cx="2304255" cy="2751522"/>
          </a:xfrm>
        </p:grpSpPr>
        <p:sp>
          <p:nvSpPr>
            <p:cNvPr id="63497" name="Rectangle 13"/>
            <p:cNvSpPr>
              <a:spLocks noChangeArrowheads="1"/>
            </p:cNvSpPr>
            <p:nvPr/>
          </p:nvSpPr>
          <p:spPr bwMode="auto">
            <a:xfrm>
              <a:off x="4212718" y="3163960"/>
              <a:ext cx="2304255" cy="2751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1" algn="just">
                <a:lnSpc>
                  <a:spcPct val="120000"/>
                </a:lnSpc>
              </a:pPr>
              <a:r>
                <a:rPr lang="zh-CN" altLang="en-US" sz="2400">
                  <a:solidFill>
                    <a:srgbClr val="0000FF"/>
                  </a:solidFill>
                  <a:ea typeface="华文新魏" pitchFamily="2" charset="-122"/>
                </a:rPr>
                <a:t>测量元件</a:t>
              </a:r>
            </a:p>
            <a:p>
              <a:pPr lvl="1" algn="just">
                <a:lnSpc>
                  <a:spcPct val="120000"/>
                </a:lnSpc>
              </a:pPr>
              <a:r>
                <a:rPr lang="zh-CN" altLang="en-US" sz="2400">
                  <a:solidFill>
                    <a:srgbClr val="0000FF"/>
                  </a:solidFill>
                  <a:ea typeface="华文新魏" pitchFamily="2" charset="-122"/>
                </a:rPr>
                <a:t>比较元件</a:t>
              </a:r>
            </a:p>
            <a:p>
              <a:pPr lvl="1" algn="just">
                <a:lnSpc>
                  <a:spcPct val="120000"/>
                </a:lnSpc>
              </a:pPr>
              <a:r>
                <a:rPr lang="zh-CN" altLang="en-US" sz="2400">
                  <a:solidFill>
                    <a:srgbClr val="0070C0"/>
                  </a:solidFill>
                  <a:ea typeface="华文新魏" pitchFamily="2" charset="-122"/>
                </a:rPr>
                <a:t>放大元件</a:t>
              </a:r>
            </a:p>
            <a:p>
              <a:pPr lvl="1" algn="just">
                <a:lnSpc>
                  <a:spcPct val="120000"/>
                </a:lnSpc>
              </a:pPr>
              <a:r>
                <a:rPr lang="zh-CN" altLang="en-US" sz="2400">
                  <a:solidFill>
                    <a:srgbClr val="0000FF"/>
                  </a:solidFill>
                  <a:ea typeface="华文新魏" pitchFamily="2" charset="-122"/>
                </a:rPr>
                <a:t>执行机构</a:t>
              </a:r>
            </a:p>
            <a:p>
              <a:pPr lvl="1" algn="just">
                <a:lnSpc>
                  <a:spcPct val="120000"/>
                </a:lnSpc>
              </a:pPr>
              <a:r>
                <a:rPr lang="zh-CN" altLang="en-US" sz="2400">
                  <a:solidFill>
                    <a:srgbClr val="0070C0"/>
                  </a:solidFill>
                  <a:ea typeface="华文新魏" pitchFamily="2" charset="-122"/>
                </a:rPr>
                <a:t>校正装置</a:t>
              </a:r>
            </a:p>
            <a:p>
              <a:pPr lvl="1" algn="just">
                <a:lnSpc>
                  <a:spcPct val="120000"/>
                </a:lnSpc>
              </a:pPr>
              <a:r>
                <a:rPr lang="zh-CN" altLang="en-US" sz="2400">
                  <a:solidFill>
                    <a:srgbClr val="0070C0"/>
                  </a:solidFill>
                  <a:ea typeface="华文新魏" pitchFamily="2" charset="-122"/>
                </a:rPr>
                <a:t>给定元件</a:t>
              </a:r>
            </a:p>
          </p:txBody>
        </p:sp>
        <p:sp>
          <p:nvSpPr>
            <p:cNvPr id="63498" name="AutoShape 8"/>
            <p:cNvSpPr>
              <a:spLocks/>
            </p:cNvSpPr>
            <p:nvPr/>
          </p:nvSpPr>
          <p:spPr bwMode="auto">
            <a:xfrm>
              <a:off x="4394956" y="3230063"/>
              <a:ext cx="249810" cy="2526185"/>
            </a:xfrm>
            <a:prstGeom prst="leftBrace">
              <a:avLst>
                <a:gd name="adj1" fmla="val 68727"/>
                <a:gd name="adj2" fmla="val 50000"/>
              </a:avLst>
            </a:prstGeom>
            <a:noFill/>
            <a:ln w="9525">
              <a:solidFill>
                <a:srgbClr val="00206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000000"/>
                </a:solidFill>
              </a:endParaRPr>
            </a:p>
          </p:txBody>
        </p:sp>
      </p:grpSp>
      <p:pic>
        <p:nvPicPr>
          <p:cNvPr id="56335"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33913" y="592138"/>
            <a:ext cx="4081462" cy="2836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336"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0263" y="620713"/>
            <a:ext cx="4108450" cy="2836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3411090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10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125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6335"/>
                                        </p:tgtEl>
                                        <p:attrNameLst>
                                          <p:attrName>style.visibility</p:attrName>
                                        </p:attrNameLst>
                                      </p:cBhvr>
                                      <p:to>
                                        <p:strVal val="visible"/>
                                      </p:to>
                                    </p:set>
                                    <p:animEffect transition="in" filter="wipe(left)">
                                      <p:cBhvr>
                                        <p:cTn id="17" dur="500"/>
                                        <p:tgtEl>
                                          <p:spTgt spid="5633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125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6336"/>
                                        </p:tgtEl>
                                        <p:attrNameLst>
                                          <p:attrName>style.visibility</p:attrName>
                                        </p:attrNameLst>
                                      </p:cBhvr>
                                      <p:to>
                                        <p:strVal val="visible"/>
                                      </p:to>
                                    </p:set>
                                    <p:animEffect transition="in" filter="wipe(left)">
                                      <p:cBhvr>
                                        <p:cTn id="27" dur="500"/>
                                        <p:tgtEl>
                                          <p:spTgt spid="563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矩形 1"/>
          <p:cNvSpPr>
            <a:spLocks noChangeArrowheads="1"/>
          </p:cNvSpPr>
          <p:nvPr/>
        </p:nvSpPr>
        <p:spPr bwMode="auto">
          <a:xfrm>
            <a:off x="539750" y="644525"/>
            <a:ext cx="42306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200">
                <a:solidFill>
                  <a:srgbClr val="000000"/>
                </a:solidFill>
                <a:ea typeface="黑体" pitchFamily="2" charset="-122"/>
              </a:rPr>
              <a:t>1.4 </a:t>
            </a:r>
            <a:r>
              <a:rPr lang="zh-CN" altLang="en-US" sz="3200">
                <a:solidFill>
                  <a:srgbClr val="000000"/>
                </a:solidFill>
                <a:ea typeface="黑体" pitchFamily="2" charset="-122"/>
              </a:rPr>
              <a:t>控制系统的组成 </a:t>
            </a:r>
            <a:r>
              <a:rPr lang="en-US" altLang="zh-CN" sz="2400">
                <a:solidFill>
                  <a:srgbClr val="000000"/>
                </a:solidFill>
                <a:ea typeface="黑体" pitchFamily="2" charset="-122"/>
              </a:rPr>
              <a:t>(2)</a:t>
            </a:r>
            <a:endParaRPr lang="zh-CN" altLang="en-US" sz="2400">
              <a:solidFill>
                <a:srgbClr val="000000"/>
              </a:solidFill>
              <a:ea typeface="黑体" pitchFamily="2" charset="-122"/>
            </a:endParaRPr>
          </a:p>
        </p:txBody>
      </p:sp>
      <p:sp>
        <p:nvSpPr>
          <p:cNvPr id="64515" name="矩形 1"/>
          <p:cNvSpPr>
            <a:spLocks noChangeArrowheads="1"/>
          </p:cNvSpPr>
          <p:nvPr/>
        </p:nvSpPr>
        <p:spPr bwMode="auto">
          <a:xfrm>
            <a:off x="3203575" y="5457825"/>
            <a:ext cx="269875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a:solidFill>
                  <a:srgbClr val="000000"/>
                </a:solidFill>
                <a:latin typeface="华文隶书" pitchFamily="2" charset="-122"/>
                <a:ea typeface="华文隶书" pitchFamily="2" charset="-122"/>
              </a:rPr>
              <a:t>控制系统方框图</a:t>
            </a:r>
          </a:p>
        </p:txBody>
      </p:sp>
      <p:pic>
        <p:nvPicPr>
          <p:cNvPr id="645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025" y="1989138"/>
            <a:ext cx="7335838" cy="2833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80619997"/>
      </p:ext>
    </p:extLst>
  </p:cSld>
  <p:clrMapOvr>
    <a:masterClrMapping/>
  </p:clrMapOvr>
  <p:transition spd="slow"/>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rrowheads="1"/>
          </p:cNvSpPr>
          <p:nvPr>
            <p:ph type="title"/>
          </p:nvPr>
        </p:nvSpPr>
        <p:spPr/>
        <p:txBody>
          <a:bodyPr/>
          <a:lstStyle/>
          <a:p>
            <a:pPr eaLnBrk="1" hangingPunct="1"/>
            <a:endParaRPr lang="zh-CN" altLang="zh-CN" smtClean="0"/>
          </a:p>
        </p:txBody>
      </p:sp>
      <p:sp>
        <p:nvSpPr>
          <p:cNvPr id="65539" name="Rectangle 3"/>
          <p:cNvSpPr>
            <a:spLocks noGrp="1" noRot="1" noChangeArrowheads="1"/>
          </p:cNvSpPr>
          <p:nvPr>
            <p:ph type="body" idx="1"/>
          </p:nvPr>
        </p:nvSpPr>
        <p:spPr>
          <a:xfrm>
            <a:off x="301625" y="2349500"/>
            <a:ext cx="8540750" cy="3749675"/>
          </a:xfrm>
        </p:spPr>
        <p:txBody>
          <a:bodyPr/>
          <a:lstStyle/>
          <a:p>
            <a:pPr algn="ctr" eaLnBrk="1" hangingPunct="1"/>
            <a:r>
              <a:rPr lang="en-US" altLang="zh-CN" sz="4800" b="1" i="1" dirty="0" smtClean="0">
                <a:solidFill>
                  <a:schemeClr val="tx1"/>
                </a:solidFill>
                <a:hlinkClick r:id="rId2"/>
              </a:rPr>
              <a:t>https://v.qq.com/x/page/k03480zzbj3.html</a:t>
            </a:r>
            <a:endParaRPr lang="en-US" altLang="zh-CN" sz="4800" b="1" i="1" dirty="0" smtClean="0">
              <a:solidFill>
                <a:schemeClr val="tx1"/>
              </a:solidFill>
            </a:endParaRPr>
          </a:p>
          <a:p>
            <a:pPr algn="ctr" eaLnBrk="1" hangingPunct="1"/>
            <a:endParaRPr lang="en-US" altLang="zh-CN" sz="4800" b="1" i="1" dirty="0" smtClean="0">
              <a:solidFill>
                <a:schemeClr val="tx1"/>
              </a:solidFill>
            </a:endParaRPr>
          </a:p>
          <a:p>
            <a:pPr eaLnBrk="1" hangingPunct="1"/>
            <a:r>
              <a:rPr lang="zh-CN" altLang="en-US" b="0" dirty="0">
                <a:solidFill>
                  <a:schemeClr val="tx1"/>
                </a:solidFill>
                <a:latin typeface="微软雅黑" pitchFamily="34" charset="-122"/>
                <a:ea typeface="微软雅黑" pitchFamily="34" charset="-122"/>
              </a:rPr>
              <a:t>陈翰馥</a:t>
            </a:r>
            <a:r>
              <a:rPr lang="zh-CN" altLang="en-US" b="0" dirty="0" smtClean="0">
                <a:solidFill>
                  <a:schemeClr val="tx1"/>
                </a:solidFill>
                <a:latin typeface="微软雅黑" pitchFamily="34" charset="-122"/>
                <a:ea typeface="微软雅黑" pitchFamily="34" charset="-122"/>
              </a:rPr>
              <a:t>：</a:t>
            </a:r>
            <a:endParaRPr lang="en-US" altLang="zh-CN" b="0" dirty="0" smtClean="0">
              <a:solidFill>
                <a:schemeClr val="tx1"/>
              </a:solidFill>
              <a:latin typeface="微软雅黑" pitchFamily="34" charset="-122"/>
              <a:ea typeface="微软雅黑" pitchFamily="34" charset="-122"/>
            </a:endParaRPr>
          </a:p>
          <a:p>
            <a:pPr eaLnBrk="1" hangingPunct="1"/>
            <a:r>
              <a:rPr lang="zh-CN" altLang="en-US" sz="2800" b="0" dirty="0" smtClean="0">
                <a:solidFill>
                  <a:schemeClr val="tx1"/>
                </a:solidFill>
                <a:latin typeface="微软雅黑" pitchFamily="34" charset="-122"/>
                <a:ea typeface="微软雅黑" pitchFamily="34" charset="-122"/>
              </a:rPr>
              <a:t>自动控制</a:t>
            </a:r>
            <a:r>
              <a:rPr lang="zh-CN" altLang="en-US" sz="2800" b="0" dirty="0">
                <a:solidFill>
                  <a:schemeClr val="tx1"/>
                </a:solidFill>
                <a:latin typeface="微软雅黑" pitchFamily="34" charset="-122"/>
                <a:ea typeface="微软雅黑" pitchFamily="34" charset="-122"/>
              </a:rPr>
              <a:t>理论的发展变迁和前沿方向</a:t>
            </a:r>
            <a:endParaRPr lang="en-US" altLang="zh-CN" sz="2800" b="1" i="1" dirty="0" smtClean="0">
              <a:solidFill>
                <a:schemeClr val="tx1"/>
              </a:solidFill>
              <a:latin typeface="微软雅黑" pitchFamily="34" charset="-122"/>
              <a:ea typeface="微软雅黑" pitchFamily="34" charset="-122"/>
            </a:endParaRPr>
          </a:p>
        </p:txBody>
      </p:sp>
      <p:pic>
        <p:nvPicPr>
          <p:cNvPr id="39526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0972" t="42963" r="15000" b="22963"/>
          <a:stretch/>
        </p:blipFill>
        <p:spPr bwMode="auto">
          <a:xfrm>
            <a:off x="6804248" y="3789040"/>
            <a:ext cx="1710267" cy="233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1859384"/>
      </p:ext>
    </p:extLst>
  </p:cSld>
  <p:clrMapOvr>
    <a:masterClrMapping/>
  </p:clrMapOvr>
  <p:transition spd="slow"/>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ChangeArrowheads="1"/>
          </p:cNvSpPr>
          <p:nvPr/>
        </p:nvSpPr>
        <p:spPr bwMode="auto">
          <a:xfrm>
            <a:off x="0" y="1574800"/>
            <a:ext cx="9144000" cy="5270500"/>
          </a:xfrm>
          <a:prstGeom prst="rect">
            <a:avLst/>
          </a:prstGeom>
          <a:noFill/>
          <a:ln>
            <a:noFill/>
          </a:ln>
          <a:effectLst>
            <a:outerShdw dist="45791" dir="2021404" algn="ctr" rotWithShape="0">
              <a:schemeClr val="bg2">
                <a:alpha val="50000"/>
              </a:schemeClr>
            </a:outerShdw>
          </a:effectLst>
          <a:extLst/>
        </p:spPr>
        <p:txBody>
          <a:bodyPr anchor="ctr"/>
          <a:lstStyle/>
          <a:p>
            <a:pPr algn="ctr">
              <a:lnSpc>
                <a:spcPct val="100000"/>
              </a:lnSpc>
              <a:spcBef>
                <a:spcPct val="0"/>
              </a:spcBef>
            </a:pPr>
            <a:endParaRPr kumimoji="1" lang="zh-CN" altLang="zh-CN" sz="9600">
              <a:ea typeface="华文新魏" pitchFamily="2" charset="-122"/>
            </a:endParaRPr>
          </a:p>
        </p:txBody>
      </p:sp>
      <p:sp>
        <p:nvSpPr>
          <p:cNvPr id="286723" name="Rectangle 3"/>
          <p:cNvSpPr>
            <a:spLocks noGrp="1" noChangeArrowheads="1"/>
          </p:cNvSpPr>
          <p:nvPr>
            <p:ph type="title"/>
          </p:nvPr>
        </p:nvSpPr>
        <p:spPr>
          <a:xfrm>
            <a:off x="0" y="952500"/>
            <a:ext cx="9144000" cy="533400"/>
          </a:xfrm>
          <a:noFill/>
        </p:spPr>
        <p:txBody>
          <a:bodyPr/>
          <a:lstStyle/>
          <a:p>
            <a:pPr algn="ctr"/>
            <a:r>
              <a:rPr lang="zh-CN" altLang="en-US" sz="4000" dirty="0">
                <a:ea typeface="华文新魏" pitchFamily="2" charset="-122"/>
              </a:rPr>
              <a:t>课  程 小 结</a:t>
            </a:r>
          </a:p>
        </p:txBody>
      </p:sp>
      <p:sp>
        <p:nvSpPr>
          <p:cNvPr id="286724" name="Rectangle 4"/>
          <p:cNvSpPr>
            <a:spLocks noChangeArrowheads="1"/>
          </p:cNvSpPr>
          <p:nvPr/>
        </p:nvSpPr>
        <p:spPr bwMode="auto">
          <a:xfrm>
            <a:off x="1426096" y="1700808"/>
            <a:ext cx="6629400" cy="4760790"/>
          </a:xfrm>
          <a:prstGeom prst="rect">
            <a:avLst/>
          </a:prstGeom>
          <a:noFill/>
          <a:ln>
            <a:noFill/>
          </a:ln>
          <a:effectLst/>
          <a:extLst>
            <a:ext uri="{909E8E84-426E-40DD-AFC4-6F175D3DCCD1}">
              <a14:hiddenFill xmlns:a14="http://schemas.microsoft.com/office/drawing/2010/main">
                <a:gradFill rotWithShape="0">
                  <a:gsLst>
                    <a:gs pos="0">
                      <a:srgbClr val="CCFFFF"/>
                    </a:gs>
                    <a:gs pos="50000">
                      <a:srgbClr val="CCFFFF">
                        <a:gamma/>
                        <a:tint val="28627"/>
                        <a:invGamma/>
                      </a:srgbClr>
                    </a:gs>
                    <a:gs pos="100000">
                      <a:srgbClr val="CCFFFF"/>
                    </a:gs>
                  </a:gsLst>
                  <a:lin ang="2700000" scaled="1"/>
                </a:gradFill>
              </a14:hiddenFill>
            </a:ext>
            <a:ext uri="{91240B29-F687-4F45-9708-019B960494DF}">
              <a14:hiddenLine xmlns:a14="http://schemas.microsoft.com/office/drawing/2010/main" w="9525">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ts val="2800"/>
              </a:lnSpc>
              <a:spcBef>
                <a:spcPct val="30000"/>
              </a:spcBef>
            </a:pPr>
            <a:r>
              <a:rPr lang="en-US" altLang="zh-CN" sz="2800" dirty="0">
                <a:solidFill>
                  <a:srgbClr val="FF0000"/>
                </a:solidFill>
              </a:rPr>
              <a:t>1. </a:t>
            </a:r>
            <a:r>
              <a:rPr lang="zh-CN" altLang="en-US" sz="2800" dirty="0">
                <a:solidFill>
                  <a:srgbClr val="FF0000"/>
                </a:solidFill>
              </a:rPr>
              <a:t>自动控制的一般概念</a:t>
            </a:r>
          </a:p>
          <a:p>
            <a:pPr algn="just">
              <a:lnSpc>
                <a:spcPts val="2800"/>
              </a:lnSpc>
              <a:spcBef>
                <a:spcPct val="30000"/>
              </a:spcBef>
            </a:pPr>
            <a:r>
              <a:rPr lang="zh-CN" altLang="en-US" sz="2800" dirty="0">
                <a:solidFill>
                  <a:srgbClr val="FFFF00"/>
                </a:solidFill>
              </a:rPr>
              <a:t>    </a:t>
            </a:r>
            <a:r>
              <a:rPr lang="zh-CN" altLang="en-US" sz="2800" dirty="0">
                <a:solidFill>
                  <a:srgbClr val="FFC000"/>
                </a:solidFill>
              </a:rPr>
              <a:t>基本控制方式</a:t>
            </a:r>
          </a:p>
          <a:p>
            <a:pPr algn="just">
              <a:lnSpc>
                <a:spcPts val="2800"/>
              </a:lnSpc>
              <a:spcBef>
                <a:spcPct val="30000"/>
              </a:spcBef>
            </a:pPr>
            <a:r>
              <a:rPr lang="zh-CN" altLang="en-US" sz="2800" dirty="0">
                <a:solidFill>
                  <a:srgbClr val="FFC000"/>
                </a:solidFill>
              </a:rPr>
              <a:t>    控制系统的基本组成</a:t>
            </a:r>
          </a:p>
          <a:p>
            <a:pPr algn="just">
              <a:lnSpc>
                <a:spcPts val="2800"/>
              </a:lnSpc>
              <a:spcBef>
                <a:spcPct val="30000"/>
              </a:spcBef>
            </a:pPr>
            <a:r>
              <a:rPr lang="zh-CN" altLang="en-US" sz="2800" dirty="0"/>
              <a:t>    </a:t>
            </a:r>
            <a:r>
              <a:rPr lang="zh-CN" altLang="en-US" sz="2800" dirty="0">
                <a:solidFill>
                  <a:schemeClr val="accent6"/>
                </a:solidFill>
              </a:rPr>
              <a:t>控制系统的分类</a:t>
            </a:r>
          </a:p>
          <a:p>
            <a:pPr algn="just">
              <a:lnSpc>
                <a:spcPts val="2800"/>
              </a:lnSpc>
              <a:spcBef>
                <a:spcPct val="30000"/>
              </a:spcBef>
            </a:pPr>
            <a:r>
              <a:rPr lang="zh-CN" altLang="en-US" sz="2800" dirty="0">
                <a:solidFill>
                  <a:schemeClr val="accent6"/>
                </a:solidFill>
              </a:rPr>
              <a:t>    对控制系统的要求</a:t>
            </a:r>
          </a:p>
          <a:p>
            <a:pPr algn="just">
              <a:lnSpc>
                <a:spcPts val="2800"/>
              </a:lnSpc>
              <a:spcBef>
                <a:spcPct val="30000"/>
              </a:spcBef>
            </a:pPr>
            <a:r>
              <a:rPr lang="zh-CN" altLang="en-US" sz="2800" dirty="0">
                <a:solidFill>
                  <a:schemeClr val="accent6"/>
                </a:solidFill>
              </a:rPr>
              <a:t>    课程研究的内容</a:t>
            </a:r>
          </a:p>
          <a:p>
            <a:pPr algn="just">
              <a:lnSpc>
                <a:spcPts val="2800"/>
              </a:lnSpc>
              <a:spcBef>
                <a:spcPct val="30000"/>
              </a:spcBef>
            </a:pPr>
            <a:endParaRPr lang="zh-CN" altLang="en-US" sz="800" dirty="0"/>
          </a:p>
          <a:p>
            <a:pPr algn="just">
              <a:lnSpc>
                <a:spcPts val="2800"/>
              </a:lnSpc>
              <a:spcBef>
                <a:spcPct val="30000"/>
              </a:spcBef>
            </a:pPr>
            <a:r>
              <a:rPr lang="en-US" altLang="zh-CN" sz="2800" dirty="0">
                <a:solidFill>
                  <a:srgbClr val="FF0000"/>
                </a:solidFill>
              </a:rPr>
              <a:t>2. </a:t>
            </a:r>
            <a:r>
              <a:rPr lang="zh-CN" altLang="en-US" sz="2800" dirty="0">
                <a:solidFill>
                  <a:srgbClr val="FF0000"/>
                </a:solidFill>
              </a:rPr>
              <a:t>要求掌握的知识点</a:t>
            </a:r>
          </a:p>
          <a:p>
            <a:pPr algn="just">
              <a:lnSpc>
                <a:spcPts val="2800"/>
              </a:lnSpc>
              <a:spcBef>
                <a:spcPct val="30000"/>
              </a:spcBef>
            </a:pPr>
            <a:r>
              <a:rPr lang="zh-CN" altLang="en-US" sz="2800" dirty="0">
                <a:solidFill>
                  <a:srgbClr val="FF0000"/>
                </a:solidFill>
              </a:rPr>
              <a:t>    </a:t>
            </a:r>
            <a:r>
              <a:rPr lang="zh-CN" altLang="en-US" sz="2800" dirty="0">
                <a:solidFill>
                  <a:srgbClr val="FFC000"/>
                </a:solidFill>
              </a:rPr>
              <a:t>负反馈控制系统的特点及原理</a:t>
            </a:r>
          </a:p>
          <a:p>
            <a:pPr algn="just">
              <a:lnSpc>
                <a:spcPts val="2800"/>
              </a:lnSpc>
              <a:spcBef>
                <a:spcPct val="30000"/>
              </a:spcBef>
            </a:pPr>
            <a:r>
              <a:rPr lang="zh-CN" altLang="en-US" sz="2800" dirty="0">
                <a:solidFill>
                  <a:srgbClr val="FFC000"/>
                </a:solidFill>
              </a:rPr>
              <a:t>    由系统工作原理图绘制方框图</a:t>
            </a:r>
          </a:p>
        </p:txBody>
      </p:sp>
    </p:spTree>
    <p:extLst>
      <p:ext uri="{BB962C8B-B14F-4D97-AF65-F5344CB8AC3E}">
        <p14:creationId xmlns:p14="http://schemas.microsoft.com/office/powerpoint/2010/main" val="17738044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p:cNvSpPr>
            <a:spLocks noChangeArrowheads="1"/>
          </p:cNvSpPr>
          <p:nvPr/>
        </p:nvSpPr>
        <p:spPr bwMode="auto">
          <a:xfrm>
            <a:off x="0" y="1587500"/>
            <a:ext cx="9144000" cy="5270500"/>
          </a:xfrm>
          <a:prstGeom prst="rect">
            <a:avLst/>
          </a:prstGeom>
          <a:noFill/>
          <a:ln>
            <a:noFill/>
          </a:ln>
          <a:effectLst>
            <a:outerShdw dist="45791" dir="2021404" algn="ctr" rotWithShape="0">
              <a:schemeClr val="bg2">
                <a:alpha val="50000"/>
              </a:schemeClr>
            </a:outerShdw>
          </a:effectLst>
          <a:extLst/>
        </p:spPr>
        <p:txBody>
          <a:bodyPr anchor="ctr"/>
          <a:lstStyle/>
          <a:p>
            <a:pPr algn="ctr">
              <a:lnSpc>
                <a:spcPct val="100000"/>
              </a:lnSpc>
              <a:spcBef>
                <a:spcPct val="0"/>
              </a:spcBef>
            </a:pPr>
            <a:endParaRPr kumimoji="1" lang="zh-CN" altLang="zh-CN" sz="9600">
              <a:ea typeface="华文新魏" pitchFamily="2" charset="-122"/>
            </a:endParaRPr>
          </a:p>
        </p:txBody>
      </p:sp>
      <p:sp>
        <p:nvSpPr>
          <p:cNvPr id="272387" name="Rectangle 3"/>
          <p:cNvSpPr>
            <a:spLocks noGrp="1" noChangeArrowheads="1"/>
          </p:cNvSpPr>
          <p:nvPr>
            <p:ph type="title"/>
          </p:nvPr>
        </p:nvSpPr>
        <p:spPr>
          <a:xfrm>
            <a:off x="25400" y="952500"/>
            <a:ext cx="9067800" cy="533400"/>
          </a:xfrm>
          <a:noFill/>
        </p:spPr>
        <p:txBody>
          <a:bodyPr/>
          <a:lstStyle/>
          <a:p>
            <a:pPr algn="ctr"/>
            <a:r>
              <a:rPr lang="zh-CN" altLang="en-US" sz="4000" dirty="0">
                <a:ea typeface="华文新魏" pitchFamily="2" charset="-122"/>
              </a:rPr>
              <a:t>自动控制原理</a:t>
            </a:r>
          </a:p>
        </p:txBody>
      </p:sp>
      <p:sp>
        <p:nvSpPr>
          <p:cNvPr id="272388" name="Rectangle 4"/>
          <p:cNvSpPr>
            <a:spLocks noGrp="1" noChangeArrowheads="1"/>
          </p:cNvSpPr>
          <p:nvPr>
            <p:ph type="body" idx="1"/>
          </p:nvPr>
        </p:nvSpPr>
        <p:spPr>
          <a:xfrm>
            <a:off x="683568" y="3055144"/>
            <a:ext cx="7920880" cy="1354137"/>
          </a:xfrm>
          <a:noFill/>
        </p:spPr>
        <p:txBody>
          <a:bodyPr/>
          <a:lstStyle/>
          <a:p>
            <a:pPr algn="ctr">
              <a:lnSpc>
                <a:spcPct val="90000"/>
              </a:lnSpc>
              <a:buNone/>
            </a:pPr>
            <a:r>
              <a:rPr lang="en-US" altLang="zh-CN" sz="5400" kern="1200" dirty="0">
                <a:solidFill>
                  <a:schemeClr val="accent6"/>
                </a:solidFill>
                <a:latin typeface="华文新魏" pitchFamily="2" charset="-122"/>
                <a:ea typeface="华文新魏" pitchFamily="2" charset="-122"/>
              </a:rPr>
              <a:t>1—1, 2, 3</a:t>
            </a:r>
          </a:p>
          <a:p>
            <a:pPr algn="ctr">
              <a:lnSpc>
                <a:spcPct val="90000"/>
              </a:lnSpc>
              <a:buNone/>
            </a:pPr>
            <a:r>
              <a:rPr lang="zh-CN" altLang="en-US" sz="5400" kern="1200" dirty="0">
                <a:solidFill>
                  <a:schemeClr val="accent6"/>
                </a:solidFill>
                <a:latin typeface="华文新魏" pitchFamily="2" charset="-122"/>
                <a:ea typeface="华文新魏" pitchFamily="2" charset="-122"/>
              </a:rPr>
              <a:t>观看</a:t>
            </a:r>
            <a:r>
              <a:rPr lang="en-US" altLang="zh-CN" sz="5400" kern="1200" dirty="0" err="1">
                <a:solidFill>
                  <a:schemeClr val="accent6"/>
                </a:solidFill>
                <a:latin typeface="华文新魏" pitchFamily="2" charset="-122"/>
                <a:ea typeface="华文新魏" pitchFamily="2" charset="-122"/>
              </a:rPr>
              <a:t>Mook</a:t>
            </a:r>
            <a:r>
              <a:rPr lang="zh-CN" altLang="en-US" sz="5400" kern="1200" dirty="0">
                <a:solidFill>
                  <a:schemeClr val="accent6"/>
                </a:solidFill>
                <a:latin typeface="华文新魏" pitchFamily="2" charset="-122"/>
                <a:ea typeface="华文新魏" pitchFamily="2" charset="-122"/>
              </a:rPr>
              <a:t>视频：</a:t>
            </a:r>
            <a:endParaRPr lang="en-US" altLang="zh-CN" sz="5400" kern="1200" dirty="0">
              <a:solidFill>
                <a:schemeClr val="accent6"/>
              </a:solidFill>
              <a:latin typeface="华文新魏" pitchFamily="2" charset="-122"/>
              <a:ea typeface="华文新魏" pitchFamily="2" charset="-122"/>
            </a:endParaRPr>
          </a:p>
          <a:p>
            <a:pPr algn="ctr">
              <a:lnSpc>
                <a:spcPct val="90000"/>
              </a:lnSpc>
              <a:buNone/>
            </a:pPr>
            <a:r>
              <a:rPr lang="zh-CN" altLang="en-US" sz="5400" kern="1200" dirty="0">
                <a:solidFill>
                  <a:schemeClr val="accent6"/>
                </a:solidFill>
                <a:latin typeface="华文新魏" pitchFamily="2" charset="-122"/>
                <a:ea typeface="华文新魏" pitchFamily="2" charset="-122"/>
              </a:rPr>
              <a:t>第一章第一节，第三节</a:t>
            </a:r>
            <a:endParaRPr lang="en-US" altLang="zh-CN" sz="5400" kern="1200" dirty="0">
              <a:solidFill>
                <a:schemeClr val="accent6"/>
              </a:solidFill>
              <a:latin typeface="华文新魏" pitchFamily="2" charset="-122"/>
              <a:ea typeface="华文新魏" pitchFamily="2" charset="-122"/>
            </a:endParaRPr>
          </a:p>
          <a:p>
            <a:pPr>
              <a:lnSpc>
                <a:spcPct val="90000"/>
              </a:lnSpc>
              <a:buFontTx/>
              <a:buNone/>
            </a:pPr>
            <a:endParaRPr lang="en-US" altLang="zh-CN" sz="7200" dirty="0" smtClean="0">
              <a:solidFill>
                <a:schemeClr val="accent6"/>
              </a:solidFill>
            </a:endParaRPr>
          </a:p>
        </p:txBody>
      </p:sp>
      <p:sp>
        <p:nvSpPr>
          <p:cNvPr id="272389" name="Rectangle 5"/>
          <p:cNvSpPr>
            <a:spLocks noChangeArrowheads="1"/>
          </p:cNvSpPr>
          <p:nvPr/>
        </p:nvSpPr>
        <p:spPr bwMode="auto">
          <a:xfrm>
            <a:off x="1761563" y="1587500"/>
            <a:ext cx="5867400" cy="1233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lnSpc>
                <a:spcPct val="100000"/>
              </a:lnSpc>
              <a:spcBef>
                <a:spcPct val="0"/>
              </a:spcBef>
            </a:pPr>
            <a:r>
              <a:rPr lang="zh-CN" altLang="en-US" sz="6000" dirty="0">
                <a:solidFill>
                  <a:srgbClr val="FF0000"/>
                </a:solidFill>
                <a:ea typeface="方正舒体" pitchFamily="2" charset="-122"/>
              </a:rPr>
              <a:t>本次课程作业</a:t>
            </a:r>
            <a:r>
              <a:rPr lang="zh-CN" altLang="en-US" sz="2400" dirty="0">
                <a:solidFill>
                  <a:srgbClr val="FF0000"/>
                </a:solidFill>
                <a:ea typeface="方正舒体" pitchFamily="2" charset="-122"/>
              </a:rPr>
              <a:t>（</a:t>
            </a:r>
            <a:r>
              <a:rPr lang="en-US" altLang="zh-CN" sz="2400" dirty="0">
                <a:solidFill>
                  <a:srgbClr val="FF0000"/>
                </a:solidFill>
                <a:ea typeface="方正舒体" pitchFamily="2" charset="-122"/>
              </a:rPr>
              <a:t>1</a:t>
            </a:r>
            <a:r>
              <a:rPr lang="zh-CN" altLang="en-US" sz="2400" dirty="0">
                <a:solidFill>
                  <a:srgbClr val="FF0000"/>
                </a:solidFill>
                <a:ea typeface="方正舒体" pitchFamily="2" charset="-122"/>
              </a:rPr>
              <a:t>）</a:t>
            </a:r>
          </a:p>
        </p:txBody>
      </p:sp>
    </p:spTree>
    <p:extLst>
      <p:ext uri="{BB962C8B-B14F-4D97-AF65-F5344CB8AC3E}">
        <p14:creationId xmlns:p14="http://schemas.microsoft.com/office/powerpoint/2010/main" val="274710728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47138" name="Picture 2" descr="DSC04880"/>
          <p:cNvPicPr>
            <a:picLocks noGrp="1" noChangeAspect="1" noChangeArrowheads="1"/>
          </p:cNvPicPr>
          <p:nvPr>
            <p:ph/>
          </p:nvPr>
        </p:nvPicPr>
        <p:blipFill>
          <a:blip r:embed="rId2">
            <a:extLst>
              <a:ext uri="{28A0092B-C50C-407E-A947-70E740481C1C}">
                <a14:useLocalDpi xmlns:a14="http://schemas.microsoft.com/office/drawing/2010/main" val="0"/>
              </a:ext>
            </a:extLst>
          </a:blip>
          <a:srcRect/>
          <a:stretch>
            <a:fillRect/>
          </a:stretch>
        </p:blipFill>
        <p:spPr>
          <a:xfrm>
            <a:off x="0" y="0"/>
            <a:ext cx="9144000" cy="68040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47139" name="WordArt 3"/>
          <p:cNvSpPr>
            <a:spLocks noChangeArrowheads="1" noChangeShapeType="1" noTextEdit="1"/>
          </p:cNvSpPr>
          <p:nvPr/>
        </p:nvSpPr>
        <p:spPr bwMode="auto">
          <a:xfrm>
            <a:off x="323850" y="836613"/>
            <a:ext cx="5903913" cy="3167062"/>
          </a:xfrm>
          <a:prstGeom prst="rect">
            <a:avLst/>
          </a:prstGeom>
          <a:extLst>
            <a:ext uri="{AF507438-7753-43E0-B8FC-AC1667EBCBE1}">
              <a14:hiddenEffects xmlns:a14="http://schemas.microsoft.com/office/drawing/2010/main">
                <a:effectLst/>
              </a14:hiddenEffects>
            </a:ext>
          </a:extLst>
        </p:spPr>
        <p:txBody>
          <a:bodyPr wrap="none" fromWordArt="1">
            <a:prstTxWarp prst="textCascadeUp">
              <a:avLst>
                <a:gd name="adj" fmla="val 61718"/>
              </a:avLst>
            </a:prstTxWarp>
            <a:scene3d>
              <a:camera prst="legacyPerspectiveFront">
                <a:rot lat="20519999" lon="1080000" rev="0"/>
              </a:camera>
              <a:lightRig rig="legacyHarsh2" dir="b"/>
            </a:scene3d>
            <a:sp3d extrusionH="430200" prstMaterial="legacyMatte">
              <a:extrusionClr>
                <a:srgbClr val="FF6600"/>
              </a:extrusionClr>
            </a:sp3d>
          </a:bodyPr>
          <a:lstStyle/>
          <a:p>
            <a:pPr algn="ctr"/>
            <a:r>
              <a:rPr lang="zh-CN" altLang="en-US" sz="9600" kern="10">
                <a:ln w="9525">
                  <a:round/>
                  <a:headEnd/>
                  <a:tailEnd/>
                </a:ln>
                <a:gradFill rotWithShape="1">
                  <a:gsLst>
                    <a:gs pos="0">
                      <a:srgbClr val="FF33CC"/>
                    </a:gs>
                    <a:gs pos="100000">
                      <a:schemeClr val="bg1"/>
                    </a:gs>
                  </a:gsLst>
                  <a:lin ang="5400000" scaled="1"/>
                </a:gradFill>
                <a:latin typeface="华文行楷"/>
                <a:ea typeface="华文行楷"/>
              </a:rPr>
              <a:t>谢谢 ！</a:t>
            </a:r>
          </a:p>
        </p:txBody>
      </p:sp>
      <p:sp>
        <p:nvSpPr>
          <p:cNvPr id="347140" name="Rectangle 4"/>
          <p:cNvSpPr>
            <a:spLocks noGrp="1" noChangeArrowheads="1"/>
          </p:cNvSpPr>
          <p:nvPr>
            <p:ph type="title" idx="4294967295"/>
          </p:nvPr>
        </p:nvSpPr>
        <p:spPr/>
        <p:txBody>
          <a:bodyPr/>
          <a:lstStyle/>
          <a:p>
            <a:r>
              <a:rPr lang="en-US" altLang="zh-CN"/>
              <a:t>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9" presetClass="entr" presetSubtype="10" fill="hold" grpId="0" nodeType="afterEffect">
                                  <p:stCondLst>
                                    <p:cond delay="0"/>
                                  </p:stCondLst>
                                  <p:childTnLst>
                                    <p:set>
                                      <p:cBhvr>
                                        <p:cTn id="6" dur="1" fill="hold">
                                          <p:stCondLst>
                                            <p:cond delay="0"/>
                                          </p:stCondLst>
                                        </p:cTn>
                                        <p:tgtEl>
                                          <p:spTgt spid="347139"/>
                                        </p:tgtEl>
                                        <p:attrNameLst>
                                          <p:attrName>style.visibility</p:attrName>
                                        </p:attrNameLst>
                                      </p:cBhvr>
                                      <p:to>
                                        <p:strVal val="visible"/>
                                      </p:to>
                                    </p:set>
                                    <p:anim calcmode="lin" valueType="num">
                                      <p:cBhvr>
                                        <p:cTn id="7" dur="5000" fill="hold"/>
                                        <p:tgtEl>
                                          <p:spTgt spid="347139"/>
                                        </p:tgtEl>
                                        <p:attrNameLst>
                                          <p:attrName>ppt_w</p:attrName>
                                        </p:attrNameLst>
                                      </p:cBhvr>
                                      <p:tavLst>
                                        <p:tav tm="0" fmla="#ppt_w*sin(2.5*pi*$)">
                                          <p:val>
                                            <p:fltVal val="0"/>
                                          </p:val>
                                        </p:tav>
                                        <p:tav tm="100000">
                                          <p:val>
                                            <p:fltVal val="1"/>
                                          </p:val>
                                        </p:tav>
                                      </p:tavLst>
                                    </p:anim>
                                    <p:anim calcmode="lin" valueType="num">
                                      <p:cBhvr>
                                        <p:cTn id="8" dur="5000" fill="hold"/>
                                        <p:tgtEl>
                                          <p:spTgt spid="34713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39"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863">
  <a:themeElements>
    <a:clrScheme name="863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863">
      <a:majorFont>
        <a:latin typeface="Times New Roman"/>
        <a:ea typeface="方正姚体"/>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50000">
              <a:schemeClr val="bg1"/>
            </a:gs>
            <a:gs pos="100000">
              <a:schemeClr val="accent1"/>
            </a:gs>
          </a:gsLst>
          <a:lin ang="2700000" scaled="1"/>
        </a:gra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just" defTabSz="914400" rtl="0" eaLnBrk="1" fontAlgn="base" latinLnBrk="0" hangingPunct="1">
          <a:lnSpc>
            <a:spcPct val="150000"/>
          </a:lnSpc>
          <a:spcBef>
            <a:spcPct val="20000"/>
          </a:spcBef>
          <a:spcAft>
            <a:spcPct val="0"/>
          </a:spcAft>
          <a:buClrTx/>
          <a:buSzTx/>
          <a:buFontTx/>
          <a:buNone/>
          <a:tabLst/>
          <a:defRPr kumimoji="0" lang="zh-CN" altLang="en-US" sz="3400" b="1" i="0" u="none" strike="noStrike" cap="none" normalizeH="0" baseline="0" smtClean="0">
            <a:ln>
              <a:noFill/>
            </a:ln>
            <a:solidFill>
              <a:schemeClr val="tx1"/>
            </a:solidFill>
            <a:effectLst/>
            <a:latin typeface="Times New Roman" pitchFamily="18" charset="0"/>
            <a:ea typeface="华文新魏" pitchFamily="2" charset="-122"/>
          </a:defRPr>
        </a:defPPr>
      </a:lstStyle>
    </a:spDef>
    <a:lnDef>
      <a:spPr bwMode="auto">
        <a:xfrm>
          <a:off x="0" y="0"/>
          <a:ext cx="1" cy="1"/>
        </a:xfrm>
        <a:custGeom>
          <a:avLst/>
          <a:gdLst/>
          <a:ahLst/>
          <a:cxnLst/>
          <a:rect l="0" t="0" r="0" b="0"/>
          <a:pathLst/>
        </a:custGeom>
        <a:gradFill rotWithShape="0">
          <a:gsLst>
            <a:gs pos="0">
              <a:schemeClr val="accent1"/>
            </a:gs>
            <a:gs pos="50000">
              <a:schemeClr val="bg1"/>
            </a:gs>
            <a:gs pos="100000">
              <a:schemeClr val="accent1"/>
            </a:gs>
          </a:gsLst>
          <a:lin ang="2700000" scaled="1"/>
        </a:gra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just" defTabSz="914400" rtl="0" eaLnBrk="1" fontAlgn="base" latinLnBrk="0" hangingPunct="1">
          <a:lnSpc>
            <a:spcPct val="150000"/>
          </a:lnSpc>
          <a:spcBef>
            <a:spcPct val="20000"/>
          </a:spcBef>
          <a:spcAft>
            <a:spcPct val="0"/>
          </a:spcAft>
          <a:buClrTx/>
          <a:buSzTx/>
          <a:buFontTx/>
          <a:buNone/>
          <a:tabLst/>
          <a:defRPr kumimoji="0" lang="zh-CN" altLang="en-US" sz="3400" b="1" i="0" u="none" strike="noStrike" cap="none" normalizeH="0" baseline="0" smtClean="0">
            <a:ln>
              <a:noFill/>
            </a:ln>
            <a:solidFill>
              <a:schemeClr val="tx1"/>
            </a:solidFill>
            <a:effectLst/>
            <a:latin typeface="Times New Roman" pitchFamily="18" charset="0"/>
            <a:ea typeface="华文新魏" pitchFamily="2" charset="-122"/>
          </a:defRPr>
        </a:defPPr>
      </a:lstStyle>
    </a:lnDef>
  </a:objectDefaults>
  <a:extraClrSchemeLst>
    <a:extraClrScheme>
      <a:clrScheme name="863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863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863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863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863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863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863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CDESIGNL</Template>
  <TotalTime>11093</TotalTime>
  <Words>3103</Words>
  <Application>Microsoft Office PowerPoint</Application>
  <PresentationFormat>全屏显示(4:3)</PresentationFormat>
  <Paragraphs>409</Paragraphs>
  <Slides>62</Slides>
  <Notes>2</Notes>
  <HiddenSlides>1</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62</vt:i4>
      </vt:variant>
    </vt:vector>
  </HeadingPairs>
  <TitlesOfParts>
    <vt:vector size="65" baseType="lpstr">
      <vt:lpstr>863</vt:lpstr>
      <vt:lpstr>BMP 图像</vt:lpstr>
      <vt:lpstr>Equation</vt:lpstr>
      <vt:lpstr>PowerPoint 演示文稿</vt:lpstr>
      <vt:lpstr>自动控制原理</vt:lpstr>
      <vt:lpstr>自动控制原理</vt:lpstr>
      <vt:lpstr>简介</vt:lpstr>
      <vt:lpstr>使用教材</vt:lpstr>
      <vt:lpstr>先修课程</vt:lpstr>
      <vt:lpstr>课程要求</vt:lpstr>
      <vt:lpstr>课程学习有关事宜</vt:lpstr>
      <vt:lpstr>自动控制原理课程的任务与体系结构</vt:lpstr>
      <vt:lpstr>第一章  自动控制的一般概念</vt:lpstr>
      <vt:lpstr>§1.1 引言</vt:lpstr>
      <vt:lpstr>PowerPoint 演示文稿</vt:lpstr>
      <vt:lpstr>自动控制原理课程的任务与体系结构</vt:lpstr>
      <vt:lpstr>§1.2  自动控制理论发展概述 </vt:lpstr>
      <vt:lpstr>PowerPoint 演示文稿</vt:lpstr>
      <vt:lpstr>调速器工作原理图</vt:lpstr>
      <vt:lpstr>PowerPoint 演示文稿</vt:lpstr>
      <vt:lpstr>PowerPoint 演示文稿</vt:lpstr>
      <vt:lpstr>PowerPoint 演示文稿</vt:lpstr>
      <vt:lpstr>PowerPoint 演示文稿</vt:lpstr>
      <vt:lpstr>PowerPoint 演示文稿</vt:lpstr>
      <vt:lpstr>PowerPoint 演示文稿</vt:lpstr>
      <vt:lpstr>飞机-自动驾驶仪系统 </vt:lpstr>
      <vt:lpstr>现代控制理论</vt:lpstr>
      <vt:lpstr>现代控制理论</vt:lpstr>
      <vt:lpstr>现代控制理论</vt:lpstr>
      <vt:lpstr>智能控制理论</vt:lpstr>
      <vt:lpstr>PowerPoint 演示文稿</vt:lpstr>
      <vt:lpstr>PowerPoint 演示文稿</vt:lpstr>
      <vt:lpstr>PowerPoint 演示文稿</vt:lpstr>
      <vt:lpstr>PowerPoint 演示文稿</vt:lpstr>
      <vt:lpstr>PowerPoint 演示文稿</vt:lpstr>
      <vt:lpstr>自动控制理论发展简史</vt:lpstr>
      <vt:lpstr>自动控制原理</vt:lpstr>
      <vt:lpstr>1.3 自动控制和自动控制系统的基本概念 </vt:lpstr>
      <vt:lpstr>PowerPoint 演示文稿</vt:lpstr>
      <vt:lpstr>PowerPoint 演示文稿</vt:lpstr>
      <vt:lpstr>PowerPoint 演示文稿</vt:lpstr>
      <vt:lpstr>PowerPoint 演示文稿</vt:lpstr>
      <vt:lpstr>PowerPoint 演示文稿</vt:lpstr>
      <vt:lpstr>基本自动控制方式</vt:lpstr>
      <vt:lpstr>PowerPoint 演示文稿</vt:lpstr>
      <vt:lpstr>PowerPoint 演示文稿</vt:lpstr>
      <vt:lpstr>PowerPoint 演示文稿</vt:lpstr>
      <vt:lpstr>PowerPoint 演示文稿</vt:lpstr>
      <vt:lpstr>PowerPoint 演示文稿</vt:lpstr>
      <vt:lpstr>PowerPoint 演示文稿</vt:lpstr>
      <vt:lpstr>炉温控制系统方框图</vt:lpstr>
      <vt:lpstr>方框图中各符号的意义</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课  程 小 结</vt:lpstr>
      <vt:lpstr>自动控制原理</vt:lpstr>
      <vt:lpstr> </vt:lpstr>
    </vt:vector>
  </TitlesOfParts>
  <Company>Sony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自动控制原理96</dc:title>
  <dc:creator>贾秋玲</dc:creator>
  <cp:lastModifiedBy>lgw</cp:lastModifiedBy>
  <cp:revision>304</cp:revision>
  <dcterms:created xsi:type="dcterms:W3CDTF">2002-07-26T15:13:13Z</dcterms:created>
  <dcterms:modified xsi:type="dcterms:W3CDTF">2023-03-06T00:31:21Z</dcterms:modified>
</cp:coreProperties>
</file>