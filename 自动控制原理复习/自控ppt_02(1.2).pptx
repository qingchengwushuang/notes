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handoutMasterIdLst>
    <p:handoutMasterId r:id="rId35"/>
  </p:handoutMasterIdLst>
  <p:sldIdLst>
    <p:sldId id="406" r:id="rId2"/>
    <p:sldId id="446" r:id="rId3"/>
    <p:sldId id="448" r:id="rId4"/>
    <p:sldId id="449" r:id="rId5"/>
    <p:sldId id="447" r:id="rId6"/>
    <p:sldId id="454" r:id="rId7"/>
    <p:sldId id="455" r:id="rId8"/>
    <p:sldId id="456" r:id="rId9"/>
    <p:sldId id="421" r:id="rId10"/>
    <p:sldId id="422" r:id="rId11"/>
    <p:sldId id="423" r:id="rId12"/>
    <p:sldId id="424" r:id="rId13"/>
    <p:sldId id="425" r:id="rId14"/>
    <p:sldId id="426" r:id="rId15"/>
    <p:sldId id="427" r:id="rId16"/>
    <p:sldId id="428" r:id="rId17"/>
    <p:sldId id="452" r:id="rId18"/>
    <p:sldId id="430" r:id="rId19"/>
    <p:sldId id="431" r:id="rId20"/>
    <p:sldId id="432" r:id="rId21"/>
    <p:sldId id="433" r:id="rId22"/>
    <p:sldId id="434" r:id="rId23"/>
    <p:sldId id="435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50" r:id="rId32"/>
    <p:sldId id="453" r:id="rId33"/>
    <p:sldId id="387" r:id="rId34"/>
  </p:sldIdLst>
  <p:sldSz cx="9144000" cy="6858000" type="screen4x3"/>
  <p:notesSz cx="6858000" cy="9144000"/>
  <p:defaultTextStyle>
    <a:defPPr>
      <a:defRPr lang="zh-CN"/>
    </a:defPPr>
    <a:lvl1pPr algn="just" rtl="0" fontAlgn="base">
      <a:lnSpc>
        <a:spcPct val="150000"/>
      </a:lnSpc>
      <a:spcBef>
        <a:spcPct val="20000"/>
      </a:spcBef>
      <a:spcAft>
        <a:spcPct val="0"/>
      </a:spcAft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1pPr>
    <a:lvl2pPr marL="457200" algn="just" rtl="0" fontAlgn="base">
      <a:lnSpc>
        <a:spcPct val="150000"/>
      </a:lnSpc>
      <a:spcBef>
        <a:spcPct val="20000"/>
      </a:spcBef>
      <a:spcAft>
        <a:spcPct val="0"/>
      </a:spcAft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2pPr>
    <a:lvl3pPr marL="914400" algn="just" rtl="0" fontAlgn="base">
      <a:lnSpc>
        <a:spcPct val="150000"/>
      </a:lnSpc>
      <a:spcBef>
        <a:spcPct val="20000"/>
      </a:spcBef>
      <a:spcAft>
        <a:spcPct val="0"/>
      </a:spcAft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3pPr>
    <a:lvl4pPr marL="1371600" algn="just" rtl="0" fontAlgn="base">
      <a:lnSpc>
        <a:spcPct val="150000"/>
      </a:lnSpc>
      <a:spcBef>
        <a:spcPct val="20000"/>
      </a:spcBef>
      <a:spcAft>
        <a:spcPct val="0"/>
      </a:spcAft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4pPr>
    <a:lvl5pPr marL="1828800" algn="just" rtl="0" fontAlgn="base">
      <a:lnSpc>
        <a:spcPct val="150000"/>
      </a:lnSpc>
      <a:spcBef>
        <a:spcPct val="20000"/>
      </a:spcBef>
      <a:spcAft>
        <a:spcPct val="0"/>
      </a:spcAft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华文新魏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FFFF00"/>
    <a:srgbClr val="CCFF33"/>
    <a:srgbClr val="FFCC00"/>
    <a:srgbClr val="FFCC66"/>
    <a:srgbClr val="CC9900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7" autoAdjust="0"/>
    <p:restoredTop sz="94943" autoAdjust="0"/>
  </p:normalViewPr>
  <p:slideViewPr>
    <p:cSldViewPr>
      <p:cViewPr>
        <p:scale>
          <a:sx n="75" d="100"/>
          <a:sy n="75" d="100"/>
        </p:scale>
        <p:origin x="-1052" y="3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13" Type="http://schemas.openxmlformats.org/officeDocument/2006/relationships/slide" Target="slides/slide33.xml"/><Relationship Id="rId3" Type="http://schemas.openxmlformats.org/officeDocument/2006/relationships/slide" Target="slides/slide4.xml"/><Relationship Id="rId7" Type="http://schemas.openxmlformats.org/officeDocument/2006/relationships/slide" Target="slides/slide20.xml"/><Relationship Id="rId12" Type="http://schemas.openxmlformats.org/officeDocument/2006/relationships/slide" Target="slides/slide32.xml"/><Relationship Id="rId2" Type="http://schemas.openxmlformats.org/officeDocument/2006/relationships/slide" Target="slides/slide3.xml"/><Relationship Id="rId1" Type="http://schemas.openxmlformats.org/officeDocument/2006/relationships/slide" Target="slides/slide2.xml"/><Relationship Id="rId6" Type="http://schemas.openxmlformats.org/officeDocument/2006/relationships/slide" Target="slides/slide19.xml"/><Relationship Id="rId11" Type="http://schemas.openxmlformats.org/officeDocument/2006/relationships/slide" Target="slides/slide28.xml"/><Relationship Id="rId5" Type="http://schemas.openxmlformats.org/officeDocument/2006/relationships/slide" Target="slides/slide18.xml"/><Relationship Id="rId10" Type="http://schemas.openxmlformats.org/officeDocument/2006/relationships/slide" Target="slides/slide25.xml"/><Relationship Id="rId4" Type="http://schemas.openxmlformats.org/officeDocument/2006/relationships/slide" Target="slides/slide16.xml"/><Relationship Id="rId9" Type="http://schemas.openxmlformats.org/officeDocument/2006/relationships/slide" Target="slides/slide24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png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png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image" Target="../media/image84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kumimoji="1" sz="1200" b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1" sz="1200" b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48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kumimoji="1" sz="1200" b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48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1" sz="1200" b="0">
                <a:effectLst>
                  <a:outerShdw blurRad="38100" dist="38100" dir="2700000" algn="tl">
                    <a:srgbClr val="C0C0C0"/>
                  </a:outerShdw>
                </a:effectLst>
                <a:ea typeface="宋体" pitchFamily="2" charset="-122"/>
              </a:defRPr>
            </a:lvl1pPr>
          </a:lstStyle>
          <a:p>
            <a:fld id="{2E711F62-AB47-4E04-833A-6222D64944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1627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19050" y="33338"/>
            <a:ext cx="9102725" cy="881062"/>
            <a:chOff x="12" y="21"/>
            <a:chExt cx="5734" cy="555"/>
          </a:xfrm>
        </p:grpSpPr>
        <p:pic>
          <p:nvPicPr>
            <p:cNvPr id="81923" name="Picture 3" descr="title_01"/>
            <p:cNvPicPr>
              <a:picLocks noChangeAspect="1" noChangeArrowheads="1"/>
            </p:cNvPicPr>
            <p:nvPr/>
          </p:nvPicPr>
          <p:blipFill>
            <a:blip r:embed="rId2">
              <a:lum bright="-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" y="21"/>
              <a:ext cx="2868" cy="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24" name="Picture 4" descr="title_02"/>
            <p:cNvPicPr>
              <a:picLocks noChangeAspect="1" noChangeArrowheads="1"/>
            </p:cNvPicPr>
            <p:nvPr/>
          </p:nvPicPr>
          <p:blipFill>
            <a:blip r:embed="rId3">
              <a:lum bright="-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1"/>
              <a:ext cx="2866" cy="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1925" name="Line 5"/>
          <p:cNvSpPr>
            <a:spLocks noChangeShapeType="1"/>
          </p:cNvSpPr>
          <p:nvPr/>
        </p:nvSpPr>
        <p:spPr bwMode="auto">
          <a:xfrm flipH="1">
            <a:off x="11113" y="6835775"/>
            <a:ext cx="1893887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6" name="Line 6"/>
          <p:cNvSpPr>
            <a:spLocks noChangeShapeType="1"/>
          </p:cNvSpPr>
          <p:nvPr/>
        </p:nvSpPr>
        <p:spPr bwMode="auto">
          <a:xfrm flipV="1">
            <a:off x="0" y="0"/>
            <a:ext cx="0" cy="6858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7" name="Line 7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 flipV="1">
            <a:off x="9121775" y="0"/>
            <a:ext cx="0" cy="6858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 flipH="1">
            <a:off x="7850188" y="6838950"/>
            <a:ext cx="1258887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0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kumimoji="1" sz="5400" b="0">
                <a:solidFill>
                  <a:schemeClr val="bg1"/>
                </a:solidFill>
                <a:ea typeface="华文行楷" pitchFamily="2" charset="-122"/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81931" name="Rectangle 11"/>
          <p:cNvSpPr>
            <a:spLocks noGrp="1" noChangeArrowheads="1"/>
          </p:cNvSpPr>
          <p:nvPr>
            <p:ph type="subTitle" idx="1"/>
          </p:nvPr>
        </p:nvSpPr>
        <p:spPr>
          <a:xfrm>
            <a:off x="1476375" y="4437063"/>
            <a:ext cx="6400800" cy="1752600"/>
          </a:xfrm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Tx/>
              <a:buNone/>
              <a:defRPr kumimoji="1" sz="3600">
                <a:ea typeface="隶书" pitchFamily="49" charset="-122"/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8193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1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0" grpId="0"/>
      <p:bldP spid="8193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19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8193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11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52920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524000"/>
            <a:ext cx="4405313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7713" y="1524000"/>
            <a:ext cx="44069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33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09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22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55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8144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383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83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1052513"/>
            <a:ext cx="2239963" cy="58054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052513"/>
            <a:ext cx="6572250" cy="58054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064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1052513"/>
            <a:ext cx="8964613" cy="58054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170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388" y="1052513"/>
            <a:ext cx="8785225" cy="6477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0" y="1524000"/>
            <a:ext cx="4405313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57713" y="1524000"/>
            <a:ext cx="4406900" cy="5334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2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19050" y="33338"/>
            <a:ext cx="9102725" cy="881062"/>
            <a:chOff x="12" y="21"/>
            <a:chExt cx="5734" cy="555"/>
          </a:xfrm>
        </p:grpSpPr>
        <p:pic>
          <p:nvPicPr>
            <p:cNvPr id="18435" name="Picture 3" descr="title_01"/>
            <p:cNvPicPr>
              <a:picLocks noChangeAspect="1" noChangeArrowheads="1"/>
            </p:cNvPicPr>
            <p:nvPr/>
          </p:nvPicPr>
          <p:blipFill>
            <a:blip r:embed="rId15">
              <a:lum bright="-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" y="21"/>
              <a:ext cx="2868" cy="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436" name="Picture 4" descr="title_02"/>
            <p:cNvPicPr>
              <a:picLocks noChangeAspect="1" noChangeArrowheads="1"/>
            </p:cNvPicPr>
            <p:nvPr/>
          </p:nvPicPr>
          <p:blipFill>
            <a:blip r:embed="rId16">
              <a:lum bright="-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21"/>
              <a:ext cx="2866" cy="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437" name="Line 5"/>
          <p:cNvSpPr>
            <a:spLocks noChangeShapeType="1"/>
          </p:cNvSpPr>
          <p:nvPr/>
        </p:nvSpPr>
        <p:spPr bwMode="auto">
          <a:xfrm flipH="1">
            <a:off x="11113" y="6835775"/>
            <a:ext cx="1893887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 flipV="1">
            <a:off x="0" y="0"/>
            <a:ext cx="0" cy="6858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V="1">
            <a:off x="9121775" y="0"/>
            <a:ext cx="0" cy="685800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7850188" y="6838950"/>
            <a:ext cx="1258887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052513"/>
            <a:ext cx="8785225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8444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524000"/>
            <a:ext cx="896461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>
            <a:off x="228600" y="1524000"/>
            <a:ext cx="8748713" cy="0"/>
          </a:xfrm>
          <a:prstGeom prst="line">
            <a:avLst/>
          </a:prstGeom>
          <a:noFill/>
          <a:ln w="57150" cmpd="thinThick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" grpId="0"/>
      <p:bldP spid="18444" grpId="0" uiExpand="1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4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4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4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44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4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checkerboard(across)">
                      <p:cBhvr>
                        <p:cTn dur="500"/>
                        <p:tgtEl>
                          <p:spTgt spid="1844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9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4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ssolve">
                      <p:cBhvr>
                        <p:cTn dur="500"/>
                        <p:tgtEl>
                          <p:spTgt spid="1844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3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4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844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4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844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844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844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0000"/>
          </a:solidFill>
          <a:latin typeface="Times New Roman" pitchFamily="18" charset="0"/>
          <a:ea typeface="方正姚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b="1">
          <a:solidFill>
            <a:srgbClr val="FFFF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b="1">
          <a:solidFill>
            <a:schemeClr val="bg1"/>
          </a:solidFill>
          <a:latin typeface="+mn-lt"/>
          <a:ea typeface="隶书" pitchFamily="49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rgbClr val="00FF00"/>
          </a:solidFill>
          <a:latin typeface="+mn-lt"/>
          <a:ea typeface="幼圆" pitchFamily="49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b="1">
          <a:solidFill>
            <a:srgbClr val="CCFF99"/>
          </a:solidFill>
          <a:latin typeface="+mn-lt"/>
          <a:ea typeface="华文新魏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9933"/>
          </a:solidFill>
          <a:latin typeface="+mn-lt"/>
          <a:ea typeface="华文中宋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9933"/>
          </a:solidFill>
          <a:latin typeface="+mn-lt"/>
          <a:ea typeface="华文中宋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9933"/>
          </a:solidFill>
          <a:latin typeface="+mn-lt"/>
          <a:ea typeface="华文中宋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9933"/>
          </a:solidFill>
          <a:latin typeface="+mn-lt"/>
          <a:ea typeface="华文中宋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9933"/>
          </a:solidFill>
          <a:latin typeface="+mn-lt"/>
          <a:ea typeface="华文中宋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png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png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4.png"/><Relationship Id="rId10" Type="http://schemas.openxmlformats.org/officeDocument/2006/relationships/image" Target="../media/image8.png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png"/><Relationship Id="rId22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4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13.bin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5.png"/><Relationship Id="rId4" Type="http://schemas.openxmlformats.org/officeDocument/2006/relationships/image" Target="../media/image4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54.png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51.png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vmlDrawing" Target="../drawings/vmlDrawing6.vml"/><Relationship Id="rId6" Type="http://schemas.openxmlformats.org/officeDocument/2006/relationships/image" Target="../media/image48.png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57.png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10" Type="http://schemas.openxmlformats.org/officeDocument/2006/relationships/image" Target="../media/image50.png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47.png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4.png"/><Relationship Id="rId11" Type="http://schemas.openxmlformats.org/officeDocument/2006/relationships/image" Target="../media/image58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71.png"/><Relationship Id="rId4" Type="http://schemas.openxmlformats.org/officeDocument/2006/relationships/oleObject" Target="../embeddings/oleObject2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tags" Target="../tags/tag55.xml"/><Relationship Id="rId3" Type="http://schemas.openxmlformats.org/officeDocument/2006/relationships/tags" Target="../tags/tag32.xml"/><Relationship Id="rId21" Type="http://schemas.openxmlformats.org/officeDocument/2006/relationships/tags" Target="../tags/tag50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29" Type="http://schemas.openxmlformats.org/officeDocument/2006/relationships/image" Target="../media/image41.png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tags" Target="../tags/tag5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91.png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88.png"/><Relationship Id="rId1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0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85.png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4.bin"/><Relationship Id="rId10" Type="http://schemas.openxmlformats.org/officeDocument/2006/relationships/image" Target="../media/image87.png"/><Relationship Id="rId4" Type="http://schemas.openxmlformats.org/officeDocument/2006/relationships/image" Target="../media/image84.png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8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626" name="Picture 2" descr="v4 拷贝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762000" y="914400"/>
            <a:ext cx="6934200" cy="1470025"/>
          </a:xfrm>
          <a:prstGeom prst="rect">
            <a:avLst/>
          </a:prstGeom>
          <a:noFill/>
          <a:ln>
            <a:noFill/>
          </a:ln>
          <a:effectLst>
            <a:outerShdw dist="107763" dir="81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8800">
                <a:solidFill>
                  <a:srgbClr val="FF9900"/>
                </a:solidFill>
                <a:effectLst/>
              </a:rPr>
              <a:t>自动控制原理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2209800" y="2743200"/>
            <a:ext cx="44196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zh-CN" altLang="en-US" sz="2800">
                <a:solidFill>
                  <a:srgbClr val="993300"/>
                </a:solidFill>
                <a:effectLst/>
                <a:ea typeface="楷体_GB2312" pitchFamily="49" charset="-122"/>
              </a:rPr>
              <a:t>西北工业大学自动化学院</a:t>
            </a:r>
          </a:p>
          <a:p>
            <a:pPr algn="l">
              <a:lnSpc>
                <a:spcPct val="100000"/>
              </a:lnSpc>
            </a:pPr>
            <a:r>
              <a:rPr lang="zh-CN" altLang="en-US" sz="2800">
                <a:solidFill>
                  <a:srgbClr val="993300"/>
                </a:solidFill>
                <a:effectLst/>
                <a:ea typeface="楷体_GB2312" pitchFamily="49" charset="-122"/>
              </a:rPr>
              <a:t>   </a:t>
            </a:r>
            <a:r>
              <a:rPr lang="zh-CN" altLang="en-US" sz="2400">
                <a:solidFill>
                  <a:srgbClr val="993300"/>
                </a:solidFill>
                <a:effectLst/>
                <a:ea typeface="楷体_GB2312" pitchFamily="49" charset="-122"/>
              </a:rPr>
              <a:t>自 动 控 制 原 理 教 学 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title"/>
          </p:nvPr>
        </p:nvSpPr>
        <p:spPr>
          <a:xfrm>
            <a:off x="25400" y="952500"/>
            <a:ext cx="9067800" cy="533400"/>
          </a:xfrm>
          <a:noFill/>
        </p:spPr>
        <p:txBody>
          <a:bodyPr/>
          <a:lstStyle/>
          <a:p>
            <a:pPr algn="ctr"/>
            <a:r>
              <a:rPr lang="zh-CN" altLang="en-US" sz="4000" dirty="0">
                <a:ea typeface="华文新魏" pitchFamily="2" charset="-122"/>
              </a:rPr>
              <a:t>自动控制原理</a:t>
            </a:r>
          </a:p>
        </p:txBody>
      </p:sp>
      <p:sp>
        <p:nvSpPr>
          <p:cNvPr id="288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87500" y="3573016"/>
            <a:ext cx="6224588" cy="1066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5400" kern="1200" dirty="0">
                <a:solidFill>
                  <a:schemeClr val="accent6"/>
                </a:solidFill>
                <a:latin typeface="华文新魏" pitchFamily="2" charset="-122"/>
                <a:ea typeface="华文新魏" pitchFamily="2" charset="-122"/>
              </a:rPr>
              <a:t>1 —  4, 7, 10, 11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6600" dirty="0">
              <a:solidFill>
                <a:srgbClr val="002060"/>
              </a:solidFill>
            </a:endParaRPr>
          </a:p>
        </p:txBody>
      </p:sp>
      <p:sp>
        <p:nvSpPr>
          <p:cNvPr id="288773" name="Rectangle 5"/>
          <p:cNvSpPr>
            <a:spLocks noChangeArrowheads="1"/>
          </p:cNvSpPr>
          <p:nvPr/>
        </p:nvSpPr>
        <p:spPr bwMode="auto">
          <a:xfrm>
            <a:off x="1403350" y="2205038"/>
            <a:ext cx="5867400" cy="123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dirty="0">
                <a:solidFill>
                  <a:srgbClr val="FF0000"/>
                </a:solidFill>
                <a:ea typeface="方正舒体" pitchFamily="2" charset="-122"/>
              </a:rPr>
              <a:t>本次课程作业</a:t>
            </a:r>
            <a:r>
              <a:rPr lang="zh-CN" altLang="en-US" sz="2400" dirty="0">
                <a:solidFill>
                  <a:srgbClr val="FF0000"/>
                </a:solidFill>
                <a:ea typeface="方正舒体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ea typeface="方正舒体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a typeface="方正舒体" pitchFamily="2" charset="-122"/>
              </a:rPr>
              <a:t>）</a:t>
            </a:r>
          </a:p>
        </p:txBody>
      </p:sp>
      <p:sp>
        <p:nvSpPr>
          <p:cNvPr id="288774" name="Rectangle 6"/>
          <p:cNvSpPr>
            <a:spLocks noChangeArrowheads="1"/>
          </p:cNvSpPr>
          <p:nvPr/>
        </p:nvSpPr>
        <p:spPr bwMode="auto">
          <a:xfrm>
            <a:off x="1475656" y="6051376"/>
            <a:ext cx="65246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>
              <a:lnSpc>
                <a:spcPct val="90000"/>
              </a:lnSpc>
            </a:pPr>
            <a:r>
              <a:rPr lang="zh-CN" altLang="en-US" sz="4000" dirty="0">
                <a:solidFill>
                  <a:srgbClr val="66FFFF"/>
                </a:solidFill>
                <a:ea typeface="黑体" pitchFamily="2" charset="-122"/>
              </a:rPr>
              <a:t>预习拉普拉斯变换有关知识</a:t>
            </a:r>
          </a:p>
        </p:txBody>
      </p:sp>
    </p:spTree>
    <p:extLst>
      <p:ext uri="{BB962C8B-B14F-4D97-AF65-F5344CB8AC3E}">
        <p14:creationId xmlns:p14="http://schemas.microsoft.com/office/powerpoint/2010/main" val="204631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ChangeArrowheads="1"/>
          </p:cNvSpPr>
          <p:nvPr/>
        </p:nvSpPr>
        <p:spPr bwMode="auto">
          <a:xfrm>
            <a:off x="0" y="1557338"/>
            <a:ext cx="9144000" cy="5224462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title"/>
          </p:nvPr>
        </p:nvSpPr>
        <p:spPr>
          <a:xfrm>
            <a:off x="2667000" y="1844675"/>
            <a:ext cx="3581400" cy="863600"/>
          </a:xfrm>
          <a:gradFill rotWithShape="1">
            <a:gsLst>
              <a:gs pos="0">
                <a:srgbClr val="66FFFF">
                  <a:gamma/>
                  <a:shade val="60000"/>
                  <a:invGamma/>
                </a:srgbClr>
              </a:gs>
              <a:gs pos="50000">
                <a:srgbClr val="66FFFF"/>
              </a:gs>
              <a:gs pos="100000">
                <a:srgbClr val="66FFFF">
                  <a:gamma/>
                  <a:shade val="60000"/>
                  <a:invGamma/>
                </a:srgbClr>
              </a:gs>
            </a:gsLst>
            <a:lin ang="5400000" scaled="1"/>
          </a:gradFill>
        </p:spPr>
        <p:txBody>
          <a:bodyPr/>
          <a:lstStyle/>
          <a:p>
            <a:pPr algn="ctr"/>
            <a:r>
              <a:rPr lang="zh-CN" altLang="en-US" sz="4800">
                <a:solidFill>
                  <a:srgbClr val="FF3300"/>
                </a:solidFill>
                <a:ea typeface="华文行楷" pitchFamily="2" charset="-122"/>
              </a:rPr>
              <a:t>自 动 控 制</a:t>
            </a:r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7544" y="2924175"/>
            <a:ext cx="8208912" cy="3400425"/>
          </a:xfrm>
          <a:noFill/>
          <a:ln w="25400" cap="flat" algn="ctr">
            <a:solidFill>
              <a:srgbClr val="3366FF"/>
            </a:solidFill>
            <a:miter lim="800000"/>
            <a:headEnd/>
            <a:tailEnd/>
          </a:ln>
        </p:spPr>
        <p:txBody>
          <a:bodyPr/>
          <a:lstStyle/>
          <a:p>
            <a:pPr algn="just" fontAlgn="b">
              <a:lnSpc>
                <a:spcPct val="150000"/>
              </a:lnSpc>
              <a:buFontTx/>
              <a:buNone/>
            </a:pP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       </a:t>
            </a:r>
            <a:r>
              <a:rPr lang="zh-CN" altLang="en-US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在无人直接参与的情况下，利用控制装置，使工作机械、或生产过程</a:t>
            </a:r>
            <a:r>
              <a:rPr lang="zh-CN" altLang="en-US" dirty="0">
                <a:solidFill>
                  <a:srgbClr val="FF6600"/>
                </a:solidFill>
                <a:latin typeface="华文新魏" pitchFamily="2" charset="-122"/>
                <a:ea typeface="华文新魏" pitchFamily="2" charset="-122"/>
              </a:rPr>
              <a:t>（被控对象）</a:t>
            </a:r>
            <a:r>
              <a:rPr lang="zh-CN" altLang="en-US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的某一个物理量</a:t>
            </a:r>
            <a:r>
              <a:rPr lang="zh-CN" altLang="en-US" dirty="0">
                <a:solidFill>
                  <a:srgbClr val="FF6600"/>
                </a:solidFill>
                <a:latin typeface="华文新魏" pitchFamily="2" charset="-122"/>
                <a:ea typeface="华文新魏" pitchFamily="2" charset="-122"/>
              </a:rPr>
              <a:t>（被控量）</a:t>
            </a:r>
            <a:r>
              <a:rPr lang="zh-CN" altLang="en-US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按预定的规律</a:t>
            </a:r>
            <a:r>
              <a:rPr lang="zh-CN" altLang="en-US" dirty="0">
                <a:solidFill>
                  <a:srgbClr val="FF6600"/>
                </a:solidFill>
                <a:latin typeface="华文新魏" pitchFamily="2" charset="-122"/>
                <a:ea typeface="华文新魏" pitchFamily="2" charset="-122"/>
              </a:rPr>
              <a:t>（给定量）</a:t>
            </a:r>
            <a:r>
              <a:rPr lang="zh-CN" altLang="en-US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运行。</a:t>
            </a:r>
          </a:p>
        </p:txBody>
      </p:sp>
      <p:sp>
        <p:nvSpPr>
          <p:cNvPr id="304133" name="Rectangle 5"/>
          <p:cNvSpPr>
            <a:spLocks noChangeArrowheads="1"/>
          </p:cNvSpPr>
          <p:nvPr/>
        </p:nvSpPr>
        <p:spPr bwMode="auto">
          <a:xfrm>
            <a:off x="63500" y="908050"/>
            <a:ext cx="8991600" cy="609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FF0000"/>
                </a:solidFill>
              </a:rPr>
              <a:t>课程回顾</a:t>
            </a:r>
            <a:r>
              <a:rPr lang="zh-CN" altLang="en-US" sz="2800">
                <a:solidFill>
                  <a:srgbClr val="FF0000"/>
                </a:solidFill>
                <a:latin typeface="华文新魏" pitchFamily="2" charset="-122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华文新魏" pitchFamily="2" charset="-122"/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248807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ChangeArrowheads="1"/>
          </p:cNvSpPr>
          <p:nvPr/>
        </p:nvSpPr>
        <p:spPr bwMode="auto">
          <a:xfrm>
            <a:off x="0" y="1633538"/>
            <a:ext cx="9144000" cy="5224462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type="title"/>
          </p:nvPr>
        </p:nvSpPr>
        <p:spPr>
          <a:xfrm>
            <a:off x="2195513" y="1870075"/>
            <a:ext cx="4495800" cy="700088"/>
          </a:xfrm>
          <a:gradFill rotWithShape="1">
            <a:gsLst>
              <a:gs pos="0">
                <a:srgbClr val="00FFFF">
                  <a:alpha val="80000"/>
                </a:srgbClr>
              </a:gs>
              <a:gs pos="50000">
                <a:srgbClr val="00FFFF">
                  <a:gamma/>
                  <a:tint val="23922"/>
                  <a:invGamma/>
                </a:srgbClr>
              </a:gs>
              <a:gs pos="100000">
                <a:srgbClr val="00FFFF">
                  <a:alpha val="80000"/>
                </a:srgbClr>
              </a:gs>
            </a:gsLst>
            <a:lin ang="5400000" scaled="1"/>
          </a:gradFill>
        </p:spPr>
        <p:txBody>
          <a:bodyPr/>
          <a:lstStyle/>
          <a:p>
            <a:pPr algn="ctr"/>
            <a:r>
              <a:rPr lang="zh-CN" altLang="en-US" sz="4000">
                <a:ea typeface="华文新魏" pitchFamily="2" charset="-122"/>
              </a:rPr>
              <a:t>基本控制方式</a:t>
            </a:r>
          </a:p>
        </p:txBody>
      </p:sp>
      <p:sp>
        <p:nvSpPr>
          <p:cNvPr id="29901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00113" y="2636838"/>
            <a:ext cx="7200900" cy="936625"/>
          </a:xfrm>
          <a:noFill/>
          <a:ln w="22225">
            <a:solidFill>
              <a:srgbClr val="00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4400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开环 </a:t>
            </a:r>
            <a:r>
              <a:rPr lang="en-US" altLang="zh-CN" sz="4400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/ </a:t>
            </a:r>
            <a:r>
              <a:rPr lang="zh-CN" altLang="en-US" sz="4400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闭环 </a:t>
            </a:r>
            <a:r>
              <a:rPr lang="en-US" altLang="zh-CN" sz="4400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/ </a:t>
            </a:r>
            <a:r>
              <a:rPr lang="zh-CN" altLang="en-US" sz="4400" dirty="0">
                <a:solidFill>
                  <a:srgbClr val="000066"/>
                </a:solidFill>
                <a:latin typeface="华文新魏" pitchFamily="2" charset="-122"/>
                <a:ea typeface="华文新魏" pitchFamily="2" charset="-122"/>
              </a:rPr>
              <a:t>复合控制  </a:t>
            </a:r>
          </a:p>
        </p:txBody>
      </p:sp>
      <p:sp>
        <p:nvSpPr>
          <p:cNvPr id="299013" name="Rectangle 5"/>
          <p:cNvSpPr>
            <a:spLocks noChangeArrowheads="1"/>
          </p:cNvSpPr>
          <p:nvPr/>
        </p:nvSpPr>
        <p:spPr bwMode="auto">
          <a:xfrm>
            <a:off x="0" y="1047750"/>
            <a:ext cx="91440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kumimoji="1" lang="en-US" altLang="zh-CN" sz="1200" b="0">
                <a:ea typeface="宋体" charset="-122"/>
              </a:rPr>
              <a:t/>
            </a:r>
            <a:br>
              <a:rPr kumimoji="1" lang="en-US" altLang="zh-CN" sz="1200" b="0">
                <a:ea typeface="宋体" charset="-122"/>
              </a:rPr>
            </a:br>
            <a:endParaRPr kumimoji="1" lang="en-US" altLang="zh-CN" sz="2400" b="0">
              <a:ea typeface="宋体" charset="-122"/>
            </a:endParaRPr>
          </a:p>
        </p:txBody>
      </p:sp>
      <p:sp>
        <p:nvSpPr>
          <p:cNvPr id="299014" name="Rectangle 6"/>
          <p:cNvSpPr>
            <a:spLocks noChangeArrowheads="1"/>
          </p:cNvSpPr>
          <p:nvPr/>
        </p:nvSpPr>
        <p:spPr bwMode="auto">
          <a:xfrm>
            <a:off x="63500" y="895350"/>
            <a:ext cx="8991600" cy="6096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3600">
                <a:solidFill>
                  <a:srgbClr val="FF0000"/>
                </a:solidFill>
              </a:rPr>
              <a:t>课程回顾</a:t>
            </a:r>
            <a:r>
              <a:rPr lang="zh-CN" altLang="en-US" sz="2800">
                <a:solidFill>
                  <a:srgbClr val="FF0000"/>
                </a:solidFill>
                <a:latin typeface="华文新魏" pitchFamily="2" charset="-122"/>
              </a:rPr>
              <a:t>（</a:t>
            </a:r>
            <a:r>
              <a:rPr lang="en-US" altLang="zh-CN" sz="2800">
                <a:solidFill>
                  <a:srgbClr val="FF0000"/>
                </a:solidFill>
                <a:latin typeface="华文新魏" pitchFamily="2" charset="-122"/>
              </a:rPr>
              <a:t>2)</a:t>
            </a:r>
          </a:p>
        </p:txBody>
      </p:sp>
      <p:sp>
        <p:nvSpPr>
          <p:cNvPr id="299015" name="Rectangle 7"/>
          <p:cNvSpPr>
            <a:spLocks noChangeArrowheads="1"/>
          </p:cNvSpPr>
          <p:nvPr/>
        </p:nvSpPr>
        <p:spPr bwMode="auto">
          <a:xfrm>
            <a:off x="2411413" y="3865563"/>
            <a:ext cx="4103687" cy="701675"/>
          </a:xfrm>
          <a:prstGeom prst="rect">
            <a:avLst/>
          </a:prstGeom>
          <a:gradFill rotWithShape="1">
            <a:gsLst>
              <a:gs pos="0">
                <a:srgbClr val="FFFF00">
                  <a:gamma/>
                  <a:tint val="30196"/>
                  <a:invGamma/>
                </a:srgbClr>
              </a:gs>
              <a:gs pos="50000">
                <a:srgbClr val="FFFF00"/>
              </a:gs>
              <a:gs pos="100000">
                <a:srgbClr val="FFFF00">
                  <a:gamma/>
                  <a:tint val="30196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/>
              <a:t> </a:t>
            </a:r>
            <a:r>
              <a:rPr lang="zh-CN" altLang="en-US" sz="4000">
                <a:solidFill>
                  <a:srgbClr val="FF0000"/>
                </a:solidFill>
              </a:rPr>
              <a:t>负反馈控制原理</a:t>
            </a:r>
            <a:endParaRPr lang="zh-CN" altLang="en-US" sz="3400">
              <a:solidFill>
                <a:srgbClr val="FFFF00"/>
              </a:solidFill>
            </a:endParaRPr>
          </a:p>
        </p:txBody>
      </p:sp>
      <p:sp>
        <p:nvSpPr>
          <p:cNvPr id="299016" name="Rectangle 8"/>
          <p:cNvSpPr>
            <a:spLocks noChangeArrowheads="1"/>
          </p:cNvSpPr>
          <p:nvPr/>
        </p:nvSpPr>
        <p:spPr bwMode="auto">
          <a:xfrm>
            <a:off x="468313" y="4652963"/>
            <a:ext cx="7993062" cy="2014537"/>
          </a:xfrm>
          <a:prstGeom prst="rect">
            <a:avLst/>
          </a:prstGeom>
          <a:noFill/>
          <a:ln w="22225">
            <a:solidFill>
              <a:srgbClr val="33CC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 algn="l">
              <a:lnSpc>
                <a:spcPct val="130000"/>
              </a:lnSpc>
              <a:spcBef>
                <a:spcPct val="0"/>
              </a:spcBef>
            </a:pPr>
            <a:r>
              <a:rPr lang="en-US" altLang="zh-CN" dirty="0">
                <a:solidFill>
                  <a:srgbClr val="FFFF00"/>
                </a:solidFill>
              </a:rPr>
              <a:t>           </a:t>
            </a:r>
            <a:r>
              <a:rPr lang="zh-CN" altLang="en-US" dirty="0">
                <a:solidFill>
                  <a:srgbClr val="000066"/>
                </a:solidFill>
              </a:rPr>
              <a:t>将系统的输出信号引回输入端，与输入信号相比较，利用所得的偏差信号进行控制，达到减小偏差、消除偏差的目的。</a:t>
            </a:r>
          </a:p>
        </p:txBody>
      </p:sp>
    </p:spTree>
    <p:extLst>
      <p:ext uri="{BB962C8B-B14F-4D97-AF65-F5344CB8AC3E}">
        <p14:creationId xmlns:p14="http://schemas.microsoft.com/office/powerpoint/2010/main" val="63909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990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nimBg="1"/>
      <p:bldP spid="299012" grpId="0" build="p" animBg="1"/>
      <p:bldP spid="299015" grpId="0" animBg="1"/>
      <p:bldP spid="2990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ChangeArrowheads="1"/>
          </p:cNvSpPr>
          <p:nvPr/>
        </p:nvSpPr>
        <p:spPr bwMode="auto">
          <a:xfrm>
            <a:off x="0" y="1600200"/>
            <a:ext cx="9144000" cy="52578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908720"/>
            <a:ext cx="8991600" cy="609600"/>
          </a:xfrm>
          <a:noFill/>
        </p:spPr>
        <p:txBody>
          <a:bodyPr/>
          <a:lstStyle/>
          <a:p>
            <a:r>
              <a:rPr lang="zh-CN" altLang="en-US" sz="4000" b="1" dirty="0">
                <a:solidFill>
                  <a:srgbClr val="FF0000"/>
                </a:solidFill>
                <a:ea typeface="华文新魏" pitchFamily="2" charset="-122"/>
              </a:rPr>
              <a:t>自动控制原理</a:t>
            </a:r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auto">
          <a:xfrm>
            <a:off x="1905000" y="3657600"/>
            <a:ext cx="6400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lnSpc>
                <a:spcPct val="100000"/>
              </a:lnSpc>
            </a:pPr>
            <a:endParaRPr kumimoji="1" lang="zh-CN" altLang="zh-CN" sz="2800">
              <a:solidFill>
                <a:srgbClr val="00FFFF"/>
              </a:solidFill>
              <a:ea typeface="隶书" pitchFamily="49" charset="-122"/>
            </a:endParaRPr>
          </a:p>
        </p:txBody>
      </p:sp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1133112" y="1908464"/>
            <a:ext cx="7010400" cy="464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t">
              <a:lnSpc>
                <a:spcPct val="100000"/>
              </a:lnSpc>
              <a:spcBef>
                <a:spcPct val="0"/>
              </a:spcBef>
            </a:pPr>
            <a:r>
              <a:rPr kumimoji="1" lang="zh-CN" altLang="en-US" dirty="0">
                <a:solidFill>
                  <a:srgbClr val="00FFFF"/>
                </a:solidFill>
                <a:ea typeface="隶书" pitchFamily="49" charset="-122"/>
              </a:rPr>
              <a:t>（第 </a:t>
            </a:r>
            <a:r>
              <a:rPr kumimoji="1" lang="en-US" altLang="zh-CN" dirty="0">
                <a:solidFill>
                  <a:srgbClr val="00FFFF"/>
                </a:solidFill>
                <a:ea typeface="隶书" pitchFamily="49" charset="-122"/>
              </a:rPr>
              <a:t>2 </a:t>
            </a:r>
            <a:r>
              <a:rPr kumimoji="1" lang="zh-CN" altLang="en-US" dirty="0">
                <a:solidFill>
                  <a:srgbClr val="00FFFF"/>
                </a:solidFill>
                <a:ea typeface="隶书" pitchFamily="49" charset="-122"/>
              </a:rPr>
              <a:t>讲）</a:t>
            </a:r>
          </a:p>
          <a:p>
            <a:pPr algn="ctr" fontAlgn="t">
              <a:lnSpc>
                <a:spcPct val="100000"/>
              </a:lnSpc>
              <a:spcBef>
                <a:spcPct val="0"/>
              </a:spcBef>
            </a:pPr>
            <a:endParaRPr kumimoji="1" lang="zh-CN" altLang="en-US" sz="1400" dirty="0">
              <a:solidFill>
                <a:srgbClr val="00FFFF"/>
              </a:solidFill>
              <a:ea typeface="隶书" pitchFamily="49" charset="-122"/>
            </a:endParaRP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4000" dirty="0">
                <a:solidFill>
                  <a:srgbClr val="FF0000"/>
                </a:solidFill>
                <a:ea typeface="黑体" pitchFamily="2" charset="-122"/>
              </a:rPr>
              <a:t>第一章  自动控制的一般概念</a:t>
            </a:r>
            <a:r>
              <a:rPr kumimoji="1" lang="zh-CN" altLang="en-US" sz="3600" dirty="0">
                <a:solidFill>
                  <a:srgbClr val="FF0000"/>
                </a:solidFill>
                <a:ea typeface="隶书" pitchFamily="49" charset="-122"/>
              </a:rPr>
              <a:t> </a:t>
            </a: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endParaRPr lang="zh-CN" altLang="en-US" sz="800" dirty="0">
              <a:solidFill>
                <a:srgbClr val="FFFF00"/>
              </a:solidFill>
              <a:latin typeface="黑体" pitchFamily="2" charset="-122"/>
              <a:ea typeface="黑体" pitchFamily="2" charset="-122"/>
            </a:endParaRP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§1.4  </a:t>
            </a:r>
            <a:r>
              <a:rPr lang="zh-CN" altLang="en-US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控制系统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的组成</a:t>
            </a: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lang="en-US" altLang="zh-CN" dirty="0" smtClean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§</a:t>
            </a:r>
            <a:r>
              <a:rPr lang="en-US" altLang="zh-CN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1.5  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控制系统示例 </a:t>
            </a: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§1.6  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自动控制系统的分类</a:t>
            </a: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§1.7  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对控制系统性能的基本要求</a:t>
            </a:r>
          </a:p>
          <a:p>
            <a:pPr algn="l" fontAlgn="t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§1.8  </a:t>
            </a:r>
            <a:r>
              <a:rPr lang="zh-CN" altLang="en-US" dirty="0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本课程的研究内容  </a:t>
            </a:r>
          </a:p>
        </p:txBody>
      </p:sp>
    </p:spTree>
    <p:extLst>
      <p:ext uri="{BB962C8B-B14F-4D97-AF65-F5344CB8AC3E}">
        <p14:creationId xmlns:p14="http://schemas.microsoft.com/office/powerpoint/2010/main" val="7667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 smtClean="0"/>
          </a:p>
        </p:txBody>
      </p:sp>
      <p:pic>
        <p:nvPicPr>
          <p:cNvPr id="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14" y="1700808"/>
            <a:ext cx="6862664" cy="4771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1"/>
          <p:cNvSpPr>
            <a:spLocks noGrp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ea typeface="黑体" pitchFamily="2" charset="-122"/>
              </a:rPr>
              <a:t>自动控制系统举例</a:t>
            </a:r>
          </a:p>
        </p:txBody>
      </p:sp>
    </p:spTree>
    <p:extLst>
      <p:ext uri="{BB962C8B-B14F-4D97-AF65-F5344CB8AC3E}">
        <p14:creationId xmlns:p14="http://schemas.microsoft.com/office/powerpoint/2010/main" val="169966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ea typeface="华文新魏" pitchFamily="2" charset="-122"/>
            </a:endParaRPr>
          </a:p>
        </p:txBody>
      </p:sp>
      <p:sp>
        <p:nvSpPr>
          <p:cNvPr id="5529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50800" y="990600"/>
            <a:ext cx="4305300" cy="482600"/>
          </a:xfrm>
        </p:spPr>
        <p:txBody>
          <a:bodyPr/>
          <a:lstStyle/>
          <a:p>
            <a:pPr eaLnBrk="1" hangingPunct="1"/>
            <a:r>
              <a:rPr lang="zh-CN" altLang="en-US" sz="3200" smtClean="0">
                <a:solidFill>
                  <a:srgbClr val="000000"/>
                </a:solidFill>
                <a:ea typeface="隶书" pitchFamily="49" charset="-122"/>
              </a:rPr>
              <a:t>炉温控制系统方框图</a:t>
            </a:r>
          </a:p>
        </p:txBody>
      </p:sp>
      <p:graphicFrame>
        <p:nvGraphicFramePr>
          <p:cNvPr id="55300" name="Object 5"/>
          <p:cNvGraphicFramePr>
            <a:graphicFrameLocks noChangeAspect="1"/>
          </p:cNvGraphicFramePr>
          <p:nvPr/>
        </p:nvGraphicFramePr>
        <p:xfrm>
          <a:off x="7058025" y="3657600"/>
          <a:ext cx="1406525" cy="125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0" name="BMP 图像" r:id="rId3" imgW="990738" imgH="885949" progId="Paint.Picture">
                  <p:embed/>
                </p:oleObj>
              </mc:Choice>
              <mc:Fallback>
                <p:oleObj name="BMP 图像" r:id="rId3" imgW="990738" imgH="88594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025" y="3657600"/>
                        <a:ext cx="1406525" cy="1255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1" name="Object 6"/>
          <p:cNvGraphicFramePr>
            <a:graphicFrameLocks noChangeAspect="1"/>
          </p:cNvGraphicFramePr>
          <p:nvPr/>
        </p:nvGraphicFramePr>
        <p:xfrm>
          <a:off x="6019800" y="3657600"/>
          <a:ext cx="998538" cy="123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1" name="BMP 图像" r:id="rId5" imgW="704948" imgH="866896" progId="Paint.Picture">
                  <p:embed/>
                </p:oleObj>
              </mc:Choice>
              <mc:Fallback>
                <p:oleObj name="BMP 图像" r:id="rId5" imgW="704948" imgH="86689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657600"/>
                        <a:ext cx="998538" cy="123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7"/>
          <p:cNvGraphicFramePr>
            <a:graphicFrameLocks noChangeAspect="1"/>
          </p:cNvGraphicFramePr>
          <p:nvPr/>
        </p:nvGraphicFramePr>
        <p:xfrm>
          <a:off x="4953000" y="3581400"/>
          <a:ext cx="985838" cy="1284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2" name="BMP 图像" r:id="rId7" imgW="695238" imgH="905001" progId="Paint.Picture">
                  <p:embed/>
                </p:oleObj>
              </mc:Choice>
              <mc:Fallback>
                <p:oleObj name="BMP 图像" r:id="rId7" imgW="695238" imgH="90500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581400"/>
                        <a:ext cx="985838" cy="1284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8"/>
          <p:cNvGraphicFramePr>
            <a:graphicFrameLocks noChangeAspect="1"/>
          </p:cNvGraphicFramePr>
          <p:nvPr/>
        </p:nvGraphicFramePr>
        <p:xfrm>
          <a:off x="2667000" y="3657600"/>
          <a:ext cx="1000125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3" name="BMP 图像" r:id="rId9" imgW="704948" imgH="876190" progId="Paint.Picture">
                  <p:embed/>
                </p:oleObj>
              </mc:Choice>
              <mc:Fallback>
                <p:oleObj name="BMP 图像" r:id="rId9" imgW="704948" imgH="8761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657600"/>
                        <a:ext cx="1000125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9"/>
          <p:cNvGraphicFramePr>
            <a:graphicFrameLocks noChangeAspect="1"/>
          </p:cNvGraphicFramePr>
          <p:nvPr/>
        </p:nvGraphicFramePr>
        <p:xfrm>
          <a:off x="1806575" y="4876800"/>
          <a:ext cx="2930525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4" name="BMP 图像" r:id="rId11" imgW="1905266" imgH="685714" progId="Paint.Picture">
                  <p:embed/>
                </p:oleObj>
              </mc:Choice>
              <mc:Fallback>
                <p:oleObj name="BMP 图像" r:id="rId11" imgW="1905266" imgH="68571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4876800"/>
                        <a:ext cx="2930525" cy="973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5" name="Object 10"/>
          <p:cNvGraphicFramePr>
            <a:graphicFrameLocks noChangeAspect="1"/>
          </p:cNvGraphicFramePr>
          <p:nvPr/>
        </p:nvGraphicFramePr>
        <p:xfrm>
          <a:off x="4800600" y="4953000"/>
          <a:ext cx="19050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5" name="BMP 图像" r:id="rId13" imgW="1219370" imgH="600159" progId="Paint.Picture">
                  <p:embed/>
                </p:oleObj>
              </mc:Choice>
              <mc:Fallback>
                <p:oleObj name="BMP 图像" r:id="rId13" imgW="1219370" imgH="60015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953000"/>
                        <a:ext cx="190500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6" name="Object 11"/>
          <p:cNvGraphicFramePr>
            <a:graphicFrameLocks noChangeAspect="1"/>
          </p:cNvGraphicFramePr>
          <p:nvPr/>
        </p:nvGraphicFramePr>
        <p:xfrm>
          <a:off x="6629400" y="4267200"/>
          <a:ext cx="14160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6" name="BMP 图像" r:id="rId15" imgW="942857" imgH="952633" progId="Paint.Picture">
                  <p:embed/>
                </p:oleObj>
              </mc:Choice>
              <mc:Fallback>
                <p:oleObj name="BMP 图像" r:id="rId15" imgW="942857" imgH="95263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267200"/>
                        <a:ext cx="141605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7" name="Object 12"/>
          <p:cNvGraphicFramePr>
            <a:graphicFrameLocks noChangeAspect="1"/>
          </p:cNvGraphicFramePr>
          <p:nvPr/>
        </p:nvGraphicFramePr>
        <p:xfrm>
          <a:off x="3810000" y="3581400"/>
          <a:ext cx="1009650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7" name="BMP 图像" r:id="rId17" imgW="704948" imgH="980952" progId="Paint.Picture">
                  <p:embed/>
                </p:oleObj>
              </mc:Choice>
              <mc:Fallback>
                <p:oleObj name="BMP 图像" r:id="rId17" imgW="704948" imgH="9809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581400"/>
                        <a:ext cx="1009650" cy="1404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8" name="Rectangle 13"/>
          <p:cNvSpPr>
            <a:spLocks noChangeArrowheads="1"/>
          </p:cNvSpPr>
          <p:nvPr/>
        </p:nvSpPr>
        <p:spPr bwMode="auto">
          <a:xfrm>
            <a:off x="2667000" y="5943600"/>
            <a:ext cx="42672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zh-CN" altLang="en-US" sz="2800" b="1">
                <a:solidFill>
                  <a:srgbClr val="FFFF00"/>
                </a:solidFill>
                <a:latin typeface="Times New Roman" pitchFamily="18" charset="0"/>
                <a:ea typeface="黑体" pitchFamily="2" charset="-122"/>
              </a:rPr>
              <a:t>炉温控制系统方框图</a:t>
            </a:r>
          </a:p>
        </p:txBody>
      </p:sp>
      <p:graphicFrame>
        <p:nvGraphicFramePr>
          <p:cNvPr id="55309" name="Object 14"/>
          <p:cNvGraphicFramePr>
            <a:graphicFrameLocks noChangeAspect="1"/>
          </p:cNvGraphicFramePr>
          <p:nvPr/>
        </p:nvGraphicFramePr>
        <p:xfrm>
          <a:off x="533400" y="3581400"/>
          <a:ext cx="129540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8" name="BMP 图像" r:id="rId19" imgW="866896" imgH="857143" progId="Paint.Picture">
                  <p:embed/>
                </p:oleObj>
              </mc:Choice>
              <mc:Fallback>
                <p:oleObj name="BMP 图像" r:id="rId19" imgW="866896" imgH="8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581400"/>
                        <a:ext cx="129540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0" name="Object 15"/>
          <p:cNvGraphicFramePr>
            <a:graphicFrameLocks noChangeAspect="1"/>
          </p:cNvGraphicFramePr>
          <p:nvPr/>
        </p:nvGraphicFramePr>
        <p:xfrm>
          <a:off x="1752600" y="3962400"/>
          <a:ext cx="838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09" name="BMP 图像" r:id="rId21" imgW="523810" imgH="647619" progId="Paint.Picture">
                  <p:embed/>
                </p:oleObj>
              </mc:Choice>
              <mc:Fallback>
                <p:oleObj name="BMP 图像" r:id="rId21" imgW="523810" imgH="6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962400"/>
                        <a:ext cx="838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312" name="Picture 15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13" y="592138"/>
            <a:ext cx="4081462" cy="283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09503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ea typeface="华文新魏" pitchFamily="2" charset="-122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63500" y="939800"/>
            <a:ext cx="8991600" cy="609600"/>
          </a:xfrm>
        </p:spPr>
        <p:txBody>
          <a:bodyPr/>
          <a:lstStyle/>
          <a:p>
            <a:r>
              <a:rPr lang="zh-CN" altLang="en-US" sz="3200" smtClean="0">
                <a:solidFill>
                  <a:srgbClr val="000000"/>
                </a:solidFill>
                <a:latin typeface="隶书" pitchFamily="49" charset="-122"/>
                <a:ea typeface="隶书" pitchFamily="49" charset="-122"/>
              </a:rPr>
              <a:t>方框图中各符号的意义</a:t>
            </a:r>
          </a:p>
        </p:txBody>
      </p:sp>
      <p:sp>
        <p:nvSpPr>
          <p:cNvPr id="56324" name="AutoShape 4"/>
          <p:cNvSpPr>
            <a:spLocks/>
          </p:cNvSpPr>
          <p:nvPr/>
        </p:nvSpPr>
        <p:spPr bwMode="auto">
          <a:xfrm>
            <a:off x="2590800" y="2667000"/>
            <a:ext cx="396875" cy="1914525"/>
          </a:xfrm>
          <a:prstGeom prst="leftBrace">
            <a:avLst>
              <a:gd name="adj1" fmla="val 75040"/>
              <a:gd name="adj2" fmla="val 50000"/>
            </a:avLst>
          </a:prstGeom>
          <a:noFill/>
          <a:ln w="9525">
            <a:solidFill>
              <a:srgbClr val="00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3200400" y="2514600"/>
          <a:ext cx="588963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3" name="BMP 图像" r:id="rId3" imgW="561905" imgH="2000000" progId="Paint.Picture">
                  <p:embed/>
                </p:oleObj>
              </mc:Choice>
              <mc:Fallback>
                <p:oleObj name="BMP 图像" r:id="rId3" imgW="561905" imgH="200000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0000FF"/>
                          </a:clrFrom>
                          <a:clrTo>
                            <a:srgbClr val="0000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514600"/>
                        <a:ext cx="588963" cy="2209800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000000"/>
                          </a:gs>
                          <a:gs pos="39999">
                            <a:srgbClr val="0A128C"/>
                          </a:gs>
                          <a:gs pos="70000">
                            <a:srgbClr val="181CC7"/>
                          </a:gs>
                          <a:gs pos="88000">
                            <a:srgbClr val="7005D4"/>
                          </a:gs>
                          <a:gs pos="100000">
                            <a:srgbClr val="8C3D91"/>
                          </a:gs>
                        </a:gsLst>
                        <a:lin ang="5400000"/>
                      </a:gra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0" y="2527300"/>
            <a:ext cx="9144000" cy="2917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                                         </a:t>
            </a: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元部件  </a:t>
            </a:r>
          </a:p>
          <a:p>
            <a:pPr marL="342900" indent="-342900">
              <a:lnSpc>
                <a:spcPct val="12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方框（块）图                       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信号</a:t>
            </a: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（物理量）及传递方向</a:t>
            </a:r>
          </a:p>
          <a:p>
            <a:pPr marL="342900" indent="-342900">
              <a:lnSpc>
                <a:spcPct val="12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中的符号                           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比较</a:t>
            </a: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点</a:t>
            </a:r>
          </a:p>
          <a:p>
            <a:pPr marL="342900" indent="-342900">
              <a:lnSpc>
                <a:spcPct val="12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                            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         引出</a:t>
            </a: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点</a:t>
            </a:r>
          </a:p>
          <a:p>
            <a:pPr marL="342900" indent="-342900">
              <a:lnSpc>
                <a:spcPct val="120000"/>
              </a:lnSpc>
            </a:pP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                               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            表示</a:t>
            </a:r>
            <a:r>
              <a:rPr lang="zh-CN" altLang="en-US" sz="2200" dirty="0">
                <a:solidFill>
                  <a:srgbClr val="000000"/>
                </a:solidFill>
                <a:latin typeface="微软雅黑 Light" pitchFamily="34" charset="-122"/>
                <a:ea typeface="微软雅黑 Light" pitchFamily="34" charset="-122"/>
              </a:rPr>
              <a:t>负反馈</a:t>
            </a:r>
          </a:p>
        </p:txBody>
      </p:sp>
    </p:spTree>
    <p:extLst>
      <p:ext uri="{BB962C8B-B14F-4D97-AF65-F5344CB8AC3E}">
        <p14:creationId xmlns:p14="http://schemas.microsoft.com/office/powerpoint/2010/main" val="11986360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>
            <a:spLocks noChangeArrowheads="1"/>
          </p:cNvSpPr>
          <p:nvPr/>
        </p:nvSpPr>
        <p:spPr bwMode="auto">
          <a:xfrm>
            <a:off x="885031" y="929746"/>
            <a:ext cx="3582988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ea typeface="黑体" pitchFamily="2" charset="-122"/>
              </a:rPr>
              <a:t>自动控制系统举例</a:t>
            </a:r>
          </a:p>
        </p:txBody>
      </p:sp>
      <p:pic>
        <p:nvPicPr>
          <p:cNvPr id="1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1668164"/>
            <a:ext cx="6624637" cy="415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6338" y="3730327"/>
            <a:ext cx="906462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165052"/>
            <a:ext cx="8937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2165052"/>
            <a:ext cx="9064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2165052"/>
            <a:ext cx="906463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0" y="5138439"/>
            <a:ext cx="4953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4" name="矩形 1"/>
          <p:cNvSpPr>
            <a:spLocks noChangeArrowheads="1"/>
          </p:cNvSpPr>
          <p:nvPr/>
        </p:nvSpPr>
        <p:spPr bwMode="auto">
          <a:xfrm>
            <a:off x="2644775" y="5949280"/>
            <a:ext cx="3951288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华文隶书" pitchFamily="2" charset="-122"/>
                <a:ea typeface="华文隶书" pitchFamily="2" charset="-122"/>
              </a:rPr>
              <a:t>函数记录仪工作原理图</a:t>
            </a:r>
          </a:p>
        </p:txBody>
      </p:sp>
      <p:cxnSp>
        <p:nvCxnSpPr>
          <p:cNvPr id="3" name="直接连接符 2"/>
          <p:cNvCxnSpPr/>
          <p:nvPr/>
        </p:nvCxnSpPr>
        <p:spPr bwMode="auto">
          <a:xfrm flipV="1">
            <a:off x="1619672" y="2426195"/>
            <a:ext cx="0" cy="210717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 bwMode="auto">
          <a:xfrm>
            <a:off x="3563888" y="5445224"/>
            <a:ext cx="288032" cy="0"/>
          </a:xfrm>
          <a:prstGeom prst="line">
            <a:avLst/>
          </a:prstGeom>
          <a:ln>
            <a:headEnd type="none" w="med" len="med"/>
            <a:tailEnd type="none" w="med" len="med"/>
          </a:ln>
          <a:ex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74402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59259E-6 L -0.04288 -0.0002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53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88 3.33333E-6 L 0.00434 3.33333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1"/>
          <p:cNvSpPr>
            <a:spLocks noChangeArrowheads="1"/>
          </p:cNvSpPr>
          <p:nvPr/>
        </p:nvSpPr>
        <p:spPr bwMode="auto">
          <a:xfrm>
            <a:off x="676275" y="955146"/>
            <a:ext cx="3582988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ea typeface="黑体" pitchFamily="2" charset="-122"/>
              </a:rPr>
              <a:t>自动控制系统举例</a:t>
            </a:r>
          </a:p>
        </p:txBody>
      </p:sp>
      <p:sp>
        <p:nvSpPr>
          <p:cNvPr id="33" name="矩形 1"/>
          <p:cNvSpPr>
            <a:spLocks noChangeArrowheads="1"/>
          </p:cNvSpPr>
          <p:nvPr/>
        </p:nvSpPr>
        <p:spPr bwMode="auto">
          <a:xfrm>
            <a:off x="3149600" y="5946775"/>
            <a:ext cx="2646363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0000"/>
                </a:solidFill>
                <a:latin typeface="华文隶书" pitchFamily="2" charset="-122"/>
                <a:ea typeface="华文隶书" pitchFamily="2" charset="-122"/>
              </a:rPr>
              <a:t>函数记录仪方框图</a:t>
            </a:r>
          </a:p>
        </p:txBody>
      </p:sp>
      <p:pic>
        <p:nvPicPr>
          <p:cNvPr id="1229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781" y="333375"/>
            <a:ext cx="3938587" cy="249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3" name="矩形 1"/>
          <p:cNvSpPr>
            <a:spLocks noChangeArrowheads="1"/>
          </p:cNvSpPr>
          <p:nvPr/>
        </p:nvSpPr>
        <p:spPr bwMode="auto">
          <a:xfrm>
            <a:off x="5313363" y="2863850"/>
            <a:ext cx="2303462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华文隶书" pitchFamily="2" charset="-122"/>
                <a:ea typeface="华文隶书" pitchFamily="2" charset="-122"/>
              </a:rPr>
              <a:t>函数记录仪工作原理图</a:t>
            </a:r>
          </a:p>
        </p:txBody>
      </p:sp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575050"/>
            <a:ext cx="381000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8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3297238"/>
            <a:ext cx="817563" cy="12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441700"/>
            <a:ext cx="8255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3441700"/>
            <a:ext cx="873125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3441700"/>
            <a:ext cx="825500" cy="10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3814763"/>
            <a:ext cx="468312" cy="849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5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3927475"/>
            <a:ext cx="47625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6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4881563"/>
            <a:ext cx="341313" cy="7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7" name="Picture 1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313" y="4572000"/>
            <a:ext cx="1563687" cy="65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8" name="Picture 1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00" y="4025900"/>
            <a:ext cx="436563" cy="849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9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3586163"/>
            <a:ext cx="555625" cy="436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800" name="Picture 1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3" y="5302250"/>
            <a:ext cx="35560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801" name="Picture 17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4210050"/>
            <a:ext cx="261937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804" name="Picture 2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5554663"/>
            <a:ext cx="1292225" cy="7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438" name="Picture 22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175" y="3430588"/>
            <a:ext cx="1008063" cy="10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803" name="Picture 1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450" y="3911600"/>
            <a:ext cx="55563" cy="169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36574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1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8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1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8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750"/>
                                        <p:tgtEl>
                                          <p:spTgt spid="11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75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750"/>
                                        <p:tgtEl>
                                          <p:spTgt spid="118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0"/>
                                        <p:tgtEl>
                                          <p:spTgt spid="118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11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79" presetID="1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"/>
          <p:cNvSpPr>
            <a:spLocks noChangeArrowheads="1"/>
          </p:cNvSpPr>
          <p:nvPr/>
        </p:nvSpPr>
        <p:spPr bwMode="auto">
          <a:xfrm>
            <a:off x="266983" y="764704"/>
            <a:ext cx="410881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  <a:latin typeface="+mj-lt"/>
                <a:cs typeface="+mj-cs"/>
              </a:rPr>
              <a:t>1.4 </a:t>
            </a:r>
            <a:r>
              <a:rPr lang="zh-CN" altLang="en-US" sz="3600" dirty="0">
                <a:solidFill>
                  <a:srgbClr val="FF0000"/>
                </a:solidFill>
                <a:latin typeface="+mj-lt"/>
                <a:cs typeface="+mj-cs"/>
              </a:rPr>
              <a:t>控制系统的</a:t>
            </a:r>
            <a:r>
              <a:rPr lang="zh-CN" altLang="en-US" sz="3600" dirty="0" smtClean="0">
                <a:solidFill>
                  <a:srgbClr val="FF0000"/>
                </a:solidFill>
                <a:latin typeface="+mj-lt"/>
                <a:cs typeface="+mj-cs"/>
              </a:rPr>
              <a:t>组成</a:t>
            </a:r>
            <a:endParaRPr lang="zh-CN" altLang="en-US" sz="3600" dirty="0">
              <a:solidFill>
                <a:srgbClr val="FF0000"/>
              </a:solidFill>
              <a:latin typeface="+mj-lt"/>
              <a:cs typeface="+mj-cs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39750" y="3471863"/>
            <a:ext cx="2232025" cy="83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zh-CN" altLang="en-US" sz="3200">
                <a:solidFill>
                  <a:srgbClr val="000000"/>
                </a:solidFill>
                <a:ea typeface="华文新魏" pitchFamily="2" charset="-122"/>
              </a:rPr>
              <a:t>控制系统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444750" y="2636838"/>
            <a:ext cx="1754188" cy="2525712"/>
            <a:chOff x="2589243" y="2330296"/>
            <a:chExt cx="1753424" cy="2526344"/>
          </a:xfrm>
        </p:grpSpPr>
        <p:sp>
          <p:nvSpPr>
            <p:cNvPr id="13323" name="AutoShape 8"/>
            <p:cNvSpPr>
              <a:spLocks/>
            </p:cNvSpPr>
            <p:nvPr/>
          </p:nvSpPr>
          <p:spPr bwMode="auto">
            <a:xfrm>
              <a:off x="2589243" y="2549581"/>
              <a:ext cx="193674" cy="2235696"/>
            </a:xfrm>
            <a:prstGeom prst="leftBrace">
              <a:avLst>
                <a:gd name="adj1" fmla="val 68727"/>
                <a:gd name="adj2" fmla="val 50000"/>
              </a:avLst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3324" name="Rectangle 9"/>
            <p:cNvSpPr>
              <a:spLocks noChangeArrowheads="1"/>
            </p:cNvSpPr>
            <p:nvPr/>
          </p:nvSpPr>
          <p:spPr bwMode="auto">
            <a:xfrm>
              <a:off x="2721710" y="2330296"/>
              <a:ext cx="1620957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</a:pPr>
              <a:r>
                <a:rPr lang="zh-CN" altLang="en-US" sz="2800">
                  <a:solidFill>
                    <a:srgbClr val="000000"/>
                  </a:solidFill>
                  <a:ea typeface="华文新魏" pitchFamily="2" charset="-122"/>
                </a:rPr>
                <a:t>被控对象</a:t>
              </a:r>
            </a:p>
          </p:txBody>
        </p:sp>
        <p:sp>
          <p:nvSpPr>
            <p:cNvPr id="13325" name="Rectangle 10"/>
            <p:cNvSpPr>
              <a:spLocks noChangeArrowheads="1"/>
            </p:cNvSpPr>
            <p:nvPr/>
          </p:nvSpPr>
          <p:spPr bwMode="auto">
            <a:xfrm>
              <a:off x="2721710" y="4117976"/>
              <a:ext cx="1620957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342900" indent="-342900" algn="just">
                <a:lnSpc>
                  <a:spcPct val="150000"/>
                </a:lnSpc>
              </a:pPr>
              <a:r>
                <a:rPr lang="zh-CN" altLang="en-US" sz="2800">
                  <a:solidFill>
                    <a:srgbClr val="000000"/>
                  </a:solidFill>
                  <a:ea typeface="华文新魏" pitchFamily="2" charset="-122"/>
                </a:rPr>
                <a:t>控制装置</a:t>
              </a:r>
            </a:p>
          </p:txBody>
        </p:sp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068763" y="3470275"/>
            <a:ext cx="2303462" cy="2751138"/>
            <a:chOff x="4212718" y="3163960"/>
            <a:chExt cx="2304255" cy="2751522"/>
          </a:xfrm>
        </p:grpSpPr>
        <p:sp>
          <p:nvSpPr>
            <p:cNvPr id="13321" name="Rectangle 13"/>
            <p:cNvSpPr>
              <a:spLocks noChangeArrowheads="1"/>
            </p:cNvSpPr>
            <p:nvPr/>
          </p:nvSpPr>
          <p:spPr bwMode="auto">
            <a:xfrm>
              <a:off x="4212718" y="3163960"/>
              <a:ext cx="2304255" cy="2751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00FF"/>
                  </a:solidFill>
                  <a:ea typeface="华文新魏" pitchFamily="2" charset="-122"/>
                </a:rPr>
                <a:t>测量元件</a:t>
              </a:r>
            </a:p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00FF"/>
                  </a:solidFill>
                  <a:ea typeface="华文新魏" pitchFamily="2" charset="-122"/>
                </a:rPr>
                <a:t>比较元件</a:t>
              </a:r>
            </a:p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ea typeface="华文新魏" pitchFamily="2" charset="-122"/>
                </a:rPr>
                <a:t>放大元件</a:t>
              </a:r>
            </a:p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00FF"/>
                  </a:solidFill>
                  <a:ea typeface="华文新魏" pitchFamily="2" charset="-122"/>
                </a:rPr>
                <a:t>执行机构</a:t>
              </a:r>
            </a:p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ea typeface="华文新魏" pitchFamily="2" charset="-122"/>
                </a:rPr>
                <a:t>校正装置</a:t>
              </a:r>
            </a:p>
            <a:p>
              <a:pPr lvl="1" algn="just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0070C0"/>
                  </a:solidFill>
                  <a:ea typeface="华文新魏" pitchFamily="2" charset="-122"/>
                </a:rPr>
                <a:t>给定元件</a:t>
              </a:r>
            </a:p>
          </p:txBody>
        </p:sp>
        <p:sp>
          <p:nvSpPr>
            <p:cNvPr id="13322" name="AutoShape 8"/>
            <p:cNvSpPr>
              <a:spLocks/>
            </p:cNvSpPr>
            <p:nvPr/>
          </p:nvSpPr>
          <p:spPr bwMode="auto">
            <a:xfrm>
              <a:off x="4394956" y="3230063"/>
              <a:ext cx="249810" cy="2526185"/>
            </a:xfrm>
            <a:prstGeom prst="leftBrace">
              <a:avLst>
                <a:gd name="adj1" fmla="val 68727"/>
                <a:gd name="adj2" fmla="val 50000"/>
              </a:avLst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pic>
        <p:nvPicPr>
          <p:cNvPr id="56335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913" y="592138"/>
            <a:ext cx="4081462" cy="2836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633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552450"/>
            <a:ext cx="4108450" cy="283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383871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/>
          <p:cNvSpPr>
            <a:spLocks noChangeArrowheads="1"/>
          </p:cNvSpPr>
          <p:nvPr/>
        </p:nvSpPr>
        <p:spPr bwMode="auto">
          <a:xfrm>
            <a:off x="539750" y="644525"/>
            <a:ext cx="4230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000000"/>
                </a:solidFill>
                <a:ea typeface="黑体" pitchFamily="2" charset="-122"/>
              </a:rPr>
              <a:t>1.4 </a:t>
            </a:r>
            <a:r>
              <a:rPr lang="zh-CN" altLang="en-US" sz="3200">
                <a:solidFill>
                  <a:srgbClr val="000000"/>
                </a:solidFill>
                <a:ea typeface="黑体" pitchFamily="2" charset="-122"/>
              </a:rPr>
              <a:t>控制系统的组成 </a:t>
            </a:r>
            <a:r>
              <a:rPr lang="en-US" altLang="zh-CN" sz="2400">
                <a:solidFill>
                  <a:srgbClr val="000000"/>
                </a:solidFill>
                <a:ea typeface="黑体" pitchFamily="2" charset="-122"/>
              </a:rPr>
              <a:t>(2)</a:t>
            </a:r>
            <a:endParaRPr lang="zh-CN" altLang="en-US" sz="2400">
              <a:solidFill>
                <a:srgbClr val="000000"/>
              </a:solidFill>
              <a:ea typeface="黑体" pitchFamily="2" charset="-122"/>
            </a:endParaRPr>
          </a:p>
        </p:txBody>
      </p:sp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3203575" y="5457825"/>
            <a:ext cx="26987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00"/>
                </a:solidFill>
                <a:latin typeface="华文隶书" pitchFamily="2" charset="-122"/>
                <a:ea typeface="华文隶书" pitchFamily="2" charset="-122"/>
              </a:rPr>
              <a:t>控制系统方框图</a:t>
            </a:r>
          </a:p>
        </p:txBody>
      </p:sp>
      <p:pic>
        <p:nvPicPr>
          <p:cNvPr id="143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25" y="1989138"/>
            <a:ext cx="7335838" cy="283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92740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控制装置包含下列哪些功能元件</a:t>
            </a:r>
          </a:p>
        </p:txBody>
      </p:sp>
      <p:sp>
        <p:nvSpPr>
          <p:cNvPr id="15363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2050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校正装置</a:t>
            </a:r>
          </a:p>
        </p:txBody>
      </p:sp>
      <p:sp>
        <p:nvSpPr>
          <p:cNvPr id="15364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27765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比较元件</a:t>
            </a:r>
          </a:p>
        </p:txBody>
      </p:sp>
      <p:sp>
        <p:nvSpPr>
          <p:cNvPr id="15365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33480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测量元件</a:t>
            </a:r>
          </a:p>
        </p:txBody>
      </p:sp>
      <p:sp>
        <p:nvSpPr>
          <p:cNvPr id="15366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39195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执行元件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2685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8400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4115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39830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15372" name="TextBox 20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828800" y="44910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被控对象</a:t>
            </a:r>
          </a:p>
        </p:txBody>
      </p:sp>
      <p:sp>
        <p:nvSpPr>
          <p:cNvPr id="22" name="矩形 2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114425" y="45545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5374" name="TextBox 22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828800" y="5062538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给定元件</a:t>
            </a:r>
          </a:p>
        </p:txBody>
      </p:sp>
      <p:sp>
        <p:nvSpPr>
          <p:cNvPr id="24" name="矩形 2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114425" y="5126038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5" name="矩形 24" hidden="1"/>
          <p:cNvSpPr/>
          <p:nvPr>
            <p:custDataLst>
              <p:tags r:id="rId16"/>
            </p:custDataLst>
          </p:nvPr>
        </p:nvSpPr>
        <p:spPr>
          <a:xfrm>
            <a:off x="9525000" y="0"/>
            <a:ext cx="3840163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377" name="TextBox 29" hidden="1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以上版本</a:t>
            </a:r>
          </a:p>
        </p:txBody>
      </p:sp>
      <p:sp>
        <p:nvSpPr>
          <p:cNvPr id="15378" name="TextBox 30" hidden="1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779000" y="1270000"/>
            <a:ext cx="3332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A,B,C,D,F</a:t>
            </a:r>
            <a:endParaRPr lang="zh-CN" altLang="en-US" sz="20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15379" name="组合 28" hidden="1"/>
          <p:cNvGrpSpPr>
            <a:grpSpLocks/>
          </p:cNvGrpSpPr>
          <p:nvPr>
            <p:custDataLst>
              <p:tags r:id="rId19"/>
            </p:custDataLst>
          </p:nvPr>
        </p:nvGrpSpPr>
        <p:grpSpPr bwMode="auto"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26" name="RemarkBack" hidden="1"/>
            <p:cNvSpPr/>
            <p:nvPr>
              <p:custDataLst>
                <p:tags r:id="rId27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7" name="RemarkBlock" hidden="1"/>
            <p:cNvSpPr/>
            <p:nvPr>
              <p:custDataLst>
                <p:tags r:id="rId28"/>
              </p:custDataLst>
            </p:nvPr>
          </p:nvSpPr>
          <p:spPr>
            <a:xfrm>
              <a:off x="9537700" y="12700"/>
              <a:ext cx="190516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89" name="RemarkTitleText" hidden="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答案解析</a:t>
              </a:r>
            </a:p>
          </p:txBody>
        </p:sp>
      </p:grpSp>
      <p:grpSp>
        <p:nvGrpSpPr>
          <p:cNvPr id="15380" name="组合 18"/>
          <p:cNvGrpSpPr>
            <a:grpSpLocks/>
          </p:cNvGrpSpPr>
          <p:nvPr>
            <p:custDataLst>
              <p:tags r:id="rId20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2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85" name="TypeText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多选题</a:t>
              </a:r>
            </a:p>
          </p:txBody>
        </p:sp>
        <p:sp>
          <p:nvSpPr>
            <p:cNvPr id="15386" name="TipText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15381" name="图片 3"/>
          <p:cNvPicPr>
            <a:picLocks/>
          </p:cNvPicPr>
          <p:nvPr>
            <p:custDataLst>
              <p:tags r:id="rId2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2" name="TextBox 31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914400" y="635000"/>
            <a:ext cx="7315200" cy="365125"/>
          </a:xfrm>
          <a:prstGeom prst="rect">
            <a:avLst/>
          </a:prstGeom>
          <a:solidFill>
            <a:srgbClr val="FBFAEF">
              <a:alpha val="9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 anchorCtr="1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797460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67544" y="1340768"/>
            <a:ext cx="8540750" cy="792163"/>
          </a:xfrm>
        </p:spPr>
        <p:txBody>
          <a:bodyPr/>
          <a:lstStyle/>
          <a:p>
            <a:pPr algn="l" eaLnBrk="1" hangingPunct="1">
              <a:lnSpc>
                <a:spcPts val="2800"/>
              </a:lnSpc>
            </a:pPr>
            <a:r>
              <a:rPr lang="en-US" altLang="zh-CN" dirty="0" smtClean="0">
                <a:ea typeface="华文新魏" pitchFamily="2" charset="-122"/>
              </a:rPr>
              <a:t>1.5  </a:t>
            </a:r>
            <a:r>
              <a:rPr lang="zh-CN" altLang="en-US" dirty="0">
                <a:ea typeface="华文新魏" pitchFamily="2" charset="-122"/>
              </a:rPr>
              <a:t>控制系统</a:t>
            </a:r>
            <a:r>
              <a:rPr lang="zh-CN" altLang="en-US" dirty="0" smtClean="0">
                <a:ea typeface="华文新魏" pitchFamily="2" charset="-122"/>
              </a:rPr>
              <a:t>示例</a:t>
            </a:r>
            <a:r>
              <a:rPr lang="en-US" altLang="zh-CN" dirty="0" smtClean="0">
                <a:ea typeface="华文新魏" pitchFamily="2" charset="-122"/>
              </a:rPr>
              <a:t/>
            </a:r>
            <a:br>
              <a:rPr lang="en-US" altLang="zh-CN" dirty="0" smtClean="0">
                <a:ea typeface="华文新魏" pitchFamily="2" charset="-122"/>
              </a:rPr>
            </a:br>
            <a:r>
              <a:rPr lang="zh-CN" altLang="en-US" dirty="0" smtClean="0">
                <a:ea typeface="华文新魏" pitchFamily="2" charset="-122"/>
              </a:rPr>
              <a:t> </a:t>
            </a:r>
            <a:r>
              <a:rPr lang="zh-CN" altLang="en-US" sz="4000" dirty="0" smtClean="0"/>
              <a:t/>
            </a:r>
            <a:br>
              <a:rPr lang="zh-CN" altLang="en-US" sz="4000" dirty="0" smtClean="0"/>
            </a:br>
            <a:r>
              <a:rPr lang="zh-CN" altLang="en-US" sz="3200" dirty="0" smtClean="0">
                <a:ea typeface="隶书" pitchFamily="49" charset="-122"/>
              </a:rPr>
              <a:t>一、电压调节系统</a:t>
            </a:r>
          </a:p>
        </p:txBody>
      </p:sp>
      <p:sp>
        <p:nvSpPr>
          <p:cNvPr id="16389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395536" y="3789040"/>
            <a:ext cx="8540750" cy="936476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solidFill>
                  <a:schemeClr val="tx1"/>
                </a:solidFill>
                <a:ea typeface="隶书" pitchFamily="49" charset="-122"/>
              </a:rPr>
              <a:t>发电机是被控对象，发电机的输出电压是被控量，给定量是给定电位器设定的电压</a:t>
            </a:r>
          </a:p>
        </p:txBody>
      </p:sp>
      <p:sp>
        <p:nvSpPr>
          <p:cNvPr id="16388" name="Rectangle 7"/>
          <p:cNvSpPr>
            <a:spLocks noChangeArrowheads="1"/>
          </p:cNvSpPr>
          <p:nvPr/>
        </p:nvSpPr>
        <p:spPr bwMode="auto">
          <a:xfrm>
            <a:off x="0" y="27289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636196"/>
              </p:ext>
            </p:extLst>
          </p:nvPr>
        </p:nvGraphicFramePr>
        <p:xfrm>
          <a:off x="3995936" y="1720565"/>
          <a:ext cx="4988667" cy="2016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920" name="BMP 图像" r:id="rId3" imgW="4001058" imgH="2048161" progId="Paint.Picture">
                  <p:embed/>
                </p:oleObj>
              </mc:Choice>
              <mc:Fallback>
                <p:oleObj name="BMP 图像" r:id="rId3" imgW="4001058" imgH="204816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1720565"/>
                        <a:ext cx="4988667" cy="2016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189076"/>
              </p:ext>
            </p:extLst>
          </p:nvPr>
        </p:nvGraphicFramePr>
        <p:xfrm>
          <a:off x="1187450" y="4653136"/>
          <a:ext cx="676910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921" name="位图图像" r:id="rId5" imgW="4563112" imgH="1247619" progId="Paint.Picture">
                  <p:embed/>
                </p:oleObj>
              </mc:Choice>
              <mc:Fallback>
                <p:oleObj name="位图图像" r:id="rId5" imgW="4563112" imgH="12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653136"/>
                        <a:ext cx="6769100" cy="184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982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隶书" pitchFamily="49" charset="-122"/>
              </a:rPr>
              <a:t>电压调节系统</a:t>
            </a:r>
            <a:endParaRPr lang="zh-CN" altLang="zh-CN" dirty="0" smtClean="0"/>
          </a:p>
        </p:txBody>
      </p:sp>
      <p:graphicFrame>
        <p:nvGraphicFramePr>
          <p:cNvPr id="17411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3701070"/>
              </p:ext>
            </p:extLst>
          </p:nvPr>
        </p:nvGraphicFramePr>
        <p:xfrm>
          <a:off x="683568" y="4749031"/>
          <a:ext cx="7582338" cy="9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905" name="Equation" r:id="rId3" imgW="5283000" imgH="685800" progId="Equation.DSMT4">
                  <p:embed/>
                </p:oleObj>
              </mc:Choice>
              <mc:Fallback>
                <p:oleObj name="Equation" r:id="rId3" imgW="52830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4749031"/>
                        <a:ext cx="7582338" cy="9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748581"/>
            <a:ext cx="5329238" cy="271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6289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0" y="977900"/>
            <a:ext cx="91440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dirty="0" smtClean="0">
                <a:ea typeface="华文新魏" pitchFamily="2" charset="-122"/>
              </a:rPr>
              <a:t>二、 水温调节系统</a:t>
            </a:r>
          </a:p>
        </p:txBody>
      </p:sp>
      <p:sp>
        <p:nvSpPr>
          <p:cNvPr id="87044" name="Rectangle 4"/>
          <p:cNvSpPr>
            <a:spLocks noGrp="1" noRot="1" noChangeArrowheads="1"/>
          </p:cNvSpPr>
          <p:nvPr>
            <p:ph type="body" idx="1"/>
          </p:nvPr>
        </p:nvSpPr>
        <p:spPr>
          <a:xfrm>
            <a:off x="1173163" y="5559425"/>
            <a:ext cx="6823075" cy="420688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solidFill>
                  <a:schemeClr val="tx1"/>
                </a:solidFill>
                <a:ea typeface="华文新魏" pitchFamily="2" charset="-122"/>
              </a:rPr>
              <a:t>水温调节系统工作原理图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3086100" y="2476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8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010594"/>
              </p:ext>
            </p:extLst>
          </p:nvPr>
        </p:nvGraphicFramePr>
        <p:xfrm>
          <a:off x="1475656" y="1700808"/>
          <a:ext cx="6565900" cy="365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929" name="BMP 图像" r:id="rId3" imgW="0" imgH="0" progId="Paint.Picture">
                  <p:embed/>
                </p:oleObj>
              </mc:Choice>
              <mc:Fallback>
                <p:oleObj name="BMP 图像" r:id="rId3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700808"/>
                        <a:ext cx="6565900" cy="3651250"/>
                      </a:xfrm>
                      <a:prstGeom prst="rect">
                        <a:avLst/>
                      </a:prstGeom>
                      <a:solidFill>
                        <a:srgbClr val="F2F2F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847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/>
      <p:bldP spid="8704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1587500"/>
            <a:ext cx="9118600" cy="52705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88067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0" y="977900"/>
            <a:ext cx="54102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</a:extLst>
        </p:spPr>
        <p:txBody>
          <a:bodyPr/>
          <a:lstStyle/>
          <a:p>
            <a:r>
              <a:rPr lang="zh-CN" altLang="en-US" smtClean="0">
                <a:ea typeface="华文新魏" pitchFamily="2" charset="-122"/>
              </a:rPr>
              <a:t>水温调节系统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4876800" y="65088"/>
          <a:ext cx="4038600" cy="26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6" name="位图图像" r:id="rId3" imgW="5544324" imgH="3780952" progId="Paint.Picture">
                  <p:embed/>
                </p:oleObj>
              </mc:Choice>
              <mc:Fallback>
                <p:oleObj name="位图图像" r:id="rId3" imgW="5544324" imgH="37809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5088"/>
                        <a:ext cx="4038600" cy="2678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2514600" y="5791200"/>
            <a:ext cx="45720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FF"/>
                    </a:gs>
                    <a:gs pos="50000">
                      <a:srgbClr val="F0FFFF"/>
                    </a:gs>
                    <a:gs pos="100000">
                      <a:srgbClr val="CCFF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zh-CN" altLang="en-US" sz="3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水温调节系统方框图</a:t>
            </a:r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5318125" y="3895725"/>
          <a:ext cx="29114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7" name="BMP 图像" r:id="rId5" imgW="0" imgH="0" progId="Paint.Picture">
                  <p:embed/>
                </p:oleObj>
              </mc:Choice>
              <mc:Fallback>
                <p:oleObj name="BMP 图像" r:id="rId5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3895725"/>
                        <a:ext cx="291147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4148138" y="4014788"/>
          <a:ext cx="11366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8" name="位图图像" r:id="rId7" imgW="1085714" imgH="495369" progId="Paint.Picture">
                  <p:embed/>
                </p:oleObj>
              </mc:Choice>
              <mc:Fallback>
                <p:oleObj name="位图图像" r:id="rId7" imgW="1085714" imgH="49536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138" y="4014788"/>
                        <a:ext cx="11366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/>
          <p:cNvGraphicFramePr>
            <a:graphicFrameLocks noChangeAspect="1"/>
          </p:cNvGraphicFramePr>
          <p:nvPr/>
        </p:nvGraphicFramePr>
        <p:xfrm>
          <a:off x="2646363" y="3868738"/>
          <a:ext cx="1516062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19" name="位图图像" r:id="rId9" imgW="1448002" imgH="762106" progId="Paint.Picture">
                  <p:embed/>
                </p:oleObj>
              </mc:Choice>
              <mc:Fallback>
                <p:oleObj name="位图图像" r:id="rId9" imgW="1448002" imgH="76210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3868738"/>
                        <a:ext cx="1516062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1041400" y="3895725"/>
          <a:ext cx="9271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0" name="位图图像" r:id="rId11" imgW="885949" imgH="485586" progId="Paint.Picture">
                  <p:embed/>
                </p:oleObj>
              </mc:Choice>
              <mc:Fallback>
                <p:oleObj name="位图图像" r:id="rId11" imgW="885949" imgH="4855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3895725"/>
                        <a:ext cx="9271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4" name="Object 10"/>
          <p:cNvGraphicFramePr>
            <a:graphicFrameLocks noChangeAspect="1"/>
          </p:cNvGraphicFramePr>
          <p:nvPr/>
        </p:nvGraphicFramePr>
        <p:xfrm>
          <a:off x="5318125" y="4243388"/>
          <a:ext cx="219392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1" name="BMP 图像" r:id="rId13" imgW="2095793" imgH="1019048" progId="Paint.Picture">
                  <p:embed/>
                </p:oleObj>
              </mc:Choice>
              <mc:Fallback>
                <p:oleObj name="BMP 图像" r:id="rId13" imgW="2095793" imgH="10190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125" y="4243388"/>
                        <a:ext cx="219392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2035175" y="4430713"/>
          <a:ext cx="3309938" cy="1103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2" name="位图图像" r:id="rId15" imgW="3161905" imgH="1047619" progId="Paint.Picture">
                  <p:embed/>
                </p:oleObj>
              </mc:Choice>
              <mc:Fallback>
                <p:oleObj name="位图图像" r:id="rId15" imgW="3161905" imgH="10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4430713"/>
                        <a:ext cx="3309938" cy="1103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/>
        </p:nvGraphicFramePr>
        <p:xfrm>
          <a:off x="1955800" y="4135438"/>
          <a:ext cx="6969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3" name="位图图像" r:id="rId17" imgW="666667" imgH="295238" progId="Paint.Picture">
                  <p:embed/>
                </p:oleObj>
              </mc:Choice>
              <mc:Fallback>
                <p:oleObj name="位图图像" r:id="rId17" imgW="666667" imgH="2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135438"/>
                        <a:ext cx="6969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7" name="Object 13"/>
          <p:cNvGraphicFramePr>
            <a:graphicFrameLocks noChangeAspect="1"/>
          </p:cNvGraphicFramePr>
          <p:nvPr/>
        </p:nvGraphicFramePr>
        <p:xfrm>
          <a:off x="2062163" y="3101975"/>
          <a:ext cx="3000375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4" name="位图图像" r:id="rId19" imgW="2866667" imgH="1019048" progId="Paint.Picture">
                  <p:embed/>
                </p:oleObj>
              </mc:Choice>
              <mc:Fallback>
                <p:oleObj name="位图图像" r:id="rId19" imgW="2866667" imgH="10190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163" y="3101975"/>
                        <a:ext cx="3000375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5580063" y="2852738"/>
          <a:ext cx="857250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5" name="BMP 图像" r:id="rId21" imgW="0" imgH="0" progId="Paint.Picture">
                  <p:embed/>
                </p:oleObj>
              </mc:Choice>
              <mc:Fallback>
                <p:oleObj name="BMP 图像" r:id="rId21" imgW="0" imgH="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852738"/>
                        <a:ext cx="857250" cy="115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5026025" y="3270250"/>
          <a:ext cx="985838" cy="16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6" name="位图图像" r:id="rId23" imgW="2010056" imgH="161990" progId="Paint.Picture">
                  <p:embed/>
                </p:oleObj>
              </mc:Choice>
              <mc:Fallback>
                <p:oleObj name="位图图像" r:id="rId23" imgW="2010056" imgH="1619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3270250"/>
                        <a:ext cx="985838" cy="16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0" name="Rectangle 16"/>
          <p:cNvSpPr>
            <a:spLocks noRot="1" noChangeArrowheads="1"/>
          </p:cNvSpPr>
          <p:nvPr/>
        </p:nvSpPr>
        <p:spPr bwMode="auto">
          <a:xfrm>
            <a:off x="-180975" y="0"/>
            <a:ext cx="8991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3200" b="1">
                <a:solidFill>
                  <a:srgbClr val="D903C0"/>
                </a:solidFill>
                <a:ea typeface="华文新魏" pitchFamily="2" charset="-122"/>
              </a:rPr>
              <a:t>自动控制原理</a:t>
            </a:r>
          </a:p>
        </p:txBody>
      </p:sp>
    </p:spTree>
    <p:extLst>
      <p:ext uri="{BB962C8B-B14F-4D97-AF65-F5344CB8AC3E}">
        <p14:creationId xmlns:p14="http://schemas.microsoft.com/office/powerpoint/2010/main" val="260814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to="1.5" calcmode="lin" valueType="num">
                                      <p:cBhvr override="childStyle">
                                        <p:cTn id="6" dur="2000" fill="hold"/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8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6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8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0" dur="500"/>
                                        <p:tgtEl>
                                          <p:spTgt spid="8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/>
      <p:bldP spid="8808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34925" y="892175"/>
            <a:ext cx="9036050" cy="614363"/>
          </a:xfrm>
        </p:spPr>
        <p:txBody>
          <a:bodyPr/>
          <a:lstStyle/>
          <a:p>
            <a:r>
              <a:rPr lang="en-US" altLang="zh-CN" sz="3200" dirty="0" smtClean="0">
                <a:solidFill>
                  <a:srgbClr val="FFFF00"/>
                </a:solidFill>
                <a:ea typeface="华文新魏" pitchFamily="2" charset="-122"/>
              </a:rPr>
              <a:t>   </a:t>
            </a:r>
            <a:r>
              <a:rPr lang="zh-CN" altLang="en-US" sz="3200" dirty="0" smtClean="0">
                <a:ea typeface="华文新魏" pitchFamily="2" charset="-122"/>
              </a:rPr>
              <a:t>三、火炮方位角控制系统</a:t>
            </a:r>
            <a:endParaRPr lang="zh-CN" altLang="en-US" sz="2400" dirty="0" smtClean="0">
              <a:ea typeface="华文新魏" pitchFamily="2" charset="-122"/>
            </a:endParaRPr>
          </a:p>
        </p:txBody>
      </p:sp>
      <p:pic>
        <p:nvPicPr>
          <p:cNvPr id="32051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809625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92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solidFill>
                <a:srgbClr val="FFFF00"/>
              </a:solidFill>
            </a:endParaRPr>
          </a:p>
        </p:txBody>
      </p:sp>
      <p:pic>
        <p:nvPicPr>
          <p:cNvPr id="32154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773238"/>
            <a:ext cx="809625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154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3616590"/>
            <a:ext cx="5002212" cy="296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1510" name="Rectangle 3"/>
          <p:cNvSpPr txBox="1">
            <a:spLocks noChangeArrowheads="1"/>
          </p:cNvSpPr>
          <p:nvPr/>
        </p:nvSpPr>
        <p:spPr bwMode="auto">
          <a:xfrm>
            <a:off x="34925" y="892175"/>
            <a:ext cx="90360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3200" dirty="0">
                <a:solidFill>
                  <a:srgbClr val="FFFF00"/>
                </a:solidFill>
                <a:ea typeface="华文新魏" pitchFamily="2" charset="-122"/>
              </a:rPr>
              <a:t>   </a:t>
            </a:r>
            <a:r>
              <a:rPr lang="zh-CN" altLang="en-US" sz="3200" dirty="0">
                <a:solidFill>
                  <a:srgbClr val="FF0000"/>
                </a:solidFill>
                <a:ea typeface="华文新魏" pitchFamily="2" charset="-122"/>
              </a:rPr>
              <a:t>火炮方位角控制系统</a:t>
            </a:r>
            <a:endParaRPr lang="zh-CN" altLang="en-US" sz="2400" dirty="0">
              <a:solidFill>
                <a:srgbClr val="FF0000"/>
              </a:solidFill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782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Top)">
                                      <p:cBhvr>
                                        <p:cTn id="21" dur="500"/>
                                        <p:tgtEl>
                                          <p:spTgt spid="321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322564" name="Rectangle 4"/>
          <p:cNvSpPr>
            <a:spLocks noChangeArrowheads="1"/>
          </p:cNvSpPr>
          <p:nvPr/>
        </p:nvSpPr>
        <p:spPr bwMode="auto">
          <a:xfrm>
            <a:off x="2703513" y="5597525"/>
            <a:ext cx="402907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FF"/>
                    </a:gs>
                    <a:gs pos="50000">
                      <a:srgbClr val="F0FFFF"/>
                    </a:gs>
                    <a:gs pos="100000">
                      <a:srgbClr val="CCFF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zh-CN" altLang="en-US" sz="2400">
                <a:solidFill>
                  <a:srgbClr val="FFFF00"/>
                </a:solidFill>
                <a:ea typeface="黑体" pitchFamily="2" charset="-122"/>
              </a:rPr>
              <a:t>火炮方位角控制系统方框图</a:t>
            </a:r>
          </a:p>
        </p:txBody>
      </p:sp>
      <p:pic>
        <p:nvPicPr>
          <p:cNvPr id="322569" name="Picture 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3149600"/>
            <a:ext cx="115411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0" name="Picture 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3175000"/>
            <a:ext cx="823913" cy="1271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1" name="Picture 1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3163888"/>
            <a:ext cx="8350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2" name="Picture 1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338" y="3160713"/>
            <a:ext cx="885825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3" name="Picture 13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3179763"/>
            <a:ext cx="876300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4" name="Picture 14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3135313"/>
            <a:ext cx="88582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5" name="Picture 15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132138"/>
            <a:ext cx="10922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6" name="Picture 16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3038475"/>
            <a:ext cx="968375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2577" name="Picture 17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763" y="3713163"/>
            <a:ext cx="5834062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1" name="Rectangle 3"/>
          <p:cNvSpPr txBox="1">
            <a:spLocks noChangeArrowheads="1"/>
          </p:cNvSpPr>
          <p:nvPr/>
        </p:nvSpPr>
        <p:spPr bwMode="auto">
          <a:xfrm>
            <a:off x="34925" y="892175"/>
            <a:ext cx="90360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en-US" altLang="zh-CN" sz="3200" dirty="0">
                <a:solidFill>
                  <a:srgbClr val="FFFF00"/>
                </a:solidFill>
                <a:ea typeface="华文新魏" pitchFamily="2" charset="-122"/>
              </a:rPr>
              <a:t>   </a:t>
            </a:r>
            <a:r>
              <a:rPr lang="zh-CN" altLang="en-US" sz="3200" dirty="0">
                <a:solidFill>
                  <a:srgbClr val="FF0000"/>
                </a:solidFill>
                <a:ea typeface="华文新魏" pitchFamily="2" charset="-122"/>
              </a:rPr>
              <a:t>火炮方位角控制系统</a:t>
            </a:r>
            <a:endParaRPr lang="zh-CN" altLang="en-US" sz="2400" dirty="0">
              <a:solidFill>
                <a:srgbClr val="FF0000"/>
              </a:solidFill>
              <a:ea typeface="华文新魏" pitchFamily="2" charset="-122"/>
            </a:endParaRPr>
          </a:p>
        </p:txBody>
      </p:sp>
      <p:pic>
        <p:nvPicPr>
          <p:cNvPr id="322568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60350"/>
            <a:ext cx="547211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61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3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0" dur="500"/>
                                        <p:tgtEl>
                                          <p:spTgt spid="322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3" dur="500"/>
                                        <p:tgtEl>
                                          <p:spTgt spid="322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9" dur="500"/>
                                        <p:tgtEl>
                                          <p:spTgt spid="322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2" dur="500"/>
                                        <p:tgtEl>
                                          <p:spTgt spid="322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500"/>
                                        <p:tgtEl>
                                          <p:spTgt spid="322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8" dur="500"/>
                                        <p:tgtEl>
                                          <p:spTgt spid="3225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1" dur="500"/>
                                        <p:tgtEl>
                                          <p:spTgt spid="322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4" dur="500"/>
                                        <p:tgtEl>
                                          <p:spTgt spid="3225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7" dur="500"/>
                                        <p:tgtEl>
                                          <p:spTgt spid="322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1587500"/>
            <a:ext cx="9144000" cy="5270500"/>
          </a:xfrm>
          <a:prstGeom prst="rect">
            <a:avLst/>
          </a:prstGeom>
          <a:gradFill rotWithShape="0">
            <a:gsLst>
              <a:gs pos="0">
                <a:srgbClr val="0000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323588" name="Rectangle 4"/>
          <p:cNvSpPr>
            <a:spLocks noChangeArrowheads="1"/>
          </p:cNvSpPr>
          <p:nvPr/>
        </p:nvSpPr>
        <p:spPr bwMode="auto">
          <a:xfrm>
            <a:off x="2703513" y="5597525"/>
            <a:ext cx="4029075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FF"/>
                    </a:gs>
                    <a:gs pos="50000">
                      <a:srgbClr val="F0FFFF"/>
                    </a:gs>
                    <a:gs pos="100000">
                      <a:srgbClr val="CCFF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/>
            <a:r>
              <a:rPr lang="zh-CN" altLang="en-US" sz="2400">
                <a:solidFill>
                  <a:srgbClr val="FFFF00"/>
                </a:solidFill>
                <a:ea typeface="黑体" pitchFamily="2" charset="-122"/>
              </a:rPr>
              <a:t>火炮方位角控制系统方框图</a:t>
            </a:r>
          </a:p>
        </p:txBody>
      </p:sp>
      <p:pic>
        <p:nvPicPr>
          <p:cNvPr id="323589" name="Picture 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FF"/>
              </a:clrFrom>
              <a:clrTo>
                <a:srgbClr val="0000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213100"/>
            <a:ext cx="8208962" cy="242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359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60350"/>
            <a:ext cx="547211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23559" name="Rectangle 3"/>
          <p:cNvSpPr txBox="1">
            <a:spLocks noChangeArrowheads="1"/>
          </p:cNvSpPr>
          <p:nvPr/>
        </p:nvSpPr>
        <p:spPr bwMode="auto">
          <a:xfrm>
            <a:off x="34925" y="892175"/>
            <a:ext cx="9036050" cy="61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l"/>
            <a:r>
              <a:rPr lang="en-US" altLang="zh-CN" sz="3200" dirty="0">
                <a:solidFill>
                  <a:srgbClr val="FFFF00"/>
                </a:solidFill>
                <a:ea typeface="华文新魏" pitchFamily="2" charset="-122"/>
              </a:rPr>
              <a:t>   </a:t>
            </a:r>
            <a:r>
              <a:rPr lang="zh-CN" altLang="en-US" sz="3200" dirty="0">
                <a:solidFill>
                  <a:srgbClr val="FF0000"/>
                </a:solidFill>
                <a:ea typeface="华文新魏" pitchFamily="2" charset="-122"/>
              </a:rPr>
              <a:t>火炮方位角控制系统</a:t>
            </a:r>
            <a:endParaRPr lang="zh-CN" altLang="en-US" sz="2400" dirty="0">
              <a:solidFill>
                <a:srgbClr val="FF0000"/>
              </a:solidFill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672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 smtClean="0"/>
          </a:p>
        </p:txBody>
      </p:sp>
      <p:sp>
        <p:nvSpPr>
          <p:cNvPr id="2457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581" name="Picture 4" descr="aptch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700213"/>
            <a:ext cx="5473700" cy="440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 smtClean="0">
                <a:latin typeface="隶书" pitchFamily="49" charset="-122"/>
                <a:ea typeface="隶书" pitchFamily="49" charset="-122"/>
              </a:rPr>
              <a:t>四、飞机</a:t>
            </a:r>
            <a:r>
              <a:rPr lang="en-US" altLang="zh-CN" sz="4000" dirty="0" smtClean="0">
                <a:latin typeface="隶书" pitchFamily="49" charset="-122"/>
                <a:ea typeface="隶书" pitchFamily="49" charset="-122"/>
              </a:rPr>
              <a:t>-</a:t>
            </a:r>
            <a:r>
              <a:rPr lang="zh-CN" altLang="en-US" sz="4000" dirty="0" smtClean="0">
                <a:latin typeface="隶书" pitchFamily="49" charset="-122"/>
                <a:ea typeface="隶书" pitchFamily="49" charset="-122"/>
              </a:rPr>
              <a:t>自动驾驶仪系统</a:t>
            </a:r>
            <a:r>
              <a:rPr lang="zh-CN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 smtClean="0">
                <a:latin typeface="隶书" pitchFamily="49" charset="-122"/>
                <a:ea typeface="隶书" pitchFamily="49" charset="-122"/>
              </a:rPr>
              <a:t>飞机</a:t>
            </a:r>
            <a:r>
              <a:rPr lang="en-US" altLang="zh-CN" sz="4000" dirty="0" smtClean="0">
                <a:latin typeface="隶书" pitchFamily="49" charset="-122"/>
                <a:ea typeface="隶书" pitchFamily="49" charset="-122"/>
              </a:rPr>
              <a:t>-</a:t>
            </a:r>
            <a:r>
              <a:rPr lang="zh-CN" altLang="en-US" sz="4000" dirty="0" smtClean="0">
                <a:latin typeface="隶书" pitchFamily="49" charset="-122"/>
                <a:ea typeface="隶书" pitchFamily="49" charset="-122"/>
              </a:rPr>
              <a:t>自动驾驶仪系统</a:t>
            </a:r>
            <a:r>
              <a:rPr lang="zh-CN" altLang="en-US" dirty="0" smtClean="0"/>
              <a:t> </a:t>
            </a:r>
          </a:p>
        </p:txBody>
      </p:sp>
      <p:sp>
        <p:nvSpPr>
          <p:cNvPr id="2560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pic>
        <p:nvPicPr>
          <p:cNvPr id="25604" name="Picture 6" descr="1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685925"/>
            <a:ext cx="6192837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9"/>
          <p:cNvSpPr>
            <a:spLocks noChangeArrowheads="1"/>
          </p:cNvSpPr>
          <p:nvPr/>
        </p:nvSpPr>
        <p:spPr bwMode="auto">
          <a:xfrm>
            <a:off x="0" y="28098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6" name="Object 8"/>
          <p:cNvGraphicFramePr>
            <a:graphicFrameLocks noChangeAspect="1"/>
          </p:cNvGraphicFramePr>
          <p:nvPr/>
        </p:nvGraphicFramePr>
        <p:xfrm>
          <a:off x="1258888" y="4365625"/>
          <a:ext cx="5976937" cy="218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77" name="位图图像" r:id="rId4" imgW="4342857" imgH="1590897" progId="Paint.Picture">
                  <p:embed/>
                </p:oleObj>
              </mc:Choice>
              <mc:Fallback>
                <p:oleObj name="位图图像" r:id="rId4" imgW="4342857" imgH="159089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365625"/>
                        <a:ext cx="5976937" cy="218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31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6627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76200" y="965200"/>
            <a:ext cx="8991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b="1" dirty="0" smtClean="0">
                <a:ea typeface="华文新魏" pitchFamily="2" charset="-122"/>
              </a:rPr>
              <a:t>1.6 </a:t>
            </a:r>
            <a:r>
              <a:rPr lang="zh-CN" altLang="en-US" b="1" dirty="0" smtClean="0">
                <a:ea typeface="华文新魏" pitchFamily="2" charset="-122"/>
              </a:rPr>
              <a:t>控制系统的分类</a:t>
            </a:r>
          </a:p>
        </p:txBody>
      </p:sp>
      <p:sp>
        <p:nvSpPr>
          <p:cNvPr id="19460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0" y="1981200"/>
            <a:ext cx="9144000" cy="4876800"/>
          </a:xfrm>
        </p:spPr>
        <p:txBody>
          <a:bodyPr/>
          <a:lstStyle/>
          <a:p>
            <a:pPr marL="990600" lvl="1" indent="-533400" algn="just" eaLnBrk="1" hangingPunct="1">
              <a:lnSpc>
                <a:spcPct val="200000"/>
              </a:lnSpc>
              <a:buFontTx/>
              <a:buAutoNum type="arabicPeriod"/>
              <a:defRPr/>
            </a:pPr>
            <a:r>
              <a:rPr lang="zh-CN" altLang="en-US" sz="2400" b="1" dirty="0" smtClean="0">
                <a:solidFill>
                  <a:schemeClr val="accent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按给定信号的形式        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恒值系统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随动系统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程控系统 </a:t>
            </a:r>
          </a:p>
          <a:p>
            <a:pPr marL="990600" lvl="1" indent="-533400" algn="just" eaLnBrk="1" hangingPunct="1">
              <a:lnSpc>
                <a:spcPct val="200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按系统是否满足叠加原理  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线性系统 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非线性系统</a:t>
            </a:r>
          </a:p>
          <a:p>
            <a:pPr marL="990600" lvl="1" indent="-533400" algn="just" eaLnBrk="1" hangingPunct="1">
              <a:lnSpc>
                <a:spcPct val="200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按系统参数是否随时间变化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定常系统 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时变系统</a:t>
            </a:r>
          </a:p>
          <a:p>
            <a:pPr marL="990600" lvl="1" indent="-533400" algn="just" eaLnBrk="1" hangingPunct="1">
              <a:lnSpc>
                <a:spcPct val="200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按信号传递的形式        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连续系统 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离散系统</a:t>
            </a:r>
          </a:p>
          <a:p>
            <a:pPr marL="990600" lvl="1" indent="-533400" algn="just" eaLnBrk="1" hangingPunct="1">
              <a:lnSpc>
                <a:spcPct val="200000"/>
              </a:lnSpc>
              <a:buFontTx/>
              <a:buAutoNum type="arabicPeriod"/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黑体" pitchFamily="2" charset="-122"/>
                <a:ea typeface="黑体" pitchFamily="2" charset="-122"/>
              </a:rPr>
              <a:t>按输入输出变量的多少    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单变量系统 </a:t>
            </a:r>
            <a:r>
              <a:rPr lang="en-US" altLang="zh-CN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/ </a:t>
            </a: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多变量系统</a:t>
            </a:r>
          </a:p>
          <a:p>
            <a:pPr marL="990600" lvl="1" indent="-533400" algn="just" eaLnBrk="1" hangingPunct="1">
              <a:lnSpc>
                <a:spcPct val="120000"/>
              </a:lnSpc>
              <a:buFont typeface="Wingdings" pitchFamily="2" charset="2"/>
              <a:buNone/>
              <a:defRPr/>
            </a:pPr>
            <a:endParaRPr lang="en-US" altLang="zh-CN" sz="2400" dirty="0" smtClean="0">
              <a:solidFill>
                <a:srgbClr val="000000"/>
              </a:solidFill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382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27651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0" y="914400"/>
            <a:ext cx="9144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US" altLang="zh-CN" dirty="0" smtClean="0">
                <a:ea typeface="华文新魏" pitchFamily="2" charset="-122"/>
              </a:rPr>
              <a:t>1.7 </a:t>
            </a:r>
            <a:r>
              <a:rPr lang="zh-CN" altLang="en-US" dirty="0" smtClean="0">
                <a:ea typeface="华文新魏" pitchFamily="2" charset="-122"/>
              </a:rPr>
              <a:t>对控制系统的基本要求</a:t>
            </a:r>
          </a:p>
        </p:txBody>
      </p:sp>
      <p:sp>
        <p:nvSpPr>
          <p:cNvPr id="27652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1317625" y="2043113"/>
            <a:ext cx="6751638" cy="37147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稳：</a:t>
            </a:r>
            <a:r>
              <a:rPr lang="en-US" altLang="zh-CN" sz="2800" dirty="0" smtClean="0">
                <a:solidFill>
                  <a:srgbClr val="FF6600"/>
                </a:solidFill>
                <a:ea typeface="黑体" pitchFamily="2" charset="-122"/>
              </a:rPr>
              <a:t>——</a:t>
            </a:r>
            <a:r>
              <a:rPr lang="en-US" altLang="zh-CN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基本要求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要求系统要稳定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准：</a:t>
            </a:r>
            <a:r>
              <a:rPr lang="en-US" altLang="zh-CN" sz="2800" dirty="0" smtClean="0">
                <a:solidFill>
                  <a:srgbClr val="FF6600"/>
                </a:solidFill>
                <a:ea typeface="黑体" pitchFamily="2" charset="-122"/>
              </a:rPr>
              <a:t>——</a:t>
            </a:r>
            <a:r>
              <a:rPr lang="en-US" altLang="zh-CN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稳态要求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系统响应达到稳态后，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 输出跟踪精度要高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8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快：</a:t>
            </a:r>
            <a:r>
              <a:rPr lang="en-US" altLang="zh-CN" sz="2800" dirty="0" smtClean="0">
                <a:solidFill>
                  <a:srgbClr val="FF6600"/>
                </a:solidFill>
                <a:ea typeface="黑体" pitchFamily="2" charset="-122"/>
              </a:rPr>
              <a:t>——</a:t>
            </a:r>
            <a:r>
              <a:rPr lang="en-US" altLang="zh-CN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dirty="0" smtClean="0">
                <a:solidFill>
                  <a:srgbClr val="FF6600"/>
                </a:solidFill>
                <a:latin typeface="黑体" pitchFamily="2" charset="-122"/>
                <a:ea typeface="黑体" pitchFamily="2" charset="-122"/>
              </a:rPr>
              <a:t>动态要求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       </a:t>
            </a: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系统阶跃响应的过渡过程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  要平稳，快速</a:t>
            </a: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6804248" y="1820333"/>
            <a:ext cx="1944216" cy="457200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50000">
                <a:srgbClr val="000076"/>
              </a:gs>
              <a:gs pos="100000">
                <a:srgbClr val="0000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PPT2_1.m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zh-CN" altLang="en-US" sz="2800" b="1" dirty="0">
              <a:solidFill>
                <a:srgbClr val="FF3300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878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 smtClean="0"/>
          </a:p>
        </p:txBody>
      </p:sp>
      <p:sp>
        <p:nvSpPr>
          <p:cNvPr id="2867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 smtClean="0"/>
          </a:p>
        </p:txBody>
      </p:sp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1916832"/>
            <a:ext cx="6048672" cy="3603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95536" y="5157192"/>
            <a:ext cx="1944216" cy="457200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50000">
                <a:srgbClr val="000076"/>
              </a:gs>
              <a:gs pos="100000">
                <a:srgbClr val="0000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altLang="zh-CN" sz="2800" b="1" dirty="0" smtClean="0">
                <a:solidFill>
                  <a:srgbClr val="FF3300"/>
                </a:solidFill>
                <a:latin typeface="Times New Roman" pitchFamily="18" charset="0"/>
                <a:ea typeface="华文新魏" pitchFamily="2" charset="-122"/>
              </a:rPr>
              <a:t>PPT2_1.m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zh-CN" altLang="en-US" sz="2800" b="1" dirty="0">
              <a:solidFill>
                <a:srgbClr val="FF3300"/>
              </a:solidFill>
              <a:latin typeface="Times New Roman" pitchFamily="18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789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对控制系统的基本要求是</a:t>
            </a:r>
          </a:p>
        </p:txBody>
      </p:sp>
      <p:sp>
        <p:nvSpPr>
          <p:cNvPr id="29699" name="Text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稳</a:t>
            </a:r>
          </a:p>
        </p:txBody>
      </p:sp>
      <p:sp>
        <p:nvSpPr>
          <p:cNvPr id="29700" name="Text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准</a:t>
            </a:r>
          </a:p>
        </p:txBody>
      </p:sp>
      <p:sp>
        <p:nvSpPr>
          <p:cNvPr id="29701" name="TextBox 7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快</a:t>
            </a:r>
          </a:p>
        </p:txBody>
      </p:sp>
      <p:sp>
        <p:nvSpPr>
          <p:cNvPr id="29702" name="TextBox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6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此处添加选项内容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</a:p>
        </p:txBody>
      </p:sp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9709" name="TextBox 25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9613900" y="6326188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以上版本</a:t>
            </a:r>
          </a:p>
        </p:txBody>
      </p:sp>
      <p:sp>
        <p:nvSpPr>
          <p:cNvPr id="29710" name="TextBox 26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779001" y="1270000"/>
            <a:ext cx="3332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2000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29711" name="组合 24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22" name="RemarkBack"/>
            <p:cNvSpPr/>
            <p:nvPr>
              <p:custDataLst>
                <p:tags r:id="rId25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3" name="RemarkBlock"/>
            <p:cNvSpPr/>
            <p:nvPr>
              <p:custDataLst>
                <p:tags r:id="rId26"/>
              </p:custDataLst>
            </p:nvPr>
          </p:nvSpPr>
          <p:spPr>
            <a:xfrm>
              <a:off x="9537700" y="12700"/>
              <a:ext cx="190516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723" name="RemarkTitleText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779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答案解析</a:t>
              </a:r>
            </a:p>
          </p:txBody>
        </p:sp>
      </p:grpSp>
      <p:sp>
        <p:nvSpPr>
          <p:cNvPr id="2" name="RemarkBack"/>
          <p:cNvSpPr/>
          <p:nvPr>
            <p:custDataLst>
              <p:tags r:id="rId16"/>
            </p:custDataLst>
          </p:nvPr>
        </p:nvSpPr>
        <p:spPr>
          <a:xfrm>
            <a:off x="9537700" y="12700"/>
            <a:ext cx="3814763" cy="635000"/>
          </a:xfrm>
          <a:prstGeom prst="rect">
            <a:avLst/>
          </a:prstGeom>
          <a:solidFill>
            <a:srgbClr val="F6F7F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RemarkBlock"/>
          <p:cNvSpPr/>
          <p:nvPr>
            <p:custDataLst>
              <p:tags r:id="rId17"/>
            </p:custDataLst>
          </p:nvPr>
        </p:nvSpPr>
        <p:spPr>
          <a:xfrm>
            <a:off x="9537700" y="12700"/>
            <a:ext cx="190500" cy="635000"/>
          </a:xfrm>
          <a:prstGeom prst="rect">
            <a:avLst/>
          </a:prstGeom>
          <a:solidFill>
            <a:srgbClr val="639EF4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9714" name="RemarkTitleText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779000" y="0"/>
            <a:ext cx="1905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mtClean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答案解析</a:t>
            </a:r>
            <a:endParaRPr lang="zh-CN" altLang="en-US">
              <a:solidFill>
                <a:srgbClr val="000000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29715" name="组合 18"/>
          <p:cNvGrpSpPr>
            <a:grpSpLocks/>
          </p:cNvGrpSpPr>
          <p:nvPr>
            <p:custDataLst>
              <p:tags r:id="rId19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9719" name="TypeText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600">
                  <a:solidFill>
                    <a:srgbClr val="00000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单选题</a:t>
              </a:r>
            </a:p>
          </p:txBody>
        </p:sp>
        <p:sp>
          <p:nvSpPr>
            <p:cNvPr id="29720" name="TipText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itchFamily="34" charset="-122"/>
                  <a:ea typeface="Microsoft Yahei" pitchFamily="34" charset="-122"/>
                  <a:sym typeface="Microsoft Yahei" pitchFamily="34" charset="-122"/>
                </a:rPr>
                <a:t>分</a:t>
              </a:r>
            </a:p>
          </p:txBody>
        </p:sp>
      </p:grpSp>
      <p:pic>
        <p:nvPicPr>
          <p:cNvPr id="29716" name="图片 3"/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2150187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kumimoji="1" lang="zh-CN" altLang="zh-CN" sz="9600" b="1">
              <a:solidFill>
                <a:srgbClr val="FFFF00"/>
              </a:solidFill>
              <a:latin typeface="Times New Roman" pitchFamily="18" charset="0"/>
              <a:ea typeface="华文新魏" pitchFamily="2" charset="-122"/>
            </a:endParaRPr>
          </a:p>
        </p:txBody>
      </p:sp>
      <p:sp>
        <p:nvSpPr>
          <p:cNvPr id="30723" name="Rectangle 4"/>
          <p:cNvSpPr>
            <a:spLocks noGrp="1" noRot="1" noChangeArrowheads="1"/>
          </p:cNvSpPr>
          <p:nvPr>
            <p:ph type="title"/>
          </p:nvPr>
        </p:nvSpPr>
        <p:spPr>
          <a:xfrm>
            <a:off x="251520" y="1844824"/>
            <a:ext cx="91440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00"/>
                </a:solidFill>
                <a:ea typeface="华文新魏" pitchFamily="2" charset="-122"/>
              </a:rPr>
              <a:t>控制工程解决的两大问题</a:t>
            </a:r>
          </a:p>
        </p:txBody>
      </p:sp>
      <p:sp>
        <p:nvSpPr>
          <p:cNvPr id="19461" name="Rectangle 5"/>
          <p:cNvSpPr>
            <a:spLocks noGrp="1" noRot="1" noChangeArrowheads="1"/>
          </p:cNvSpPr>
          <p:nvPr>
            <p:ph type="body" idx="1"/>
          </p:nvPr>
        </p:nvSpPr>
        <p:spPr>
          <a:xfrm>
            <a:off x="1303685" y="2780928"/>
            <a:ext cx="4564459" cy="2016224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系统分析</a:t>
            </a:r>
            <a:endParaRPr lang="en-US" altLang="zh-CN" dirty="0" smtClean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系统设计</a:t>
            </a:r>
            <a:endParaRPr lang="zh-CN" altLang="en-US" sz="800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" name="Rectangle 4"/>
          <p:cNvSpPr txBox="1">
            <a:spLocks noRot="1" noChangeArrowheads="1"/>
          </p:cNvSpPr>
          <p:nvPr/>
        </p:nvSpPr>
        <p:spPr bwMode="auto">
          <a:xfrm>
            <a:off x="107504" y="965200"/>
            <a:ext cx="914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0000"/>
                </a:solidFill>
                <a:latin typeface="Times New Roman" pitchFamily="18" charset="0"/>
                <a:ea typeface="方正姚体" pitchFamily="2" charset="-122"/>
              </a:defRPr>
            </a:lvl9pPr>
          </a:lstStyle>
          <a:p>
            <a:r>
              <a:rPr lang="en-US" altLang="zh-CN" dirty="0" smtClean="0">
                <a:ea typeface="华文新魏" pitchFamily="2" charset="-122"/>
              </a:rPr>
              <a:t>1.8 </a:t>
            </a:r>
            <a:r>
              <a:rPr lang="zh-CN" altLang="en-US" dirty="0" smtClean="0">
                <a:ea typeface="华文新魏" pitchFamily="2" charset="-122"/>
              </a:rPr>
              <a:t>本课程的研究内容</a:t>
            </a:r>
          </a:p>
        </p:txBody>
      </p:sp>
    </p:spTree>
    <p:extLst>
      <p:ext uri="{BB962C8B-B14F-4D97-AF65-F5344CB8AC3E}">
        <p14:creationId xmlns:p14="http://schemas.microsoft.com/office/powerpoint/2010/main" val="234393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7788" y="977900"/>
            <a:ext cx="8964612" cy="546100"/>
          </a:xfrm>
        </p:spPr>
        <p:txBody>
          <a:bodyPr/>
          <a:lstStyle/>
          <a:p>
            <a:pPr eaLnBrk="1" hangingPunct="1"/>
            <a:r>
              <a:rPr lang="zh-CN" altLang="en-US" sz="4000" smtClean="0">
                <a:solidFill>
                  <a:srgbClr val="000000"/>
                </a:solidFill>
                <a:ea typeface="华文新魏" pitchFamily="2" charset="-122"/>
              </a:rPr>
              <a:t>自动控制原理课程的任务与体系结构</a:t>
            </a:r>
          </a:p>
        </p:txBody>
      </p:sp>
      <p:pic>
        <p:nvPicPr>
          <p:cNvPr id="16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2505075"/>
            <a:ext cx="1057275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2505075"/>
            <a:ext cx="16954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2789238"/>
            <a:ext cx="10858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721100"/>
            <a:ext cx="2790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212975"/>
            <a:ext cx="27717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1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866900"/>
            <a:ext cx="12954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4271963"/>
            <a:ext cx="13335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2576513"/>
            <a:ext cx="12573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38" y="2973388"/>
            <a:ext cx="157162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Picture 2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411538"/>
            <a:ext cx="12763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" name="矩形 1"/>
          <p:cNvSpPr>
            <a:spLocks noChangeArrowheads="1"/>
          </p:cNvSpPr>
          <p:nvPr/>
        </p:nvSpPr>
        <p:spPr bwMode="auto">
          <a:xfrm>
            <a:off x="3159125" y="5013325"/>
            <a:ext cx="3068638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latin typeface="隶书" pitchFamily="49" charset="-122"/>
                <a:ea typeface="隶书" pitchFamily="49" charset="-122"/>
              </a:rPr>
              <a:t>本课程体系框图</a:t>
            </a:r>
          </a:p>
        </p:txBody>
      </p:sp>
    </p:spTree>
    <p:extLst>
      <p:ext uri="{BB962C8B-B14F-4D97-AF65-F5344CB8AC3E}">
        <p14:creationId xmlns:p14="http://schemas.microsoft.com/office/powerpoint/2010/main" val="203260807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76200" y="1562100"/>
            <a:ext cx="8964613" cy="5295900"/>
          </a:xfr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275"/>
                  <a:invGamma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pPr eaLnBrk="1" hangingPunct="1">
              <a:defRPr/>
            </a:pPr>
            <a:endParaRPr lang="zh-CN" altLang="zh-CN" dirty="0" smtClean="0"/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2794000" y="2616200"/>
          <a:ext cx="22479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6" name="位图图像" r:id="rId3" imgW="2247619" imgH="743054" progId="Paint.Picture">
                  <p:embed/>
                </p:oleObj>
              </mc:Choice>
              <mc:Fallback>
                <p:oleObj name="位图图像" r:id="rId3" imgW="2247619" imgH="74305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616200"/>
                        <a:ext cx="22479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5022850" y="2514600"/>
          <a:ext cx="280035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7" name="位图图像" r:id="rId5" imgW="2800741" imgH="828791" progId="Paint.Picture">
                  <p:embed/>
                </p:oleObj>
              </mc:Choice>
              <mc:Fallback>
                <p:oleObj name="位图图像" r:id="rId5" imgW="2800741" imgH="82879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2850" y="2514600"/>
                        <a:ext cx="280035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4" name="Object 6"/>
          <p:cNvGraphicFramePr>
            <a:graphicFrameLocks noChangeAspect="1"/>
          </p:cNvGraphicFramePr>
          <p:nvPr/>
        </p:nvGraphicFramePr>
        <p:xfrm>
          <a:off x="1000125" y="2514600"/>
          <a:ext cx="12477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8" name="位图图像" r:id="rId7" imgW="1247619" imgH="609524" progId="Paint.Picture">
                  <p:embed/>
                </p:oleObj>
              </mc:Choice>
              <mc:Fallback>
                <p:oleObj name="位图图像" r:id="rId7" imgW="1247619" imgH="60952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514600"/>
                        <a:ext cx="12477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/>
        </p:nvGraphicFramePr>
        <p:xfrm>
          <a:off x="2146300" y="3162300"/>
          <a:ext cx="3933825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9" name="位图图像" r:id="rId9" imgW="3933333" imgH="1952898" progId="Paint.Picture">
                  <p:embed/>
                </p:oleObj>
              </mc:Choice>
              <mc:Fallback>
                <p:oleObj name="位图图像" r:id="rId9" imgW="3933333" imgH="195289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162300"/>
                        <a:ext cx="3933825" cy="1952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/>
        </p:nvGraphicFramePr>
        <p:xfrm>
          <a:off x="6057900" y="2946400"/>
          <a:ext cx="933450" cy="191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0" name="位图图像" r:id="rId11" imgW="933580" imgH="1914286" progId="Paint.Picture">
                  <p:embed/>
                </p:oleObj>
              </mc:Choice>
              <mc:Fallback>
                <p:oleObj name="位图图像" r:id="rId11" imgW="933580" imgH="19142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900" y="2946400"/>
                        <a:ext cx="933450" cy="191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7" name="Object 9"/>
          <p:cNvGraphicFramePr>
            <a:graphicFrameLocks noChangeAspect="1"/>
          </p:cNvGraphicFramePr>
          <p:nvPr/>
        </p:nvGraphicFramePr>
        <p:xfrm>
          <a:off x="6032500" y="2984500"/>
          <a:ext cx="6381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1" name="位图图像" r:id="rId13" imgW="638264" imgH="980952" progId="Paint.Picture">
                  <p:embed/>
                </p:oleObj>
              </mc:Choice>
              <mc:Fallback>
                <p:oleObj name="位图图像" r:id="rId13" imgW="638264" imgH="9809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0" y="2984500"/>
                        <a:ext cx="6381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4368800" y="3149600"/>
          <a:ext cx="167640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2" name="位图图像" r:id="rId15" imgW="1676634" imgH="1095528" progId="Paint.Picture">
                  <p:embed/>
                </p:oleObj>
              </mc:Choice>
              <mc:Fallback>
                <p:oleObj name="位图图像" r:id="rId15" imgW="1676634" imgH="109552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3149600"/>
                        <a:ext cx="1676400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/>
        </p:nvGraphicFramePr>
        <p:xfrm>
          <a:off x="2089150" y="2870200"/>
          <a:ext cx="70485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73" name="位图图像" r:id="rId17" imgW="704948" imgH="314286" progId="Paint.Picture">
                  <p:embed/>
                </p:oleObj>
              </mc:Choice>
              <mc:Fallback>
                <p:oleObj name="位图图像" r:id="rId17" imgW="704948" imgH="3142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870200"/>
                        <a:ext cx="70485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2667000" y="5562600"/>
            <a:ext cx="4114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zh-CN" altLang="en-US" sz="3600" b="1">
                <a:solidFill>
                  <a:srgbClr val="FFFF00"/>
                </a:solidFill>
                <a:latin typeface="Times New Roman" pitchFamily="18" charset="0"/>
                <a:ea typeface="华文新魏" pitchFamily="2" charset="-122"/>
              </a:rPr>
              <a:t>教学过程方框图</a:t>
            </a:r>
          </a:p>
        </p:txBody>
      </p:sp>
    </p:spTree>
    <p:extLst>
      <p:ext uri="{BB962C8B-B14F-4D97-AF65-F5344CB8AC3E}">
        <p14:creationId xmlns:p14="http://schemas.microsoft.com/office/powerpoint/2010/main" val="346402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2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7" name="Rectangle 7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52500"/>
            <a:ext cx="9144000" cy="533400"/>
          </a:xfrm>
          <a:noFill/>
        </p:spPr>
        <p:txBody>
          <a:bodyPr/>
          <a:lstStyle/>
          <a:p>
            <a:pPr algn="ctr"/>
            <a:r>
              <a:rPr lang="zh-CN" altLang="en-US" sz="4000" dirty="0">
                <a:ea typeface="华文新魏" pitchFamily="2" charset="-122"/>
              </a:rPr>
              <a:t>课  程 小 结</a:t>
            </a:r>
          </a:p>
        </p:txBody>
      </p:sp>
      <p:sp>
        <p:nvSpPr>
          <p:cNvPr id="235531" name="Rectangle 11"/>
          <p:cNvSpPr>
            <a:spLocks noChangeArrowheads="1"/>
          </p:cNvSpPr>
          <p:nvPr/>
        </p:nvSpPr>
        <p:spPr bwMode="auto">
          <a:xfrm>
            <a:off x="1447800" y="1752600"/>
            <a:ext cx="6629400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CFFFF"/>
                    </a:gs>
                    <a:gs pos="50000">
                      <a:srgbClr val="CCFFFF">
                        <a:gamma/>
                        <a:tint val="28627"/>
                        <a:invGamma/>
                      </a:srgbClr>
                    </a:gs>
                    <a:gs pos="100000">
                      <a:srgbClr val="CCFF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自动控制的一般概念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FFFF00"/>
                </a:solidFill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基本控制方式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    控制系统的基本组成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    控制系统的分类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    对控制系统的要求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    课程研究的内容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zh-CN" altLang="en-US" sz="800" dirty="0">
              <a:solidFill>
                <a:srgbClr val="FFFF00"/>
              </a:solidFill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endParaRPr lang="zh-CN" altLang="en-US" sz="800" dirty="0">
              <a:solidFill>
                <a:srgbClr val="FFFF00"/>
              </a:solidFill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800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要求掌握的知识点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FFFF00"/>
                </a:solidFill>
                <a:ea typeface="楷体_GB2312" pitchFamily="49" charset="-122"/>
              </a:rPr>
              <a:t>    </a:t>
            </a: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负反馈控制系统的特点及原理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zh-CN" altLang="en-US" sz="2800" dirty="0">
                <a:solidFill>
                  <a:srgbClr val="000066"/>
                </a:solidFill>
                <a:ea typeface="楷体_GB2312" pitchFamily="49" charset="-122"/>
              </a:rPr>
              <a:t>    由系统工作原理图绘制方框图</a:t>
            </a:r>
          </a:p>
        </p:txBody>
      </p:sp>
    </p:spTree>
    <p:extLst>
      <p:ext uri="{BB962C8B-B14F-4D97-AF65-F5344CB8AC3E}">
        <p14:creationId xmlns:p14="http://schemas.microsoft.com/office/powerpoint/2010/main" val="179556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ChangeArrowheads="1"/>
          </p:cNvSpPr>
          <p:nvPr/>
        </p:nvSpPr>
        <p:spPr bwMode="auto">
          <a:xfrm>
            <a:off x="0" y="1574800"/>
            <a:ext cx="9144000" cy="527050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>
                <a:alpha val="50000"/>
              </a:schemeClr>
            </a:outerShdw>
          </a:effectLst>
          <a:extLst/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endParaRPr kumimoji="1" lang="zh-CN" altLang="zh-CN" sz="9600">
              <a:solidFill>
                <a:srgbClr val="FFFF00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title"/>
          </p:nvPr>
        </p:nvSpPr>
        <p:spPr>
          <a:xfrm>
            <a:off x="25400" y="952500"/>
            <a:ext cx="9067800" cy="533400"/>
          </a:xfrm>
          <a:noFill/>
        </p:spPr>
        <p:txBody>
          <a:bodyPr/>
          <a:lstStyle/>
          <a:p>
            <a:pPr algn="ctr"/>
            <a:r>
              <a:rPr lang="zh-CN" altLang="en-US" sz="4000" dirty="0">
                <a:ea typeface="华文新魏" pitchFamily="2" charset="-122"/>
              </a:rPr>
              <a:t>自动控制原理</a:t>
            </a:r>
          </a:p>
        </p:txBody>
      </p:sp>
      <p:sp>
        <p:nvSpPr>
          <p:cNvPr id="28877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87500" y="3573016"/>
            <a:ext cx="6224588" cy="1066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5400" kern="1200" dirty="0">
                <a:solidFill>
                  <a:schemeClr val="accent6"/>
                </a:solidFill>
                <a:latin typeface="华文新魏" pitchFamily="2" charset="-122"/>
                <a:ea typeface="华文新魏" pitchFamily="2" charset="-122"/>
              </a:rPr>
              <a:t>1 —  4, 7, 10, 11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6600" dirty="0">
              <a:solidFill>
                <a:srgbClr val="002060"/>
              </a:solidFill>
            </a:endParaRPr>
          </a:p>
        </p:txBody>
      </p:sp>
      <p:sp>
        <p:nvSpPr>
          <p:cNvPr id="288773" name="Rectangle 5"/>
          <p:cNvSpPr>
            <a:spLocks noChangeArrowheads="1"/>
          </p:cNvSpPr>
          <p:nvPr/>
        </p:nvSpPr>
        <p:spPr bwMode="auto">
          <a:xfrm>
            <a:off x="1403350" y="2205038"/>
            <a:ext cx="5867400" cy="123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6000" dirty="0">
                <a:solidFill>
                  <a:srgbClr val="FF0000"/>
                </a:solidFill>
                <a:ea typeface="方正舒体" pitchFamily="2" charset="-122"/>
              </a:rPr>
              <a:t>本次课程作业</a:t>
            </a:r>
            <a:r>
              <a:rPr lang="zh-CN" altLang="en-US" sz="2400" dirty="0">
                <a:solidFill>
                  <a:srgbClr val="FF0000"/>
                </a:solidFill>
                <a:ea typeface="方正舒体" pitchFamily="2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ea typeface="方正舒体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ea typeface="方正舒体" pitchFamily="2" charset="-122"/>
              </a:rPr>
              <a:t>）</a:t>
            </a:r>
          </a:p>
        </p:txBody>
      </p:sp>
      <p:sp>
        <p:nvSpPr>
          <p:cNvPr id="288774" name="Rectangle 6"/>
          <p:cNvSpPr>
            <a:spLocks noChangeArrowheads="1"/>
          </p:cNvSpPr>
          <p:nvPr/>
        </p:nvSpPr>
        <p:spPr bwMode="auto">
          <a:xfrm>
            <a:off x="1475656" y="6051376"/>
            <a:ext cx="65246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>
              <a:lnSpc>
                <a:spcPct val="90000"/>
              </a:lnSpc>
            </a:pPr>
            <a:r>
              <a:rPr lang="zh-CN" altLang="en-US" sz="4000" dirty="0">
                <a:solidFill>
                  <a:srgbClr val="66FFFF"/>
                </a:solidFill>
                <a:ea typeface="黑体" pitchFamily="2" charset="-122"/>
              </a:rPr>
              <a:t>预习拉普拉斯变换有关知识</a:t>
            </a:r>
          </a:p>
        </p:txBody>
      </p:sp>
    </p:spTree>
    <p:extLst>
      <p:ext uri="{BB962C8B-B14F-4D97-AF65-F5344CB8AC3E}">
        <p14:creationId xmlns:p14="http://schemas.microsoft.com/office/powerpoint/2010/main" val="3608577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2" name="Picture 2" descr="DSC04880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04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61123" name="WordArt 3"/>
          <p:cNvSpPr>
            <a:spLocks noChangeArrowheads="1" noChangeShapeType="1" noTextEdit="1"/>
          </p:cNvSpPr>
          <p:nvPr/>
        </p:nvSpPr>
        <p:spPr bwMode="auto">
          <a:xfrm>
            <a:off x="323850" y="836613"/>
            <a:ext cx="5903913" cy="31670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61718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zh-CN" altLang="en-US" sz="9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33CC"/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/>
                <a:latin typeface="华文行楷"/>
                <a:ea typeface="华文行楷"/>
              </a:rPr>
              <a:t>谢谢 ！</a:t>
            </a:r>
          </a:p>
        </p:txBody>
      </p:sp>
      <p:sp>
        <p:nvSpPr>
          <p:cNvPr id="261124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/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REMARK" val="A,B,C,D,F"/>
  <p:tag name="PROBLEMSCORE" val="5.0"/>
  <p:tag name="PROBLEMHASREMARK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5.0"/>
  <p:tag name="PROBLEMHASREMARK" val="True"/>
  <p:tag name="PROBLEMREMARK" val="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863">
  <a:themeElements>
    <a:clrScheme name="863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863">
      <a:majorFont>
        <a:latin typeface="Times New Roman"/>
        <a:ea typeface="方正姚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CFFFF"/>
            </a:gs>
            <a:gs pos="50000">
              <a:srgbClr val="CCFFFF">
                <a:gamma/>
                <a:tint val="28627"/>
                <a:invGamma/>
              </a:srgbClr>
            </a:gs>
            <a:gs pos="100000">
              <a:srgbClr val="CCFFFF"/>
            </a:gs>
          </a:gsLst>
          <a:lin ang="2700000" scaled="1"/>
        </a:gradFill>
        <a:ln w="9525" cap="flat" cmpd="sng" algn="ctr">
          <a:solidFill>
            <a:srgbClr val="0099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华文新魏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CCFFFF"/>
            </a:gs>
            <a:gs pos="50000">
              <a:srgbClr val="CCFFFF">
                <a:gamma/>
                <a:tint val="28627"/>
                <a:invGamma/>
              </a:srgbClr>
            </a:gs>
            <a:gs pos="100000">
              <a:srgbClr val="CCFFFF"/>
            </a:gs>
          </a:gsLst>
          <a:lin ang="2700000" scaled="1"/>
        </a:gradFill>
        <a:ln w="9525" cap="flat" cmpd="sng" algn="ctr">
          <a:solidFill>
            <a:srgbClr val="0099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just" defTabSz="914400" rtl="0" eaLnBrk="1" fontAlgn="base" latinLnBrk="0" hangingPunct="1">
          <a:lnSpc>
            <a:spcPct val="15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华文新魏" pitchFamily="2" charset="-122"/>
          </a:defRPr>
        </a:defPPr>
      </a:lstStyle>
    </a:lnDef>
  </a:objectDefaults>
  <a:extraClrSchemeLst>
    <a:extraClrScheme>
      <a:clrScheme name="863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63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63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63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6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6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6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Balance</Template>
  <TotalTime>8885</TotalTime>
  <Words>689</Words>
  <Application>Microsoft Office PowerPoint</Application>
  <PresentationFormat>全屏显示(4:3)</PresentationFormat>
  <Paragraphs>149</Paragraphs>
  <Slides>33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863</vt:lpstr>
      <vt:lpstr>BMP 图像</vt:lpstr>
      <vt:lpstr>位图图像</vt:lpstr>
      <vt:lpstr>Equation</vt:lpstr>
      <vt:lpstr>PowerPoint 演示文稿</vt:lpstr>
      <vt:lpstr>自动控制原理</vt:lpstr>
      <vt:lpstr>自 动 控 制</vt:lpstr>
      <vt:lpstr>基本控制方式</vt:lpstr>
      <vt:lpstr>自动控制原理</vt:lpstr>
      <vt:lpstr>自动控制系统举例</vt:lpstr>
      <vt:lpstr>炉温控制系统方框图</vt:lpstr>
      <vt:lpstr>方框图中各符号的意义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1.5  控制系统示例   一、电压调节系统</vt:lpstr>
      <vt:lpstr>电压调节系统</vt:lpstr>
      <vt:lpstr>二、 水温调节系统</vt:lpstr>
      <vt:lpstr>水温调节系统</vt:lpstr>
      <vt:lpstr>   三、火炮方位角控制系统</vt:lpstr>
      <vt:lpstr>PowerPoint 演示文稿</vt:lpstr>
      <vt:lpstr>PowerPoint 演示文稿</vt:lpstr>
      <vt:lpstr>PowerPoint 演示文稿</vt:lpstr>
      <vt:lpstr>四、飞机-自动驾驶仪系统 </vt:lpstr>
      <vt:lpstr>飞机-自动驾驶仪系统 </vt:lpstr>
      <vt:lpstr>1.6 控制系统的分类</vt:lpstr>
      <vt:lpstr>1.7 对控制系统的基本要求</vt:lpstr>
      <vt:lpstr>PowerPoint 演示文稿</vt:lpstr>
      <vt:lpstr>PowerPoint 演示文稿</vt:lpstr>
      <vt:lpstr>控制工程解决的两大问题</vt:lpstr>
      <vt:lpstr>自动控制原理课程的任务与体系结构</vt:lpstr>
      <vt:lpstr>PowerPoint 演示文稿</vt:lpstr>
      <vt:lpstr>课  程 小 结</vt:lpstr>
      <vt:lpstr>自动控制原理</vt:lpstr>
      <vt:lpstr> </vt:lpstr>
    </vt:vector>
  </TitlesOfParts>
  <Company>Sony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自动控制原理96</dc:title>
  <dc:creator>贾秋玲</dc:creator>
  <cp:lastModifiedBy>lgw</cp:lastModifiedBy>
  <cp:revision>250</cp:revision>
  <dcterms:created xsi:type="dcterms:W3CDTF">2002-07-26T15:13:13Z</dcterms:created>
  <dcterms:modified xsi:type="dcterms:W3CDTF">2023-09-05T03:27:30Z</dcterms:modified>
</cp:coreProperties>
</file>